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J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4"/>
  </p:normalViewPr>
  <p:slideViewPr>
    <p:cSldViewPr snapToGrid="0">
      <p:cViewPr>
        <p:scale>
          <a:sx n="90" d="100"/>
          <a:sy n="90" d="100"/>
        </p:scale>
        <p:origin x="-36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1693-1E18-3C40-E851-C09D065D7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AE3BE-A5E5-71D5-3151-959692F95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6DF33-6E09-D694-5F1E-7E7A18D73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0762-36A1-E37B-F4DB-39F72A16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D47D6-A92B-B4CA-8FEF-103D8CD7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99907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F820-6FE4-1D0E-9B60-719B7C87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2FFE-89E1-C037-9CA3-1953998EF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4F436-2B78-12C1-1716-94F29714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602AE-EE4C-4AA0-A1A0-840BE254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1BE4-E1CD-73F0-E03B-AF3D7761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9132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7727-C31C-0BAE-E136-38C67914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9D15D-99DA-289B-6674-27537FFD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1FF8D-1A80-FF18-B5C1-FE15350A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8246A-FF0D-5025-73EF-E4B98A3C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EDCFB-1CA8-39D8-68E4-F2A82D60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0876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BEC2-52EE-EB40-0791-C526CE39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F7CD-02FD-4911-D5BC-1E17BD109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C677-7021-6B27-F8F7-C1C89DC74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40E7E-854D-8C39-51EE-369616FB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8215B-E6C1-5758-71F3-A8441F71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FD026-8DD9-12BB-35A3-26364BC2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52613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B7C7-59B2-58BE-B674-76535B41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EF037-7100-C720-6DD2-99E57F40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69004-2EBB-AD63-40A9-09A3D45ED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30E34-AA4D-A442-BF2F-1DEFD9E75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267C9-3996-09F8-7AA1-874F82DEB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C0538-2391-D887-D271-3D1825C7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A7566-5373-C455-7DF8-5D33E6BD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2C571-FAEE-E57C-C0CF-CB3B3489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06067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73DA-61DA-3E20-543A-00A36D51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B9076-4077-2AE1-EA28-43FA4C14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727A6-0DC5-01E2-BB6E-BE459822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507EB-CBC3-AB2E-EEC6-97660795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86277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8E24A-AF53-5830-5AAE-76B193E8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A3443-E345-872B-838F-129535C6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2FDBC-109E-9A14-200A-53E79A24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92830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10D8-B228-0BE1-FACE-07A01B51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8349F-1762-F456-AF00-A8648EBE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92BEB-7606-2276-C0A7-49DD9CEE9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6B51A-FFF9-8F41-41FF-F315AF75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2A5DA-0835-C78B-6AE8-238B0920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8D143-C746-F78E-94C2-DB5FBB21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70399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44D3-F664-170B-F72C-1B7AF934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BC826-CF3D-F358-B8C8-DF428DEC8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0508B-D0FD-F40F-E684-3EC854393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B1A77-808E-BC7B-CD51-26B9E833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6905D-E776-9B57-A3F8-8D1F5878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E1CE5-C149-6814-7ED5-09FF6857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99685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6A1F-7438-BE6F-39D3-B6044811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4050F-494E-5F61-AC9F-E4E25016D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4ABD1-978D-B7E7-5F11-86F4D47B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2C526-DD4A-13F5-615C-A0AFDE88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D4A17-2066-A276-A799-BD8ABBBC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69723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9B7D1-3962-EC38-13CA-C2FED02E0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17ACE-ED4C-EEB3-F11D-84648E871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ACE7-A9F8-0404-9B74-267EED5B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673D-A96D-8C21-8C0D-5E48C597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BC0D1-F838-843E-7C2D-AE05CD36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23459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590E5-D033-AE5E-8A6C-049E2AF9B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35F1D-8F2E-2E89-7182-971CD5B4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9F9D-87D2-93E7-44F0-261BA8F34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F620A-F5B2-D849-8686-E50A56B33F53}" type="datetimeFigureOut">
              <a:rPr lang="en-JO" smtClean="0"/>
              <a:t>29/08/2026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6FE41-7867-2D66-C0FB-C0F8167F9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F476F-FC8C-5078-CA2B-AC5D924FD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B5006-1F89-9F47-AFBE-E67C7493D0C4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838492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5FC37-735B-4A5E-3C4E-3B164A9392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31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4E243C-BF4E-DE02-9897-775AA4A16BBB}"/>
              </a:ext>
            </a:extLst>
          </p:cNvPr>
          <p:cNvSpPr/>
          <p:nvPr/>
        </p:nvSpPr>
        <p:spPr>
          <a:xfrm>
            <a:off x="0" y="5349240"/>
            <a:ext cx="12192000" cy="150876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8751F-8544-D838-C327-D47983075064}"/>
              </a:ext>
            </a:extLst>
          </p:cNvPr>
          <p:cNvSpPr txBox="1"/>
          <p:nvPr/>
        </p:nvSpPr>
        <p:spPr>
          <a:xfrm>
            <a:off x="762000" y="1143000"/>
            <a:ext cx="5080000" cy="33855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 b="1">
                <a:solidFill>
                  <a:srgbClr val="EEBE51"/>
                </a:solidFill>
              </a:rPr>
              <a:t>SOLARWISE JORDAN</a:t>
            </a:r>
            <a:endParaRPr lang="en-JO" sz="1600" b="1">
              <a:solidFill>
                <a:srgbClr val="EEBE5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4AD61-0475-20B0-061A-1559B5B71F7E}"/>
              </a:ext>
            </a:extLst>
          </p:cNvPr>
          <p:cNvSpPr txBox="1"/>
          <p:nvPr/>
        </p:nvSpPr>
        <p:spPr>
          <a:xfrm>
            <a:off x="762000" y="2032000"/>
            <a:ext cx="10160000" cy="73866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</a:rPr>
              <a:t>SolarWise Jordan</a:t>
            </a:r>
            <a:endParaRPr lang="en-JO" sz="42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9A3E9-EEE9-97E3-923B-CFB36C321570}"/>
              </a:ext>
            </a:extLst>
          </p:cNvPr>
          <p:cNvSpPr txBox="1"/>
          <p:nvPr/>
        </p:nvSpPr>
        <p:spPr>
          <a:xfrm>
            <a:off x="762000" y="3365500"/>
            <a:ext cx="9525000" cy="50783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Is Solar Wise For Me?</a:t>
            </a:r>
            <a:endParaRPr lang="en-JO" sz="2700">
              <a:solidFill>
                <a:srgbClr val="EBEBE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A6142-6128-C8DB-EAB9-6F28AE87A635}"/>
              </a:ext>
            </a:extLst>
          </p:cNvPr>
          <p:cNvSpPr txBox="1"/>
          <p:nvPr/>
        </p:nvSpPr>
        <p:spPr>
          <a:xfrm>
            <a:off x="762000" y="4381500"/>
            <a:ext cx="10795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DCDCDC"/>
                </a:solidFill>
              </a:rPr>
              <a:t>A data-driven approach to solar potential, generation and savings in Jordan</a:t>
            </a:r>
            <a:endParaRPr lang="en-JO" sz="1700">
              <a:solidFill>
                <a:srgbClr val="DCDCD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F9FE2-0A0A-42E7-2780-8FD2E5866F98}"/>
              </a:ext>
            </a:extLst>
          </p:cNvPr>
          <p:cNvSpPr txBox="1"/>
          <p:nvPr/>
        </p:nvSpPr>
        <p:spPr>
          <a:xfrm>
            <a:off x="762000" y="6032500"/>
            <a:ext cx="381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Graduation Project</a:t>
            </a:r>
            <a:endParaRPr lang="en-JO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76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AF07F3-D92C-1359-D6CE-2CA800CF36A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15ABF-9B86-AD36-63F8-4F5313999F20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01 · PROJECT IDEA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63B5E-53EF-7AE7-5AB6-EED62E67EF4C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What is SolarWise Jordan?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E859C-131A-A6C7-BF0A-AFE1E81FC174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28224-32C8-3C4B-130B-AF81F359B209}"/>
              </a:ext>
            </a:extLst>
          </p:cNvPr>
          <p:cNvSpPr txBox="1"/>
          <p:nvPr/>
        </p:nvSpPr>
        <p:spPr>
          <a:xfrm>
            <a:off x="1143000" y="1968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We help someone in Jordan answer one question: if I put solar panels on my roof, will I actually save money?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7898C-53D5-9E9B-5ED6-FCDFFA85FCEA}"/>
              </a:ext>
            </a:extLst>
          </p:cNvPr>
          <p:cNvSpPr txBox="1"/>
          <p:nvPr/>
        </p:nvSpPr>
        <p:spPr>
          <a:xfrm>
            <a:off x="1143000" y="2857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Weather data is used to estimate how much electricity solar panels could produce at a specific location.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DB78F-0D47-BC62-A324-608517ED1698}"/>
              </a:ext>
            </a:extLst>
          </p:cNvPr>
          <p:cNvSpPr txBox="1"/>
          <p:nvPr/>
        </p:nvSpPr>
        <p:spPr>
          <a:xfrm>
            <a:off x="1143000" y="3746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estimated generation is then compared with household electricity usage and the applicable tariff.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8F826-89F9-2E8D-415A-377B6BE11475}"/>
              </a:ext>
            </a:extLst>
          </p:cNvPr>
          <p:cNvSpPr txBox="1"/>
          <p:nvPr/>
        </p:nvSpPr>
        <p:spPr>
          <a:xfrm>
            <a:off x="1143000" y="4635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same country-wide data can also answer a second question: where in Jordan is solar most worth it?</a:t>
            </a:r>
            <a:endParaRPr lang="en-JO" sz="19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77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64ECCD-8AB1-C859-F860-C9871A4D0DA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6C356-3536-E76F-ACF8-10E4A6757F0C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02 · PROBLEM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CDEE7-4C5A-6E70-AC28-7AB26D10693E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Why is this problem important?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4EDFE-D60A-4D1D-6E6B-A3151641F749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4D579-6E27-3F08-2986-DABA95F14435}"/>
              </a:ext>
            </a:extLst>
          </p:cNvPr>
          <p:cNvSpPr txBox="1"/>
          <p:nvPr/>
        </p:nvSpPr>
        <p:spPr>
          <a:xfrm>
            <a:off x="1143000" y="1968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Solar panels do not produce the same amount of electricity everywhere in Jordan.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10C21-A5E0-0220-1304-E3B93E935657}"/>
              </a:ext>
            </a:extLst>
          </p:cNvPr>
          <p:cNvSpPr txBox="1"/>
          <p:nvPr/>
        </p:nvSpPr>
        <p:spPr>
          <a:xfrm>
            <a:off x="1143000" y="2857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Solar generation depends on factors such as sunlight, temperature and location.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079AA-5FC1-365D-8628-10BBBDBBCB56}"/>
              </a:ext>
            </a:extLst>
          </p:cNvPr>
          <p:cNvSpPr txBox="1"/>
          <p:nvPr/>
        </p:nvSpPr>
        <p:spPr>
          <a:xfrm>
            <a:off x="1143000" y="3746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A person considering solar may not have an easy way to estimate what their own location can produce.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08DC7-90E8-78CC-2998-DF1F7A613EC8}"/>
              </a:ext>
            </a:extLst>
          </p:cNvPr>
          <p:cNvSpPr txBox="1"/>
          <p:nvPr/>
        </p:nvSpPr>
        <p:spPr>
          <a:xfrm>
            <a:off x="1143000" y="4635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Without a location-based estimate, the decision can become a guess or depend heavily on a salesperson's estimate.</a:t>
            </a:r>
            <a:endParaRPr lang="en-JO" sz="19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3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171E8-3CEF-D267-5EC8-22B4BA0AF15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8140D-A792-CE83-8FDC-3FFECE57B69A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03 · IMPORTANCE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4BF87-0F2B-8E24-A50A-7E97149FD8B2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Why does SolarWise matter?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5908D-B452-EAD4-E4AD-A9A954F5E9A4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CD6BAE-DE8E-84CA-0B43-36EABF16796B}"/>
              </a:ext>
            </a:extLst>
          </p:cNvPr>
          <p:cNvSpPr/>
          <p:nvPr/>
        </p:nvSpPr>
        <p:spPr>
          <a:xfrm>
            <a:off x="889000" y="2349500"/>
            <a:ext cx="4445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B70D1-2146-960A-EF00-A8BBB546DE2F}"/>
              </a:ext>
            </a:extLst>
          </p:cNvPr>
          <p:cNvSpPr txBox="1"/>
          <p:nvPr/>
        </p:nvSpPr>
        <p:spPr>
          <a:xfrm>
            <a:off x="1206500" y="2603500"/>
            <a:ext cx="3810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Households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5DE30-36FC-FC64-AD18-BE35094D351F}"/>
              </a:ext>
            </a:extLst>
          </p:cNvPr>
          <p:cNvSpPr txBox="1"/>
          <p:nvPr/>
        </p:nvSpPr>
        <p:spPr>
          <a:xfrm>
            <a:off x="1206500" y="3302000"/>
            <a:ext cx="3810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Solar panels are expensive, so an incorrect decision can affect household costs for years.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B869F0-64FB-6127-F185-3F4B6013DA55}"/>
              </a:ext>
            </a:extLst>
          </p:cNvPr>
          <p:cNvSpPr/>
          <p:nvPr/>
        </p:nvSpPr>
        <p:spPr>
          <a:xfrm>
            <a:off x="5842000" y="2349500"/>
            <a:ext cx="4445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756D7-A26A-A5F2-CCFA-9DC823E26AC2}"/>
              </a:ext>
            </a:extLst>
          </p:cNvPr>
          <p:cNvSpPr txBox="1"/>
          <p:nvPr/>
        </p:nvSpPr>
        <p:spPr>
          <a:xfrm>
            <a:off x="6159500" y="2603500"/>
            <a:ext cx="3810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Investors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E562A-D79D-CE09-C92B-BB8D74ECC0EC}"/>
              </a:ext>
            </a:extLst>
          </p:cNvPr>
          <p:cNvSpPr txBox="1"/>
          <p:nvPr/>
        </p:nvSpPr>
        <p:spPr>
          <a:xfrm>
            <a:off x="6159500" y="3302000"/>
            <a:ext cx="3810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Investors need to compare regions and identify areas with stronger solar generation potential.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B44489-9747-C114-FCFA-1EA1C4A24D61}"/>
              </a:ext>
            </a:extLst>
          </p:cNvPr>
          <p:cNvSpPr/>
          <p:nvPr/>
        </p:nvSpPr>
        <p:spPr>
          <a:xfrm>
            <a:off x="10795000" y="2349500"/>
            <a:ext cx="4445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91EFB-34CA-1F6D-9623-0D8427157F1C}"/>
              </a:ext>
            </a:extLst>
          </p:cNvPr>
          <p:cNvSpPr txBox="1"/>
          <p:nvPr/>
        </p:nvSpPr>
        <p:spPr>
          <a:xfrm>
            <a:off x="11112500" y="2603500"/>
            <a:ext cx="3810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Decision Support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0B3D9-E490-4C6C-DB92-BCA16FD8E12A}"/>
              </a:ext>
            </a:extLst>
          </p:cNvPr>
          <p:cNvSpPr txBox="1"/>
          <p:nvPr/>
        </p:nvSpPr>
        <p:spPr>
          <a:xfrm>
            <a:off x="11112500" y="3302000"/>
            <a:ext cx="3810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SolarWise provides a quick, location-based and data-driven way to support the decision.</a:t>
            </a:r>
            <a:endParaRPr lang="en-JO" sz="160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41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F8432-2646-D77A-E71B-79D6910B5AF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BAF70-44DB-E99D-42CF-8791271FFA25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04 · OBJECTIVES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23CE7-0261-9EB3-CF13-636A6D763491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What did we aim to achieve?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19335-71C4-29DE-6A00-185C23171DA4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B8DF2-60E7-B3E9-2424-C1FA5FF89615}"/>
              </a:ext>
            </a:extLst>
          </p:cNvPr>
          <p:cNvSpPr txBox="1"/>
          <p:nvPr/>
        </p:nvSpPr>
        <p:spPr>
          <a:xfrm>
            <a:off x="1143000" y="1968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Collect weather data covering all of Jordan, not just a few cities.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BB8FA-DB65-F2DD-2ED7-3601C279B57F}"/>
              </a:ext>
            </a:extLst>
          </p:cNvPr>
          <p:cNvSpPr txBox="1"/>
          <p:nvPr/>
        </p:nvSpPr>
        <p:spPr>
          <a:xfrm>
            <a:off x="1143000" y="2857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Build a model that predicts how much solar power a location can produce.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EE7AE-AD41-746A-696C-C478D705602B}"/>
              </a:ext>
            </a:extLst>
          </p:cNvPr>
          <p:cNvSpPr txBox="1"/>
          <p:nvPr/>
        </p:nvSpPr>
        <p:spPr>
          <a:xfrm>
            <a:off x="1143000" y="3746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Test the model for accuracy and reliability, including locations it never saw during training.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5D731-C39A-8F2E-1F93-906CDD0ADA60}"/>
              </a:ext>
            </a:extLst>
          </p:cNvPr>
          <p:cNvSpPr txBox="1"/>
          <p:nvPr/>
        </p:nvSpPr>
        <p:spPr>
          <a:xfrm>
            <a:off x="1143000" y="4635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Estimate household savings using the prediction and the JEPCO residential tariff.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08BF2-278A-D6D9-32BC-0BA376E534DD}"/>
              </a:ext>
            </a:extLst>
          </p:cNvPr>
          <p:cNvSpPr txBox="1"/>
          <p:nvPr/>
        </p:nvSpPr>
        <p:spPr>
          <a:xfrm>
            <a:off x="1143000" y="5524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Compare solar generation potential across Jordan for investor site selection.</a:t>
            </a:r>
            <a:endParaRPr lang="en-JO" sz="19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5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FD4C50-3FF5-9A64-40E4-1C2FD75596B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6FA3F-AEAB-4C42-B80A-FBC488E73AB4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05 · DATA SOURCE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42FC5-257F-5FBE-26C0-7E835C75180F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Where did the data come from?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A2772-28B8-6389-9BF7-B790E0F20B53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3E6335-5461-E3A1-83E0-4536489CA87C}"/>
              </a:ext>
            </a:extLst>
          </p:cNvPr>
          <p:cNvSpPr/>
          <p:nvPr/>
        </p:nvSpPr>
        <p:spPr>
          <a:xfrm>
            <a:off x="889000" y="2222500"/>
            <a:ext cx="6604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58A51-B3D4-5FA4-5C97-2DEF1C0B060B}"/>
              </a:ext>
            </a:extLst>
          </p:cNvPr>
          <p:cNvSpPr txBox="1"/>
          <p:nvPr/>
        </p:nvSpPr>
        <p:spPr>
          <a:xfrm>
            <a:off x="1206500" y="2476500"/>
            <a:ext cx="5969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NASA POWER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A1AF6-CA54-14B0-3C30-CAEEA029E91E}"/>
              </a:ext>
            </a:extLst>
          </p:cNvPr>
          <p:cNvSpPr txBox="1"/>
          <p:nvPr/>
        </p:nvSpPr>
        <p:spPr>
          <a:xfrm>
            <a:off x="1206500" y="3175000"/>
            <a:ext cx="5969000" cy="132343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A free NASA dataset providing daily weather and solar measurements for locations around the world.
</a:t>
            </a:r>
          </a:p>
          <a:p>
            <a:endParaRPr lang="en-US" sz="1600">
              <a:solidFill>
                <a:srgbClr val="464646"/>
              </a:solidFill>
            </a:endParaRPr>
          </a:p>
          <a:p>
            <a:r>
              <a:rPr lang="en-US" sz="1600">
                <a:solidFill>
                  <a:srgbClr val="464646"/>
                </a:solidFill>
              </a:rPr>
              <a:t>Data used in the project covers 2020–2025.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7275CE-C584-11F5-F9AA-E88F2FCBE31D}"/>
              </a:ext>
            </a:extLst>
          </p:cNvPr>
          <p:cNvSpPr/>
          <p:nvPr/>
        </p:nvSpPr>
        <p:spPr>
          <a:xfrm>
            <a:off x="8255000" y="2222500"/>
            <a:ext cx="6604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D6570-9CEA-836C-4846-79A7313162E3}"/>
              </a:ext>
            </a:extLst>
          </p:cNvPr>
          <p:cNvSpPr txBox="1"/>
          <p:nvPr/>
        </p:nvSpPr>
        <p:spPr>
          <a:xfrm>
            <a:off x="8572500" y="2476500"/>
            <a:ext cx="5969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286K DAILY RECORDS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DA143-7DE9-5263-9EEE-E80745B171FB}"/>
              </a:ext>
            </a:extLst>
          </p:cNvPr>
          <p:cNvSpPr txBox="1"/>
          <p:nvPr/>
        </p:nvSpPr>
        <p:spPr>
          <a:xfrm>
            <a:off x="8572500" y="3175000"/>
            <a:ext cx="596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dashboard summarizes the collected data through geographic locations, districts and solar-resource indicators.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8DB06-9E5D-7B66-42E5-656548DA7172}"/>
              </a:ext>
            </a:extLst>
          </p:cNvPr>
          <p:cNvSpPr txBox="1"/>
          <p:nvPr/>
        </p:nvSpPr>
        <p:spPr>
          <a:xfrm>
            <a:off x="1270000" y="6604000"/>
            <a:ext cx="13335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143148"/>
                </a:solidFill>
              </a:rPr>
              <a:t>6 years of daily weather and solar measurements across a country-wide geographic grid.</a:t>
            </a:r>
            <a:endParaRPr lang="en-JO" sz="21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74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1DC86-4306-616F-E40F-07177F513B8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B81D0-5A57-CC3E-EF6C-24806B2AD7DE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06 · GEOGRAPHIC COVERAGE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293D8-F6F0-8FB3-A131-9818DCB7E011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Full-country coverage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FA56D-0BEC-B1E1-0D3E-BCB9489EF38F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7E11F-E839-26C4-3197-C5435A611FE9}"/>
              </a:ext>
            </a:extLst>
          </p:cNvPr>
          <p:cNvSpPr txBox="1"/>
          <p:nvPr/>
        </p:nvSpPr>
        <p:spPr>
          <a:xfrm>
            <a:off x="1143000" y="1968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dataset uses a grid of locations spanning Jordan's full bounding box.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BE37E-400D-EE10-DF59-E80A654B3389}"/>
              </a:ext>
            </a:extLst>
          </p:cNvPr>
          <p:cNvSpPr txBox="1"/>
          <p:nvPr/>
        </p:nvSpPr>
        <p:spPr>
          <a:xfrm>
            <a:off x="1143000" y="2857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grid uses approximately 0.25-degree spacing, roughly every 25–28 km.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80AD2-00AA-AE2E-64D0-02C0581CC912}"/>
              </a:ext>
            </a:extLst>
          </p:cNvPr>
          <p:cNvSpPr txBox="1"/>
          <p:nvPr/>
        </p:nvSpPr>
        <p:spPr>
          <a:xfrm>
            <a:off x="1143000" y="3746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Points were filtered to locations that actually fall inside Jordan's borders.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ED067-71E2-F7F4-2E6D-A00A306A655D}"/>
              </a:ext>
            </a:extLst>
          </p:cNvPr>
          <p:cNvSpPr txBox="1"/>
          <p:nvPr/>
        </p:nvSpPr>
        <p:spPr>
          <a:xfrm>
            <a:off x="1143000" y="4635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Desert points were kept rather than focusing only on cities.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A2661-3FDB-C12B-6E77-A92E6990A390}"/>
              </a:ext>
            </a:extLst>
          </p:cNvPr>
          <p:cNvSpPr txBox="1"/>
          <p:nvPr/>
        </p:nvSpPr>
        <p:spPr>
          <a:xfrm>
            <a:off x="1143000" y="5524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This is important for utility-scale investors who may be interested in open land.</a:t>
            </a:r>
            <a:endParaRPr lang="en-JO" sz="19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2B0C52-8901-1013-FADF-9F8FEFEFCCF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4E16B-DD8B-E8A2-09D5-9A72A70DA82C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07 · UNDERSTANDING THE DATA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364F4-9A8D-A618-9595-28D17BED8DD0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What does one row represent?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DC46D-1534-889F-8ACF-E17950DC759B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770BE-3023-D4BC-1DCC-7E9949C1A201}"/>
              </a:ext>
            </a:extLst>
          </p:cNvPr>
          <p:cNvSpPr txBox="1"/>
          <p:nvPr/>
        </p:nvSpPr>
        <p:spPr>
          <a:xfrm>
            <a:off x="952500" y="1841500"/>
            <a:ext cx="5715000" cy="4308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200" b="1">
                <a:solidFill>
                  <a:srgbClr val="143148"/>
                </a:solidFill>
              </a:rPr>
              <a:t>Data structure</a:t>
            </a:r>
            <a:endParaRPr lang="en-JO" sz="2200" b="1">
              <a:solidFill>
                <a:srgbClr val="14314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192A3-DFF8-2A5E-B38C-9F753622F192}"/>
              </a:ext>
            </a:extLst>
          </p:cNvPr>
          <p:cNvSpPr txBox="1"/>
          <p:nvPr/>
        </p:nvSpPr>
        <p:spPr>
          <a:xfrm>
            <a:off x="1016000" y="2476500"/>
            <a:ext cx="6350000" cy="61555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414141"/>
                </a:solidFill>
              </a:rPr>
              <a:t>•  One row represents one day of weather data at one geographic location.</a:t>
            </a:r>
            <a:endParaRPr lang="en-JO" sz="17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EDE89-08D6-972F-2CAB-6D30981D9653}"/>
              </a:ext>
            </a:extLst>
          </p:cNvPr>
          <p:cNvSpPr txBox="1"/>
          <p:nvPr/>
        </p:nvSpPr>
        <p:spPr>
          <a:xfrm>
            <a:off x="1016000" y="3175000"/>
            <a:ext cx="6350000" cy="61555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414141"/>
                </a:solidFill>
              </a:rPr>
              <a:t>•  Each record contains latitude, longitude and elevation information.</a:t>
            </a:r>
            <a:endParaRPr lang="en-JO" sz="17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CB06A-E324-1324-BB64-D4A448A8C797}"/>
              </a:ext>
            </a:extLst>
          </p:cNvPr>
          <p:cNvSpPr txBox="1"/>
          <p:nvPr/>
        </p:nvSpPr>
        <p:spPr>
          <a:xfrm>
            <a:off x="1016000" y="3873500"/>
            <a:ext cx="6350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414141"/>
                </a:solidFill>
              </a:rPr>
              <a:t>•  The dataset contains daily observations from 2020 to 2025.</a:t>
            </a:r>
            <a:endParaRPr lang="en-JO" sz="1700">
              <a:solidFill>
                <a:srgbClr val="4141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97B84-323A-ED01-B543-54A8A24D0CCC}"/>
              </a:ext>
            </a:extLst>
          </p:cNvPr>
          <p:cNvSpPr txBox="1"/>
          <p:nvPr/>
        </p:nvSpPr>
        <p:spPr>
          <a:xfrm>
            <a:off x="1016000" y="4572000"/>
            <a:ext cx="6350000" cy="61555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414141"/>
                </a:solidFill>
              </a:rPr>
              <a:t>•  The raw NASA POWER parameter codes were renamed into plain-language column names.</a:t>
            </a:r>
            <a:endParaRPr lang="en-JO" sz="1700">
              <a:solidFill>
                <a:srgbClr val="41414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3ECF3-35F8-BC37-5906-2BA22346FC50}"/>
              </a:ext>
            </a:extLst>
          </p:cNvPr>
          <p:cNvSpPr txBox="1"/>
          <p:nvPr/>
        </p:nvSpPr>
        <p:spPr>
          <a:xfrm>
            <a:off x="8445500" y="1841500"/>
            <a:ext cx="5715000" cy="4308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200" b="1">
                <a:solidFill>
                  <a:srgbClr val="143148"/>
                </a:solidFill>
              </a:rPr>
              <a:t>Main weather variables</a:t>
            </a:r>
            <a:endParaRPr lang="en-JO" sz="2200" b="1">
              <a:solidFill>
                <a:srgbClr val="143148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AF9C58-14C9-D68A-8CF2-7F02AEAC6293}"/>
              </a:ext>
            </a:extLst>
          </p:cNvPr>
          <p:cNvSpPr/>
          <p:nvPr/>
        </p:nvSpPr>
        <p:spPr>
          <a:xfrm>
            <a:off x="8572500" y="24765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D5CD2-27C0-A022-288D-6B3B7CD377F6}"/>
              </a:ext>
            </a:extLst>
          </p:cNvPr>
          <p:cNvSpPr txBox="1"/>
          <p:nvPr/>
        </p:nvSpPr>
        <p:spPr>
          <a:xfrm>
            <a:off x="8763000" y="25146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Solar irradiance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E3E658-BE75-FDD8-55B2-443C5EB4FB50}"/>
              </a:ext>
            </a:extLst>
          </p:cNvPr>
          <p:cNvSpPr/>
          <p:nvPr/>
        </p:nvSpPr>
        <p:spPr>
          <a:xfrm>
            <a:off x="8572500" y="30861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D32CB-3B8A-6875-8BE0-6A3D0E290DCA}"/>
              </a:ext>
            </a:extLst>
          </p:cNvPr>
          <p:cNvSpPr txBox="1"/>
          <p:nvPr/>
        </p:nvSpPr>
        <p:spPr>
          <a:xfrm>
            <a:off x="8763000" y="31242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Clear-sky irradiance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E71006-A751-0150-9F6D-FA46EC323F34}"/>
              </a:ext>
            </a:extLst>
          </p:cNvPr>
          <p:cNvSpPr/>
          <p:nvPr/>
        </p:nvSpPr>
        <p:spPr>
          <a:xfrm>
            <a:off x="8572500" y="36957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4F89C-F593-397A-34B3-CECCDF631CD5}"/>
              </a:ext>
            </a:extLst>
          </p:cNvPr>
          <p:cNvSpPr txBox="1"/>
          <p:nvPr/>
        </p:nvSpPr>
        <p:spPr>
          <a:xfrm>
            <a:off x="8763000" y="37338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Temperature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E801B5B-E397-5528-17D7-881787FAC986}"/>
              </a:ext>
            </a:extLst>
          </p:cNvPr>
          <p:cNvSpPr/>
          <p:nvPr/>
        </p:nvSpPr>
        <p:spPr>
          <a:xfrm>
            <a:off x="8572500" y="43053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36F968-7A0B-5173-D4CC-D02B40D78EFD}"/>
              </a:ext>
            </a:extLst>
          </p:cNvPr>
          <p:cNvSpPr txBox="1"/>
          <p:nvPr/>
        </p:nvSpPr>
        <p:spPr>
          <a:xfrm>
            <a:off x="8763000" y="43434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Humidity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29B0B7-6323-D89B-0304-C90BB09CA0F7}"/>
              </a:ext>
            </a:extLst>
          </p:cNvPr>
          <p:cNvSpPr/>
          <p:nvPr/>
        </p:nvSpPr>
        <p:spPr>
          <a:xfrm>
            <a:off x="8572500" y="49149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855E3-6D1D-78B3-D9D6-EE7D906603DB}"/>
              </a:ext>
            </a:extLst>
          </p:cNvPr>
          <p:cNvSpPr txBox="1"/>
          <p:nvPr/>
        </p:nvSpPr>
        <p:spPr>
          <a:xfrm>
            <a:off x="8763000" y="49530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Cloud cover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95E4DCB-6843-44C0-88F4-A28EF8FE5ADB}"/>
              </a:ext>
            </a:extLst>
          </p:cNvPr>
          <p:cNvSpPr/>
          <p:nvPr/>
        </p:nvSpPr>
        <p:spPr>
          <a:xfrm>
            <a:off x="8572500" y="55245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4C2387-42B2-A591-51C7-5F4070AB0870}"/>
              </a:ext>
            </a:extLst>
          </p:cNvPr>
          <p:cNvSpPr txBox="1"/>
          <p:nvPr/>
        </p:nvSpPr>
        <p:spPr>
          <a:xfrm>
            <a:off x="8763000" y="55626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Wind speed</a:t>
            </a:r>
            <a:endParaRPr lang="en-JO" sz="1500">
              <a:solidFill>
                <a:srgbClr val="2D415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894E72-6458-C9C7-0B37-0120D24E5C13}"/>
              </a:ext>
            </a:extLst>
          </p:cNvPr>
          <p:cNvSpPr/>
          <p:nvPr/>
        </p:nvSpPr>
        <p:spPr>
          <a:xfrm>
            <a:off x="8572500" y="6134100"/>
            <a:ext cx="5080000" cy="482600"/>
          </a:xfrm>
          <a:prstGeom prst="roundRect">
            <a:avLst/>
          </a:prstGeom>
          <a:solidFill>
            <a:srgbClr val="EE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A45CF7-0165-9E1B-E560-C24B627DA237}"/>
              </a:ext>
            </a:extLst>
          </p:cNvPr>
          <p:cNvSpPr txBox="1"/>
          <p:nvPr/>
        </p:nvSpPr>
        <p:spPr>
          <a:xfrm>
            <a:off x="8763000" y="6172200"/>
            <a:ext cx="4699000" cy="32316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500">
                <a:solidFill>
                  <a:srgbClr val="2D4150"/>
                </a:solidFill>
              </a:rPr>
              <a:t>Precipitation</a:t>
            </a:r>
            <a:endParaRPr lang="en-JO" sz="1500">
              <a:solidFill>
                <a:srgbClr val="2D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6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DC4C81-EBB2-0537-8E88-01D378E2FA6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4F3D4-7A0E-0D80-5AD3-D920E9D61A24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08 · DATA PREPARATION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1C2DA-3931-9F1A-A3A5-F0AF03A2BAB4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Cleaning the raw data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B076C-34AA-51C6-2EA5-592553F44E79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A8FEC-D37E-371E-7A37-95D65F5AB24B}"/>
              </a:ext>
            </a:extLst>
          </p:cNvPr>
          <p:cNvSpPr txBox="1"/>
          <p:nvPr/>
        </p:nvSpPr>
        <p:spPr>
          <a:xfrm>
            <a:off x="1143000" y="1968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raw weather data was cleaned before modeling.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6D9AA-A7F3-D978-A25B-90748F75BE9A}"/>
              </a:ext>
            </a:extLst>
          </p:cNvPr>
          <p:cNvSpPr txBox="1"/>
          <p:nvPr/>
        </p:nvSpPr>
        <p:spPr>
          <a:xfrm>
            <a:off x="1143000" y="2857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Duplicate records were removed.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5CF12-65EA-12C7-0016-07E2CA378101}"/>
              </a:ext>
            </a:extLst>
          </p:cNvPr>
          <p:cNvSpPr txBox="1"/>
          <p:nvPr/>
        </p:nvSpPr>
        <p:spPr>
          <a:xfrm>
            <a:off x="1143000" y="3746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Missing-value markers were handled.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4748D-79D9-9779-5598-36363B01D622}"/>
              </a:ext>
            </a:extLst>
          </p:cNvPr>
          <p:cNvSpPr txBox="1"/>
          <p:nvPr/>
        </p:nvSpPr>
        <p:spPr>
          <a:xfrm>
            <a:off x="1143000" y="4635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Temperature outliers were checked and cleaned.</a:t>
            </a:r>
            <a:endParaRPr lang="en-JO" sz="1900">
              <a:solidFill>
                <a:srgbClr val="4141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E6356-B3AD-A7C3-B435-C3BF08A714EC}"/>
              </a:ext>
            </a:extLst>
          </p:cNvPr>
          <p:cNvSpPr txBox="1"/>
          <p:nvPr/>
        </p:nvSpPr>
        <p:spPr>
          <a:xfrm>
            <a:off x="1143000" y="5524500"/>
            <a:ext cx="1397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414141"/>
                </a:solidFill>
              </a:rPr>
              <a:t>•  The cleaned dataset was then used for exploratory analysis and model development.</a:t>
            </a:r>
            <a:endParaRPr lang="en-JO" sz="19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6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47F7A1-90EE-3652-4CDB-6F32BC0F260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24115-B86D-7374-D107-3BB4ED066675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09 · EXPLORATORY DATA ANALYSIS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AE3B1-15B0-7C78-4B65-C5D7F9969DBA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Exploring the data before modeling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A8793-DA5D-BC27-C70B-6159BEF90DA9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09F05-5509-A105-D9DF-76D2A263E243}"/>
              </a:ext>
            </a:extLst>
          </p:cNvPr>
          <p:cNvSpPr txBox="1"/>
          <p:nvPr/>
        </p:nvSpPr>
        <p:spPr>
          <a:xfrm>
            <a:off x="1079500" y="2222500"/>
            <a:ext cx="3810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 b="1">
                <a:solidFill>
                  <a:srgbClr val="143148"/>
                </a:solidFill>
              </a:rPr>
              <a:t>Solar Irradiance</a:t>
            </a:r>
            <a:endParaRPr lang="en-JO" sz="1700" b="1">
              <a:solidFill>
                <a:srgbClr val="14314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66D224-B243-1BE1-DEE9-07C452FA7133}"/>
              </a:ext>
            </a:extLst>
          </p:cNvPr>
          <p:cNvCxnSpPr/>
          <p:nvPr/>
        </p:nvCxnSpPr>
        <p:spPr>
          <a:xfrm flipV="1">
            <a:off x="1206500" y="3724910"/>
            <a:ext cx="323273" cy="15430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E590B1-62D3-3087-5B37-EB71AE34C6BE}"/>
              </a:ext>
            </a:extLst>
          </p:cNvPr>
          <p:cNvCxnSpPr/>
          <p:nvPr/>
        </p:nvCxnSpPr>
        <p:spPr>
          <a:xfrm flipV="1">
            <a:off x="1529773" y="3536315"/>
            <a:ext cx="323272" cy="18859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86215C-C34F-55B2-AEF4-33087042FF79}"/>
              </a:ext>
            </a:extLst>
          </p:cNvPr>
          <p:cNvCxnSpPr/>
          <p:nvPr/>
        </p:nvCxnSpPr>
        <p:spPr>
          <a:xfrm flipV="1">
            <a:off x="1853045" y="3347720"/>
            <a:ext cx="323273" cy="18859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E58363-7967-A763-5045-784F05BE933E}"/>
              </a:ext>
            </a:extLst>
          </p:cNvPr>
          <p:cNvCxnSpPr/>
          <p:nvPr/>
        </p:nvCxnSpPr>
        <p:spPr>
          <a:xfrm flipV="1">
            <a:off x="2176318" y="3159125"/>
            <a:ext cx="323273" cy="18859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AF96E-C1CB-D3CF-9834-4E47EEEB5C7B}"/>
              </a:ext>
            </a:extLst>
          </p:cNvPr>
          <p:cNvCxnSpPr/>
          <p:nvPr/>
        </p:nvCxnSpPr>
        <p:spPr>
          <a:xfrm flipV="1">
            <a:off x="2499591" y="3056255"/>
            <a:ext cx="323273" cy="10287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3E664C-1C03-BDC4-CAA3-2E785D9389B6}"/>
              </a:ext>
            </a:extLst>
          </p:cNvPr>
          <p:cNvCxnSpPr/>
          <p:nvPr/>
        </p:nvCxnSpPr>
        <p:spPr>
          <a:xfrm>
            <a:off x="2822864" y="3056255"/>
            <a:ext cx="323272" cy="3429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F58C13-A9E9-7596-8871-192165891387}"/>
              </a:ext>
            </a:extLst>
          </p:cNvPr>
          <p:cNvCxnSpPr/>
          <p:nvPr/>
        </p:nvCxnSpPr>
        <p:spPr>
          <a:xfrm>
            <a:off x="3146136" y="3090545"/>
            <a:ext cx="323273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F437E7-6ABB-B8E0-19FA-60F71F3A5AEB}"/>
              </a:ext>
            </a:extLst>
          </p:cNvPr>
          <p:cNvCxnSpPr/>
          <p:nvPr/>
        </p:nvCxnSpPr>
        <p:spPr>
          <a:xfrm>
            <a:off x="3469409" y="3227705"/>
            <a:ext cx="323273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D0B293-FA6C-F5D9-7041-7C1D749201E9}"/>
              </a:ext>
            </a:extLst>
          </p:cNvPr>
          <p:cNvCxnSpPr/>
          <p:nvPr/>
        </p:nvCxnSpPr>
        <p:spPr>
          <a:xfrm>
            <a:off x="3792682" y="3364865"/>
            <a:ext cx="323273" cy="20574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477425-9BD2-A4EC-8E88-E8985BC1FCB1}"/>
              </a:ext>
            </a:extLst>
          </p:cNvPr>
          <p:cNvCxnSpPr/>
          <p:nvPr/>
        </p:nvCxnSpPr>
        <p:spPr>
          <a:xfrm>
            <a:off x="4115955" y="3570605"/>
            <a:ext cx="323272" cy="17145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686621-EF87-AD03-D38D-37C03DCB5FAA}"/>
              </a:ext>
            </a:extLst>
          </p:cNvPr>
          <p:cNvCxnSpPr/>
          <p:nvPr/>
        </p:nvCxnSpPr>
        <p:spPr>
          <a:xfrm>
            <a:off x="4439227" y="3742055"/>
            <a:ext cx="323273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9A92B7-C8E4-31DD-B1B0-47F36EC68F78}"/>
              </a:ext>
            </a:extLst>
          </p:cNvPr>
          <p:cNvSpPr txBox="1"/>
          <p:nvPr/>
        </p:nvSpPr>
        <p:spPr>
          <a:xfrm>
            <a:off x="5651500" y="2222500"/>
            <a:ext cx="3810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 b="1">
                <a:solidFill>
                  <a:srgbClr val="143148"/>
                </a:solidFill>
              </a:rPr>
              <a:t>Specific Yield</a:t>
            </a:r>
            <a:endParaRPr lang="en-JO" sz="1700" b="1">
              <a:solidFill>
                <a:srgbClr val="143148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7E0A2A-DBCF-348D-D849-A0B32198D37A}"/>
              </a:ext>
            </a:extLst>
          </p:cNvPr>
          <p:cNvCxnSpPr/>
          <p:nvPr/>
        </p:nvCxnSpPr>
        <p:spPr>
          <a:xfrm flipV="1">
            <a:off x="5778500" y="3896360"/>
            <a:ext cx="323273" cy="8572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63CAFE-81EB-B312-4464-ED08EA252247}"/>
              </a:ext>
            </a:extLst>
          </p:cNvPr>
          <p:cNvCxnSpPr/>
          <p:nvPr/>
        </p:nvCxnSpPr>
        <p:spPr>
          <a:xfrm flipV="1">
            <a:off x="6101773" y="3759200"/>
            <a:ext cx="323272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B40FBE-B359-921D-91C6-FEBB9FF81369}"/>
              </a:ext>
            </a:extLst>
          </p:cNvPr>
          <p:cNvCxnSpPr/>
          <p:nvPr/>
        </p:nvCxnSpPr>
        <p:spPr>
          <a:xfrm flipV="1">
            <a:off x="6425045" y="3587750"/>
            <a:ext cx="323273" cy="17145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5FFF22-3736-3CB4-B2A4-B605E2D5D3F1}"/>
              </a:ext>
            </a:extLst>
          </p:cNvPr>
          <p:cNvCxnSpPr/>
          <p:nvPr/>
        </p:nvCxnSpPr>
        <p:spPr>
          <a:xfrm flipV="1">
            <a:off x="6748318" y="3450590"/>
            <a:ext cx="323273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E20C95-EE63-B6B7-B8E3-BBAAE930C2B5}"/>
              </a:ext>
            </a:extLst>
          </p:cNvPr>
          <p:cNvCxnSpPr/>
          <p:nvPr/>
        </p:nvCxnSpPr>
        <p:spPr>
          <a:xfrm flipV="1">
            <a:off x="7071591" y="3399155"/>
            <a:ext cx="323272" cy="5143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E4D9A5-B857-037F-1581-FC5EBB16D988}"/>
              </a:ext>
            </a:extLst>
          </p:cNvPr>
          <p:cNvCxnSpPr/>
          <p:nvPr/>
        </p:nvCxnSpPr>
        <p:spPr>
          <a:xfrm>
            <a:off x="7394863" y="3399155"/>
            <a:ext cx="323274" cy="1714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8FA9EB-476D-41A2-8A3F-631C73FBC484}"/>
              </a:ext>
            </a:extLst>
          </p:cNvPr>
          <p:cNvCxnSpPr/>
          <p:nvPr/>
        </p:nvCxnSpPr>
        <p:spPr>
          <a:xfrm>
            <a:off x="7718137" y="3416300"/>
            <a:ext cx="323272" cy="8572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583B11-192C-A2BA-124E-36148ECA21C6}"/>
              </a:ext>
            </a:extLst>
          </p:cNvPr>
          <p:cNvCxnSpPr/>
          <p:nvPr/>
        </p:nvCxnSpPr>
        <p:spPr>
          <a:xfrm>
            <a:off x="8041409" y="3502025"/>
            <a:ext cx="323273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528C11-4D96-0B22-9FC9-E3EF7C30A54F}"/>
              </a:ext>
            </a:extLst>
          </p:cNvPr>
          <p:cNvCxnSpPr/>
          <p:nvPr/>
        </p:nvCxnSpPr>
        <p:spPr>
          <a:xfrm>
            <a:off x="8364682" y="3639185"/>
            <a:ext cx="323272" cy="137160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70937F-91BD-95FD-3479-74F1D0AC64FD}"/>
              </a:ext>
            </a:extLst>
          </p:cNvPr>
          <p:cNvCxnSpPr/>
          <p:nvPr/>
        </p:nvCxnSpPr>
        <p:spPr>
          <a:xfrm>
            <a:off x="8687954" y="3776345"/>
            <a:ext cx="323273" cy="15430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ED43D2-9D16-0379-4336-955396580430}"/>
              </a:ext>
            </a:extLst>
          </p:cNvPr>
          <p:cNvCxnSpPr/>
          <p:nvPr/>
        </p:nvCxnSpPr>
        <p:spPr>
          <a:xfrm>
            <a:off x="9011227" y="3930650"/>
            <a:ext cx="323273" cy="85725"/>
          </a:xfrm>
          <a:prstGeom prst="line">
            <a:avLst/>
          </a:prstGeom>
          <a:ln w="38100">
            <a:solidFill>
              <a:srgbClr val="35A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B35448-FDA5-D182-E9DF-C9BFEAB460A6}"/>
              </a:ext>
            </a:extLst>
          </p:cNvPr>
          <p:cNvSpPr txBox="1"/>
          <p:nvPr/>
        </p:nvSpPr>
        <p:spPr>
          <a:xfrm>
            <a:off x="10223500" y="2222500"/>
            <a:ext cx="3810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 b="1">
                <a:solidFill>
                  <a:srgbClr val="143148"/>
                </a:solidFill>
              </a:rPr>
              <a:t>Cloud Cover</a:t>
            </a:r>
            <a:endParaRPr lang="en-JO" sz="1700" b="1">
              <a:solidFill>
                <a:srgbClr val="143148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192C24-9237-6528-27B8-E8E409EB1F3F}"/>
              </a:ext>
            </a:extLst>
          </p:cNvPr>
          <p:cNvSpPr/>
          <p:nvPr/>
        </p:nvSpPr>
        <p:spPr>
          <a:xfrm>
            <a:off x="10350500" y="2778125"/>
            <a:ext cx="228600" cy="1666875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BF1291-CCBC-A3A4-2B7A-1953B504BDC3}"/>
              </a:ext>
            </a:extLst>
          </p:cNvPr>
          <p:cNvSpPr/>
          <p:nvPr/>
        </p:nvSpPr>
        <p:spPr>
          <a:xfrm>
            <a:off x="10646833" y="2730500"/>
            <a:ext cx="228600" cy="171450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F27746-A1C2-1C47-A7FA-01652EE9BDA7}"/>
              </a:ext>
            </a:extLst>
          </p:cNvPr>
          <p:cNvSpPr/>
          <p:nvPr/>
        </p:nvSpPr>
        <p:spPr>
          <a:xfrm>
            <a:off x="10943167" y="2778125"/>
            <a:ext cx="228600" cy="1666875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6733A2-B114-E828-939E-AEBDC8318F46}"/>
              </a:ext>
            </a:extLst>
          </p:cNvPr>
          <p:cNvSpPr/>
          <p:nvPr/>
        </p:nvSpPr>
        <p:spPr>
          <a:xfrm>
            <a:off x="11239500" y="2921000"/>
            <a:ext cx="228600" cy="152400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9A1191-4B87-2A2E-A2AE-F657C5EB706F}"/>
              </a:ext>
            </a:extLst>
          </p:cNvPr>
          <p:cNvSpPr/>
          <p:nvPr/>
        </p:nvSpPr>
        <p:spPr>
          <a:xfrm>
            <a:off x="11535833" y="3302000"/>
            <a:ext cx="228600" cy="114300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D0D5B8-4EA8-90F5-4D45-DBCE50D7AA33}"/>
              </a:ext>
            </a:extLst>
          </p:cNvPr>
          <p:cNvSpPr/>
          <p:nvPr/>
        </p:nvSpPr>
        <p:spPr>
          <a:xfrm>
            <a:off x="11832167" y="3873500"/>
            <a:ext cx="228600" cy="57150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D4B268-CFD2-8D72-C99B-73551F3B3166}"/>
              </a:ext>
            </a:extLst>
          </p:cNvPr>
          <p:cNvSpPr/>
          <p:nvPr/>
        </p:nvSpPr>
        <p:spPr>
          <a:xfrm>
            <a:off x="12128500" y="4016375"/>
            <a:ext cx="228600" cy="428625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DE2758-8FBE-95B8-F794-F928E8BBFAC4}"/>
              </a:ext>
            </a:extLst>
          </p:cNvPr>
          <p:cNvSpPr/>
          <p:nvPr/>
        </p:nvSpPr>
        <p:spPr>
          <a:xfrm>
            <a:off x="12424833" y="3921125"/>
            <a:ext cx="228600" cy="523875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12E46B-AD6D-61A4-C382-6F304DE69FD4}"/>
              </a:ext>
            </a:extLst>
          </p:cNvPr>
          <p:cNvSpPr/>
          <p:nvPr/>
        </p:nvSpPr>
        <p:spPr>
          <a:xfrm>
            <a:off x="12721167" y="3968750"/>
            <a:ext cx="228600" cy="47625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45D3F6-5452-8423-30DF-5C7C98E43BAF}"/>
              </a:ext>
            </a:extLst>
          </p:cNvPr>
          <p:cNvSpPr/>
          <p:nvPr/>
        </p:nvSpPr>
        <p:spPr>
          <a:xfrm>
            <a:off x="13017500" y="3587750"/>
            <a:ext cx="228600" cy="85725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1C73CD-B898-7B23-40FB-C0EC78C14E65}"/>
              </a:ext>
            </a:extLst>
          </p:cNvPr>
          <p:cNvSpPr/>
          <p:nvPr/>
        </p:nvSpPr>
        <p:spPr>
          <a:xfrm>
            <a:off x="13313834" y="3159125"/>
            <a:ext cx="228600" cy="1285875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F50099-92D5-0885-E39D-0641E4BB45F5}"/>
              </a:ext>
            </a:extLst>
          </p:cNvPr>
          <p:cNvSpPr/>
          <p:nvPr/>
        </p:nvSpPr>
        <p:spPr>
          <a:xfrm>
            <a:off x="13610166" y="2730500"/>
            <a:ext cx="228600" cy="1714500"/>
          </a:xfrm>
          <a:prstGeom prst="rect">
            <a:avLst/>
          </a:prstGeom>
          <a:solidFill>
            <a:srgbClr val="735B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B3C4B6-18C3-E743-3B8C-D0B6D8093E83}"/>
              </a:ext>
            </a:extLst>
          </p:cNvPr>
          <p:cNvSpPr txBox="1"/>
          <p:nvPr/>
        </p:nvSpPr>
        <p:spPr>
          <a:xfrm>
            <a:off x="1016000" y="5461000"/>
            <a:ext cx="5080000" cy="446276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300" b="1">
                <a:solidFill>
                  <a:srgbClr val="143148"/>
                </a:solidFill>
              </a:rPr>
              <a:t>Patterns identified</a:t>
            </a:r>
            <a:endParaRPr lang="en-JO" sz="2300" b="1">
              <a:solidFill>
                <a:srgbClr val="143148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4595C-BE25-B706-9C53-4BAEBE817C71}"/>
              </a:ext>
            </a:extLst>
          </p:cNvPr>
          <p:cNvSpPr txBox="1"/>
          <p:nvPr/>
        </p:nvSpPr>
        <p:spPr>
          <a:xfrm>
            <a:off x="1143000" y="6096000"/>
            <a:ext cx="12700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>
                <a:solidFill>
                  <a:srgbClr val="414141"/>
                </a:solidFill>
              </a:rPr>
              <a:t>•  Solar irradiance and specific yield follow a clear seasonal pattern.</a:t>
            </a:r>
            <a:endParaRPr lang="en-JO">
              <a:solidFill>
                <a:srgbClr val="41414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5C856-71C7-5BE8-F4EC-A860B193D27A}"/>
              </a:ext>
            </a:extLst>
          </p:cNvPr>
          <p:cNvSpPr txBox="1"/>
          <p:nvPr/>
        </p:nvSpPr>
        <p:spPr>
          <a:xfrm>
            <a:off x="1143000" y="6794500"/>
            <a:ext cx="12700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>
                <a:solidFill>
                  <a:srgbClr val="414141"/>
                </a:solidFill>
              </a:rPr>
              <a:t>•  Production-related indicators rise toward the middle of the year and decline afterward.</a:t>
            </a:r>
            <a:endParaRPr lang="en-JO">
              <a:solidFill>
                <a:srgbClr val="41414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20C51B-EEA7-D3B6-5C43-CEB45D8FE0C2}"/>
              </a:ext>
            </a:extLst>
          </p:cNvPr>
          <p:cNvSpPr txBox="1"/>
          <p:nvPr/>
        </p:nvSpPr>
        <p:spPr>
          <a:xfrm>
            <a:off x="1143000" y="7493000"/>
            <a:ext cx="12700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>
                <a:solidFill>
                  <a:srgbClr val="414141"/>
                </a:solidFill>
              </a:rPr>
              <a:t>•  Cloud cover provides additional weather context for changes in solar conditions.</a:t>
            </a:r>
            <a:endParaRPr lang="en-JO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3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BEB017-04F2-DE10-FC57-61A255ABD91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9849F-4749-CE2F-C29E-0A39F39DFD9A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10 · MODELING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8C7B7-6AF2-0116-A356-DC816AC95EBB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Predicting solar generation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0DBB2-E704-A3D7-EB8F-DE3712993E61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59949-05AD-D4B6-362E-EDE08EBA42F2}"/>
              </a:ext>
            </a:extLst>
          </p:cNvPr>
          <p:cNvSpPr txBox="1"/>
          <p:nvPr/>
        </p:nvSpPr>
        <p:spPr>
          <a:xfrm>
            <a:off x="1016000" y="1841500"/>
            <a:ext cx="6350000" cy="446276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300" b="1">
                <a:solidFill>
                  <a:srgbClr val="143148"/>
                </a:solidFill>
              </a:rPr>
              <a:t>Model development process</a:t>
            </a:r>
            <a:endParaRPr lang="en-JO" sz="2300" b="1">
              <a:solidFill>
                <a:srgbClr val="143148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93F40D-54A0-EEAD-9423-02C06402F08A}"/>
              </a:ext>
            </a:extLst>
          </p:cNvPr>
          <p:cNvSpPr/>
          <p:nvPr/>
        </p:nvSpPr>
        <p:spPr>
          <a:xfrm>
            <a:off x="1016000" y="2794000"/>
            <a:ext cx="2159000" cy="698500"/>
          </a:xfrm>
          <a:prstGeom prst="roundRect">
            <a:avLst/>
          </a:prstGeom>
          <a:solidFill>
            <a:srgbClr val="EBF1F5"/>
          </a:solidFill>
          <a:ln>
            <a:solidFill>
              <a:srgbClr val="CD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C8158-A6E9-A34F-DD05-FD7670084D76}"/>
              </a:ext>
            </a:extLst>
          </p:cNvPr>
          <p:cNvSpPr txBox="1"/>
          <p:nvPr/>
        </p:nvSpPr>
        <p:spPr>
          <a:xfrm>
            <a:off x="1143000" y="2857500"/>
            <a:ext cx="1905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143148"/>
                </a:solidFill>
              </a:rPr>
              <a:t>Weather Inputs</a:t>
            </a:r>
            <a:endParaRPr lang="en-JO" sz="1400" b="1">
              <a:solidFill>
                <a:srgbClr val="143148"/>
              </a:solidFill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31CDBA9-FB3B-538A-A0F3-2A74BB2EA172}"/>
              </a:ext>
            </a:extLst>
          </p:cNvPr>
          <p:cNvSpPr/>
          <p:nvPr/>
        </p:nvSpPr>
        <p:spPr>
          <a:xfrm>
            <a:off x="3429000" y="3111500"/>
            <a:ext cx="825500" cy="317500"/>
          </a:xfrm>
          <a:prstGeom prst="rightArrow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57C872-83DF-D3DE-FA68-1578B1F4438E}"/>
              </a:ext>
            </a:extLst>
          </p:cNvPr>
          <p:cNvSpPr/>
          <p:nvPr/>
        </p:nvSpPr>
        <p:spPr>
          <a:xfrm>
            <a:off x="4572000" y="2794000"/>
            <a:ext cx="2159000" cy="698500"/>
          </a:xfrm>
          <a:prstGeom prst="roundRect">
            <a:avLst/>
          </a:prstGeom>
          <a:solidFill>
            <a:srgbClr val="EBF1F5"/>
          </a:solidFill>
          <a:ln>
            <a:solidFill>
              <a:srgbClr val="CD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68F85-A3CC-7F12-5797-B25751AA251B}"/>
              </a:ext>
            </a:extLst>
          </p:cNvPr>
          <p:cNvSpPr txBox="1"/>
          <p:nvPr/>
        </p:nvSpPr>
        <p:spPr>
          <a:xfrm>
            <a:off x="4699000" y="2857500"/>
            <a:ext cx="1905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143148"/>
                </a:solidFill>
              </a:rPr>
              <a:t>Prediction Model</a:t>
            </a:r>
            <a:endParaRPr lang="en-JO" sz="1400" b="1">
              <a:solidFill>
                <a:srgbClr val="143148"/>
              </a:solidFill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57804D1-BAC4-9F1B-6AFC-5884C230F451}"/>
              </a:ext>
            </a:extLst>
          </p:cNvPr>
          <p:cNvSpPr/>
          <p:nvPr/>
        </p:nvSpPr>
        <p:spPr>
          <a:xfrm>
            <a:off x="6985000" y="3111500"/>
            <a:ext cx="825500" cy="317500"/>
          </a:xfrm>
          <a:prstGeom prst="rightArrow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0EF279-F452-DB98-2198-267FCF732E6C}"/>
              </a:ext>
            </a:extLst>
          </p:cNvPr>
          <p:cNvSpPr/>
          <p:nvPr/>
        </p:nvSpPr>
        <p:spPr>
          <a:xfrm>
            <a:off x="8128000" y="2794000"/>
            <a:ext cx="2159000" cy="698500"/>
          </a:xfrm>
          <a:prstGeom prst="roundRect">
            <a:avLst/>
          </a:prstGeom>
          <a:solidFill>
            <a:srgbClr val="EBF1F5"/>
          </a:solidFill>
          <a:ln>
            <a:solidFill>
              <a:srgbClr val="CD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F2EDF-8BC2-AE66-BE01-18EB300C216F}"/>
              </a:ext>
            </a:extLst>
          </p:cNvPr>
          <p:cNvSpPr txBox="1"/>
          <p:nvPr/>
        </p:nvSpPr>
        <p:spPr>
          <a:xfrm>
            <a:off x="8255000" y="2857500"/>
            <a:ext cx="1905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143148"/>
                </a:solidFill>
              </a:rPr>
              <a:t>Solar Output</a:t>
            </a:r>
            <a:endParaRPr lang="en-JO" sz="1400" b="1">
              <a:solidFill>
                <a:srgbClr val="143148"/>
              </a:solidFill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A6417D7-EC76-6441-6623-BFB64126B64E}"/>
              </a:ext>
            </a:extLst>
          </p:cNvPr>
          <p:cNvSpPr/>
          <p:nvPr/>
        </p:nvSpPr>
        <p:spPr>
          <a:xfrm>
            <a:off x="10541000" y="3111500"/>
            <a:ext cx="825500" cy="317500"/>
          </a:xfrm>
          <a:prstGeom prst="rightArrow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BD8E52C-337C-35BE-4B56-D3B88A5F9589}"/>
              </a:ext>
            </a:extLst>
          </p:cNvPr>
          <p:cNvSpPr/>
          <p:nvPr/>
        </p:nvSpPr>
        <p:spPr>
          <a:xfrm>
            <a:off x="11684000" y="2794000"/>
            <a:ext cx="2159000" cy="698500"/>
          </a:xfrm>
          <a:prstGeom prst="roundRect">
            <a:avLst/>
          </a:prstGeom>
          <a:solidFill>
            <a:srgbClr val="EBF1F5"/>
          </a:solidFill>
          <a:ln>
            <a:solidFill>
              <a:srgbClr val="CD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3C25B-BB04-8736-914A-4DA5F5C255AA}"/>
              </a:ext>
            </a:extLst>
          </p:cNvPr>
          <p:cNvSpPr txBox="1"/>
          <p:nvPr/>
        </p:nvSpPr>
        <p:spPr>
          <a:xfrm>
            <a:off x="11811000" y="2857500"/>
            <a:ext cx="1905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143148"/>
                </a:solidFill>
              </a:rPr>
              <a:t>Validation</a:t>
            </a:r>
            <a:endParaRPr lang="en-JO" sz="1400" b="1">
              <a:solidFill>
                <a:srgbClr val="143148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F517003-0B04-EEB3-1AA8-AA121E3F3C63}"/>
              </a:ext>
            </a:extLst>
          </p:cNvPr>
          <p:cNvSpPr/>
          <p:nvPr/>
        </p:nvSpPr>
        <p:spPr>
          <a:xfrm>
            <a:off x="1905000" y="4953000"/>
            <a:ext cx="11430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F0911-A1C7-A3E2-912B-274BC52C9C65}"/>
              </a:ext>
            </a:extLst>
          </p:cNvPr>
          <p:cNvSpPr txBox="1"/>
          <p:nvPr/>
        </p:nvSpPr>
        <p:spPr>
          <a:xfrm>
            <a:off x="2222500" y="5207000"/>
            <a:ext cx="10795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THREE MODELS WERE COMPARED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A46032-2F39-E250-214C-8534CB1B5C52}"/>
              </a:ext>
            </a:extLst>
          </p:cNvPr>
          <p:cNvSpPr txBox="1"/>
          <p:nvPr/>
        </p:nvSpPr>
        <p:spPr>
          <a:xfrm>
            <a:off x="2222500" y="5905500"/>
            <a:ext cx="10795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models were evaluated using validation performance. XGBoost achieved the lowest validation MAE and was selected as the best model.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C4C976-208D-A7B9-B3CA-3BA2F1ADBC2F}"/>
              </a:ext>
            </a:extLst>
          </p:cNvPr>
          <p:cNvSpPr txBox="1"/>
          <p:nvPr/>
        </p:nvSpPr>
        <p:spPr>
          <a:xfrm>
            <a:off x="3429000" y="7874000"/>
            <a:ext cx="8890000" cy="4001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000" b="1">
                <a:solidFill>
                  <a:srgbClr val="143148"/>
                </a:solidFill>
              </a:rPr>
              <a:t>Target: solar_generation_kwh_per_kwp</a:t>
            </a:r>
            <a:endParaRPr lang="en-JO" sz="20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01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78983-447A-FCA4-5F77-93849D8D5C8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1D7D3-B000-CE2A-3CE1-2A0189EB8A49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11 · MODEL VALIDATION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2CF78-CA66-7FFE-33A0-270E13B4A5B0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Does the model generalize?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CBA9C-73ED-F1AC-3E09-35BAEDB771F8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24CAC7-1259-F878-5C4F-C5B443DCCB7E}"/>
              </a:ext>
            </a:extLst>
          </p:cNvPr>
          <p:cNvSpPr/>
          <p:nvPr/>
        </p:nvSpPr>
        <p:spPr>
          <a:xfrm>
            <a:off x="889000" y="2095500"/>
            <a:ext cx="4318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9FCD9-C1ED-A02B-045A-113D843E4BE4}"/>
              </a:ext>
            </a:extLst>
          </p:cNvPr>
          <p:cNvSpPr txBox="1"/>
          <p:nvPr/>
        </p:nvSpPr>
        <p:spPr>
          <a:xfrm>
            <a:off x="1206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UNSEEN TIME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D2722-191F-1D11-19E4-F3F7F87CDC4C}"/>
              </a:ext>
            </a:extLst>
          </p:cNvPr>
          <p:cNvSpPr txBox="1"/>
          <p:nvPr/>
        </p:nvSpPr>
        <p:spPr>
          <a:xfrm>
            <a:off x="1206500" y="3048000"/>
            <a:ext cx="3683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model was validated using the 2025 test year, which was kept separate from training.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F2BC88-9320-A72E-8A0C-D1C1197120E9}"/>
              </a:ext>
            </a:extLst>
          </p:cNvPr>
          <p:cNvSpPr/>
          <p:nvPr/>
        </p:nvSpPr>
        <p:spPr>
          <a:xfrm>
            <a:off x="5715000" y="2095500"/>
            <a:ext cx="4318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B22A5-B1FB-0AB3-448F-80466FF73AE7}"/>
              </a:ext>
            </a:extLst>
          </p:cNvPr>
          <p:cNvSpPr txBox="1"/>
          <p:nvPr/>
        </p:nvSpPr>
        <p:spPr>
          <a:xfrm>
            <a:off x="6032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UNSEEN LOCATION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530C1-F374-0333-91AB-3297F824E5BA}"/>
              </a:ext>
            </a:extLst>
          </p:cNvPr>
          <p:cNvSpPr txBox="1"/>
          <p:nvPr/>
        </p:nvSpPr>
        <p:spPr>
          <a:xfrm>
            <a:off x="6032500" y="3048000"/>
            <a:ext cx="3683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A southernmost grid point was held out entirely to test whether the model can work at a new location.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59E20E-F835-64E2-A491-B354FF41F4D0}"/>
              </a:ext>
            </a:extLst>
          </p:cNvPr>
          <p:cNvSpPr/>
          <p:nvPr/>
        </p:nvSpPr>
        <p:spPr>
          <a:xfrm>
            <a:off x="10541000" y="2095500"/>
            <a:ext cx="4318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FE4BD-270B-0164-8110-EBAC9AAA2A46}"/>
              </a:ext>
            </a:extLst>
          </p:cNvPr>
          <p:cNvSpPr txBox="1"/>
          <p:nvPr/>
        </p:nvSpPr>
        <p:spPr>
          <a:xfrm>
            <a:off x="10858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R? = 0.9829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033C9-56CF-FE8A-7CD6-791356FB9282}"/>
              </a:ext>
            </a:extLst>
          </p:cNvPr>
          <p:cNvSpPr txBox="1"/>
          <p:nvPr/>
        </p:nvSpPr>
        <p:spPr>
          <a:xfrm>
            <a:off x="10858500" y="3048000"/>
            <a:ext cx="3683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model achieved a strong fit on the untouched test year.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AC7CB-19EE-2077-4B22-D95CB7DF8742}"/>
              </a:ext>
            </a:extLst>
          </p:cNvPr>
          <p:cNvSpPr txBox="1"/>
          <p:nvPr/>
        </p:nvSpPr>
        <p:spPr>
          <a:xfrm>
            <a:off x="1270000" y="5969000"/>
            <a:ext cx="5080000" cy="446276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300" b="1">
                <a:solidFill>
                  <a:srgbClr val="143148"/>
                </a:solidFill>
              </a:rPr>
              <a:t>Predicted vs Actual</a:t>
            </a:r>
            <a:endParaRPr lang="en-JO" sz="2300" b="1">
              <a:solidFill>
                <a:srgbClr val="143148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77EA79-7764-B6CB-7E30-278575138368}"/>
              </a:ext>
            </a:extLst>
          </p:cNvPr>
          <p:cNvSpPr/>
          <p:nvPr/>
        </p:nvSpPr>
        <p:spPr>
          <a:xfrm>
            <a:off x="9652056" y="728527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89E909-812F-E0EF-7066-ED99276F1582}"/>
              </a:ext>
            </a:extLst>
          </p:cNvPr>
          <p:cNvSpPr/>
          <p:nvPr/>
        </p:nvSpPr>
        <p:spPr>
          <a:xfrm>
            <a:off x="3944348" y="758776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E0ACDF-F588-D765-58A5-0B8DA53D327A}"/>
              </a:ext>
            </a:extLst>
          </p:cNvPr>
          <p:cNvSpPr/>
          <p:nvPr/>
        </p:nvSpPr>
        <p:spPr>
          <a:xfrm>
            <a:off x="4143090" y="735684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15BB4F-2953-03F4-20D9-FAA2C732A9F5}"/>
              </a:ext>
            </a:extLst>
          </p:cNvPr>
          <p:cNvSpPr/>
          <p:nvPr/>
        </p:nvSpPr>
        <p:spPr>
          <a:xfrm>
            <a:off x="1986235" y="759098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CB56052-D0E0-DDD4-695D-45C100ADB34E}"/>
              </a:ext>
            </a:extLst>
          </p:cNvPr>
          <p:cNvSpPr/>
          <p:nvPr/>
        </p:nvSpPr>
        <p:spPr>
          <a:xfrm>
            <a:off x="3643299" y="822184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330EA4-8FE6-97CB-941B-2EC8935E4EDB}"/>
              </a:ext>
            </a:extLst>
          </p:cNvPr>
          <p:cNvSpPr/>
          <p:nvPr/>
        </p:nvSpPr>
        <p:spPr>
          <a:xfrm>
            <a:off x="7579223" y="804085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11ECE1-9CB3-C0B1-1FA7-A1327CCA4EFD}"/>
              </a:ext>
            </a:extLst>
          </p:cNvPr>
          <p:cNvSpPr/>
          <p:nvPr/>
        </p:nvSpPr>
        <p:spPr>
          <a:xfrm>
            <a:off x="11069134" y="734100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C79306-42A5-1D94-8931-C87C6EB39040}"/>
              </a:ext>
            </a:extLst>
          </p:cNvPr>
          <p:cNvSpPr/>
          <p:nvPr/>
        </p:nvSpPr>
        <p:spPr>
          <a:xfrm>
            <a:off x="7109236" y="6927721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B21D6F-87A0-37B6-A603-3F4FB686CBE0}"/>
              </a:ext>
            </a:extLst>
          </p:cNvPr>
          <p:cNvSpPr/>
          <p:nvPr/>
        </p:nvSpPr>
        <p:spPr>
          <a:xfrm>
            <a:off x="8049784" y="747147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6F6BD1-E294-7275-B559-0F427C120111}"/>
              </a:ext>
            </a:extLst>
          </p:cNvPr>
          <p:cNvSpPr/>
          <p:nvPr/>
        </p:nvSpPr>
        <p:spPr>
          <a:xfrm>
            <a:off x="11403870" y="698374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ECA552D-51E6-6E98-BFFE-54DE62C9BA6D}"/>
              </a:ext>
            </a:extLst>
          </p:cNvPr>
          <p:cNvSpPr/>
          <p:nvPr/>
        </p:nvSpPr>
        <p:spPr>
          <a:xfrm>
            <a:off x="11023481" y="781846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C752284-B00B-261D-6739-61D5B71CFA05}"/>
              </a:ext>
            </a:extLst>
          </p:cNvPr>
          <p:cNvSpPr/>
          <p:nvPr/>
        </p:nvSpPr>
        <p:spPr>
          <a:xfrm>
            <a:off x="5101062" y="704090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33EC1B-1F66-5E62-24F1-CBADC7EC30CB}"/>
              </a:ext>
            </a:extLst>
          </p:cNvPr>
          <p:cNvSpPr/>
          <p:nvPr/>
        </p:nvSpPr>
        <p:spPr>
          <a:xfrm>
            <a:off x="6461536" y="715674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4D94DA-29DD-27D8-30F2-409690BDFD5C}"/>
              </a:ext>
            </a:extLst>
          </p:cNvPr>
          <p:cNvSpPr/>
          <p:nvPr/>
        </p:nvSpPr>
        <p:spPr>
          <a:xfrm>
            <a:off x="11746514" y="700982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6792FA7-1CCD-67FC-7FE4-52F4BADFB6F5}"/>
              </a:ext>
            </a:extLst>
          </p:cNvPr>
          <p:cNvSpPr/>
          <p:nvPr/>
        </p:nvSpPr>
        <p:spPr>
          <a:xfrm>
            <a:off x="1821148" y="736474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C21EEC-D360-C909-E7C4-DE32ECA68287}"/>
              </a:ext>
            </a:extLst>
          </p:cNvPr>
          <p:cNvSpPr/>
          <p:nvPr/>
        </p:nvSpPr>
        <p:spPr>
          <a:xfrm>
            <a:off x="7157866" y="831829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36D8A9-F84F-3455-5825-3D32E17B48DD}"/>
              </a:ext>
            </a:extLst>
          </p:cNvPr>
          <p:cNvSpPr/>
          <p:nvPr/>
        </p:nvSpPr>
        <p:spPr>
          <a:xfrm>
            <a:off x="7060940" y="746550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879B80F-1548-DF63-6E71-B722BEE3A940}"/>
              </a:ext>
            </a:extLst>
          </p:cNvPr>
          <p:cNvSpPr/>
          <p:nvPr/>
        </p:nvSpPr>
        <p:spPr>
          <a:xfrm>
            <a:off x="10239615" y="815859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F6B4FB6-E9A6-A19F-930C-5129A8F30CEF}"/>
              </a:ext>
            </a:extLst>
          </p:cNvPr>
          <p:cNvSpPr/>
          <p:nvPr/>
        </p:nvSpPr>
        <p:spPr>
          <a:xfrm>
            <a:off x="8441263" y="798634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38CBAB6-3092-9D0D-2038-79A6EE4A4B48}"/>
              </a:ext>
            </a:extLst>
          </p:cNvPr>
          <p:cNvSpPr/>
          <p:nvPr/>
        </p:nvSpPr>
        <p:spPr>
          <a:xfrm>
            <a:off x="11777787" y="735552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386A52-1D1A-B880-68C3-23EC9D072F90}"/>
              </a:ext>
            </a:extLst>
          </p:cNvPr>
          <p:cNvSpPr/>
          <p:nvPr/>
        </p:nvSpPr>
        <p:spPr>
          <a:xfrm>
            <a:off x="6618239" y="747631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E9CCC08-157E-7F37-D9EE-2D4A81C40A7F}"/>
              </a:ext>
            </a:extLst>
          </p:cNvPr>
          <p:cNvSpPr/>
          <p:nvPr/>
        </p:nvSpPr>
        <p:spPr>
          <a:xfrm>
            <a:off x="8676364" y="7090177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8204D6C-F24F-4BA2-8346-44BA666F52FA}"/>
              </a:ext>
            </a:extLst>
          </p:cNvPr>
          <p:cNvSpPr/>
          <p:nvPr/>
        </p:nvSpPr>
        <p:spPr>
          <a:xfrm>
            <a:off x="5874560" y="769128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EEFCDD0-0EEA-EECC-6EB6-613684F1674D}"/>
              </a:ext>
            </a:extLst>
          </p:cNvPr>
          <p:cNvSpPr/>
          <p:nvPr/>
        </p:nvSpPr>
        <p:spPr>
          <a:xfrm>
            <a:off x="9904448" y="768754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A815909-DF9D-8EC7-BB40-8F1652D522A1}"/>
              </a:ext>
            </a:extLst>
          </p:cNvPr>
          <p:cNvSpPr/>
          <p:nvPr/>
        </p:nvSpPr>
        <p:spPr>
          <a:xfrm>
            <a:off x="5922035" y="7634971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1DADEA6-9750-4AC6-47E5-D5D6464569EB}"/>
              </a:ext>
            </a:extLst>
          </p:cNvPr>
          <p:cNvSpPr/>
          <p:nvPr/>
        </p:nvSpPr>
        <p:spPr>
          <a:xfrm>
            <a:off x="3867189" y="781677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3FCA604-6A3B-77B8-D5C9-CE4BB0ADA129}"/>
              </a:ext>
            </a:extLst>
          </p:cNvPr>
          <p:cNvSpPr/>
          <p:nvPr/>
        </p:nvSpPr>
        <p:spPr>
          <a:xfrm>
            <a:off x="6562885" y="791853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88E98C6-A799-86B7-438B-E6D6A81E7397}"/>
              </a:ext>
            </a:extLst>
          </p:cNvPr>
          <p:cNvSpPr/>
          <p:nvPr/>
        </p:nvSpPr>
        <p:spPr>
          <a:xfrm>
            <a:off x="10644455" y="7406221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7437B2-16E7-3B30-32C3-DB40AF2CA668}"/>
              </a:ext>
            </a:extLst>
          </p:cNvPr>
          <p:cNvSpPr/>
          <p:nvPr/>
        </p:nvSpPr>
        <p:spPr>
          <a:xfrm>
            <a:off x="4635793" y="727802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94D1DC-81C4-23B2-9F23-DAB293053BA5}"/>
              </a:ext>
            </a:extLst>
          </p:cNvPr>
          <p:cNvSpPr/>
          <p:nvPr/>
        </p:nvSpPr>
        <p:spPr>
          <a:xfrm>
            <a:off x="3070252" y="766923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9613C2A-7EFA-F734-1BB9-DC171F5E6E19}"/>
              </a:ext>
            </a:extLst>
          </p:cNvPr>
          <p:cNvSpPr/>
          <p:nvPr/>
        </p:nvSpPr>
        <p:spPr>
          <a:xfrm>
            <a:off x="3820694" y="775955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B88B383-B27C-A672-488E-0DD61C116CEF}"/>
              </a:ext>
            </a:extLst>
          </p:cNvPr>
          <p:cNvSpPr/>
          <p:nvPr/>
        </p:nvSpPr>
        <p:spPr>
          <a:xfrm>
            <a:off x="5262900" y="824073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295E2F-0B31-12D1-E071-7072993D61C7}"/>
              </a:ext>
            </a:extLst>
          </p:cNvPr>
          <p:cNvSpPr/>
          <p:nvPr/>
        </p:nvSpPr>
        <p:spPr>
          <a:xfrm>
            <a:off x="6441332" y="710923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5AB3542-018C-B408-389B-1B4D3467F865}"/>
              </a:ext>
            </a:extLst>
          </p:cNvPr>
          <p:cNvSpPr/>
          <p:nvPr/>
        </p:nvSpPr>
        <p:spPr>
          <a:xfrm>
            <a:off x="8560949" y="802848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56BE52-42B4-1E01-0333-7822BA295BB9}"/>
              </a:ext>
            </a:extLst>
          </p:cNvPr>
          <p:cNvSpPr/>
          <p:nvPr/>
        </p:nvSpPr>
        <p:spPr>
          <a:xfrm>
            <a:off x="7839549" y="8085811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8104FFD-A74E-7F07-3947-35926F6792CC}"/>
              </a:ext>
            </a:extLst>
          </p:cNvPr>
          <p:cNvSpPr/>
          <p:nvPr/>
        </p:nvSpPr>
        <p:spPr>
          <a:xfrm>
            <a:off x="3187857" y="812814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06E6BE2-CA05-A1ED-8A54-288A3623B886}"/>
              </a:ext>
            </a:extLst>
          </p:cNvPr>
          <p:cNvSpPr/>
          <p:nvPr/>
        </p:nvSpPr>
        <p:spPr>
          <a:xfrm>
            <a:off x="3608334" y="837411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6720D-9E38-B9FE-2F09-BB3874790036}"/>
              </a:ext>
            </a:extLst>
          </p:cNvPr>
          <p:cNvSpPr/>
          <p:nvPr/>
        </p:nvSpPr>
        <p:spPr>
          <a:xfrm>
            <a:off x="2201410" y="689607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3314DDB-F305-3972-98F0-8B2E6AC87A42}"/>
              </a:ext>
            </a:extLst>
          </p:cNvPr>
          <p:cNvSpPr/>
          <p:nvPr/>
        </p:nvSpPr>
        <p:spPr>
          <a:xfrm>
            <a:off x="9683624" y="742122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16E24BE-A1BB-46E4-65F3-3F5FB321B355}"/>
              </a:ext>
            </a:extLst>
          </p:cNvPr>
          <p:cNvSpPr/>
          <p:nvPr/>
        </p:nvSpPr>
        <p:spPr>
          <a:xfrm>
            <a:off x="6292889" y="6991867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2261E1C-1359-8503-6D3B-3347AE701382}"/>
              </a:ext>
            </a:extLst>
          </p:cNvPr>
          <p:cNvSpPr/>
          <p:nvPr/>
        </p:nvSpPr>
        <p:spPr>
          <a:xfrm>
            <a:off x="2711841" y="708140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2F41F63-7157-5F5F-5303-630FBA004F36}"/>
              </a:ext>
            </a:extLst>
          </p:cNvPr>
          <p:cNvSpPr/>
          <p:nvPr/>
        </p:nvSpPr>
        <p:spPr>
          <a:xfrm>
            <a:off x="2018999" y="797466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1A18D7-BA24-15E3-D56C-4076B2717260}"/>
              </a:ext>
            </a:extLst>
          </p:cNvPr>
          <p:cNvSpPr/>
          <p:nvPr/>
        </p:nvSpPr>
        <p:spPr>
          <a:xfrm>
            <a:off x="7007201" y="772072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F041E17-E030-8FDF-3BD3-D213C37EB298}"/>
              </a:ext>
            </a:extLst>
          </p:cNvPr>
          <p:cNvSpPr/>
          <p:nvPr/>
        </p:nvSpPr>
        <p:spPr>
          <a:xfrm>
            <a:off x="3753538" y="756717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995D4EA-2940-A293-AB20-A197F925EA37}"/>
              </a:ext>
            </a:extLst>
          </p:cNvPr>
          <p:cNvSpPr/>
          <p:nvPr/>
        </p:nvSpPr>
        <p:spPr>
          <a:xfrm>
            <a:off x="9201752" y="803656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BB183A9-DB55-C361-9CDD-2FD756A15573}"/>
              </a:ext>
            </a:extLst>
          </p:cNvPr>
          <p:cNvSpPr/>
          <p:nvPr/>
        </p:nvSpPr>
        <p:spPr>
          <a:xfrm>
            <a:off x="5627816" y="828551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E5DF006-98C9-AB3C-3CCA-37BA7D28DF5F}"/>
              </a:ext>
            </a:extLst>
          </p:cNvPr>
          <p:cNvSpPr/>
          <p:nvPr/>
        </p:nvSpPr>
        <p:spPr>
          <a:xfrm>
            <a:off x="9198173" y="694071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7D9949F-9521-1AA8-1188-98B5B5662E1C}"/>
              </a:ext>
            </a:extLst>
          </p:cNvPr>
          <p:cNvSpPr/>
          <p:nvPr/>
        </p:nvSpPr>
        <p:spPr>
          <a:xfrm>
            <a:off x="8051833" y="797170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A89CFF7-1C2C-97FF-D753-0FF9986F081A}"/>
              </a:ext>
            </a:extLst>
          </p:cNvPr>
          <p:cNvSpPr/>
          <p:nvPr/>
        </p:nvSpPr>
        <p:spPr>
          <a:xfrm>
            <a:off x="1685325" y="750631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113533E-266D-48A3-8794-C2FDF4142887}"/>
              </a:ext>
            </a:extLst>
          </p:cNvPr>
          <p:cNvSpPr/>
          <p:nvPr/>
        </p:nvSpPr>
        <p:spPr>
          <a:xfrm>
            <a:off x="5659195" y="7249013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7A22FC4-A1B5-5D10-4BA8-13F51455B84D}"/>
              </a:ext>
            </a:extLst>
          </p:cNvPr>
          <p:cNvSpPr/>
          <p:nvPr/>
        </p:nvSpPr>
        <p:spPr>
          <a:xfrm>
            <a:off x="11660542" y="811957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2B7F7A3-12DB-D42F-A435-35361F435590}"/>
              </a:ext>
            </a:extLst>
          </p:cNvPr>
          <p:cNvSpPr/>
          <p:nvPr/>
        </p:nvSpPr>
        <p:spPr>
          <a:xfrm>
            <a:off x="8684788" y="748395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21A46D-B488-61A9-205C-E8394D507494}"/>
              </a:ext>
            </a:extLst>
          </p:cNvPr>
          <p:cNvSpPr/>
          <p:nvPr/>
        </p:nvSpPr>
        <p:spPr>
          <a:xfrm>
            <a:off x="9079680" y="725210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5877F98-C7DB-2F9D-2E4E-5A40344497FC}"/>
              </a:ext>
            </a:extLst>
          </p:cNvPr>
          <p:cNvSpPr/>
          <p:nvPr/>
        </p:nvSpPr>
        <p:spPr>
          <a:xfrm>
            <a:off x="5192203" y="751013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0027D67-9C89-B520-92B3-B1DCFCA4A94C}"/>
              </a:ext>
            </a:extLst>
          </p:cNvPr>
          <p:cNvSpPr/>
          <p:nvPr/>
        </p:nvSpPr>
        <p:spPr>
          <a:xfrm>
            <a:off x="11244917" y="699517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20037-7801-0BE7-068D-D05C04CA647B}"/>
              </a:ext>
            </a:extLst>
          </p:cNvPr>
          <p:cNvSpPr/>
          <p:nvPr/>
        </p:nvSpPr>
        <p:spPr>
          <a:xfrm>
            <a:off x="8168901" y="736877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0C4EC1-14DA-4676-4AD0-0463D429EEE1}"/>
              </a:ext>
            </a:extLst>
          </p:cNvPr>
          <p:cNvSpPr/>
          <p:nvPr/>
        </p:nvSpPr>
        <p:spPr>
          <a:xfrm>
            <a:off x="2598295" y="710060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5466F2C-EEAB-9DE9-2B9B-8DC9DF786945}"/>
              </a:ext>
            </a:extLst>
          </p:cNvPr>
          <p:cNvSpPr/>
          <p:nvPr/>
        </p:nvSpPr>
        <p:spPr>
          <a:xfrm>
            <a:off x="2323143" y="750898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D9BD60B-9939-2809-2558-A5AF8AE63936}"/>
              </a:ext>
            </a:extLst>
          </p:cNvPr>
          <p:cNvSpPr/>
          <p:nvPr/>
        </p:nvSpPr>
        <p:spPr>
          <a:xfrm>
            <a:off x="11392019" y="768939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B7B87A9-A3CA-D027-B608-57E695A37C95}"/>
              </a:ext>
            </a:extLst>
          </p:cNvPr>
          <p:cNvSpPr/>
          <p:nvPr/>
        </p:nvSpPr>
        <p:spPr>
          <a:xfrm>
            <a:off x="6609653" y="840086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2A5CC4-95C4-885E-CD33-24DD1FF54826}"/>
              </a:ext>
            </a:extLst>
          </p:cNvPr>
          <p:cNvSpPr/>
          <p:nvPr/>
        </p:nvSpPr>
        <p:spPr>
          <a:xfrm>
            <a:off x="3764507" y="742021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E2FF708-85F3-090F-E655-85B894F2E405}"/>
              </a:ext>
            </a:extLst>
          </p:cNvPr>
          <p:cNvSpPr/>
          <p:nvPr/>
        </p:nvSpPr>
        <p:spPr>
          <a:xfrm>
            <a:off x="5596050" y="7259262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CB40710-9B99-1359-6F3D-14A16A87564D}"/>
              </a:ext>
            </a:extLst>
          </p:cNvPr>
          <p:cNvSpPr/>
          <p:nvPr/>
        </p:nvSpPr>
        <p:spPr>
          <a:xfrm>
            <a:off x="6702179" y="7023547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6DECE1F-816F-4198-7254-F0C1E937B551}"/>
              </a:ext>
            </a:extLst>
          </p:cNvPr>
          <p:cNvSpPr/>
          <p:nvPr/>
        </p:nvSpPr>
        <p:spPr>
          <a:xfrm>
            <a:off x="6845011" y="8388317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676202E-2182-BBDF-B557-CBB55926B86E}"/>
              </a:ext>
            </a:extLst>
          </p:cNvPr>
          <p:cNvSpPr/>
          <p:nvPr/>
        </p:nvSpPr>
        <p:spPr>
          <a:xfrm>
            <a:off x="7259013" y="829559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DA47F70-2606-4A47-EE36-9CE8C9A5CFF2}"/>
              </a:ext>
            </a:extLst>
          </p:cNvPr>
          <p:cNvSpPr/>
          <p:nvPr/>
        </p:nvSpPr>
        <p:spPr>
          <a:xfrm>
            <a:off x="8285197" y="7522780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840D6F1-95E5-B709-F0DA-9E383572ACD8}"/>
              </a:ext>
            </a:extLst>
          </p:cNvPr>
          <p:cNvSpPr/>
          <p:nvPr/>
        </p:nvSpPr>
        <p:spPr>
          <a:xfrm>
            <a:off x="8652835" y="690097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BD2C3C7-4C25-FBB4-E673-592A7A2F099F}"/>
              </a:ext>
            </a:extLst>
          </p:cNvPr>
          <p:cNvSpPr/>
          <p:nvPr/>
        </p:nvSpPr>
        <p:spPr>
          <a:xfrm>
            <a:off x="9301924" y="7951049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D52BB99-A5C1-9067-15CA-7488C5721E11}"/>
              </a:ext>
            </a:extLst>
          </p:cNvPr>
          <p:cNvSpPr/>
          <p:nvPr/>
        </p:nvSpPr>
        <p:spPr>
          <a:xfrm>
            <a:off x="6637369" y="705112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E66CFD9-FC7E-6F67-0796-9449B169E278}"/>
              </a:ext>
            </a:extLst>
          </p:cNvPr>
          <p:cNvSpPr/>
          <p:nvPr/>
        </p:nvSpPr>
        <p:spPr>
          <a:xfrm>
            <a:off x="3825588" y="733296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B91BA7A-B7A9-D864-1092-E25B2565FA49}"/>
              </a:ext>
            </a:extLst>
          </p:cNvPr>
          <p:cNvSpPr/>
          <p:nvPr/>
        </p:nvSpPr>
        <p:spPr>
          <a:xfrm>
            <a:off x="9594035" y="6877484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4C7E936-DCBD-84F0-1B0B-5C235891CB19}"/>
              </a:ext>
            </a:extLst>
          </p:cNvPr>
          <p:cNvSpPr/>
          <p:nvPr/>
        </p:nvSpPr>
        <p:spPr>
          <a:xfrm>
            <a:off x="6852830" y="804435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8B40E78-EE7E-3D1C-F253-08DA00A00BCF}"/>
              </a:ext>
            </a:extLst>
          </p:cNvPr>
          <p:cNvSpPr/>
          <p:nvPr/>
        </p:nvSpPr>
        <p:spPr>
          <a:xfrm>
            <a:off x="9760491" y="733141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3D915F3-4D49-111B-5C09-69DEC56CD999}"/>
              </a:ext>
            </a:extLst>
          </p:cNvPr>
          <p:cNvSpPr/>
          <p:nvPr/>
        </p:nvSpPr>
        <p:spPr>
          <a:xfrm>
            <a:off x="11530464" y="812234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33ACA61-BABC-4DAE-67EC-04167FB2D7AD}"/>
              </a:ext>
            </a:extLst>
          </p:cNvPr>
          <p:cNvSpPr/>
          <p:nvPr/>
        </p:nvSpPr>
        <p:spPr>
          <a:xfrm>
            <a:off x="8465936" y="828886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78AC857-03B3-709B-F1F4-46B994A26920}"/>
              </a:ext>
            </a:extLst>
          </p:cNvPr>
          <p:cNvSpPr/>
          <p:nvPr/>
        </p:nvSpPr>
        <p:spPr>
          <a:xfrm>
            <a:off x="10533145" y="7482387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0B2E057-FE61-70E4-1BE2-8962490463F1}"/>
              </a:ext>
            </a:extLst>
          </p:cNvPr>
          <p:cNvSpPr/>
          <p:nvPr/>
        </p:nvSpPr>
        <p:spPr>
          <a:xfrm>
            <a:off x="2790153" y="8369815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E8FC501-1B59-2E2A-D819-07F42072B7DE}"/>
              </a:ext>
            </a:extLst>
          </p:cNvPr>
          <p:cNvSpPr/>
          <p:nvPr/>
        </p:nvSpPr>
        <p:spPr>
          <a:xfrm>
            <a:off x="9725797" y="7944066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92EFB8A-631B-007C-58A1-6E00272C1DD2}"/>
              </a:ext>
            </a:extLst>
          </p:cNvPr>
          <p:cNvSpPr/>
          <p:nvPr/>
        </p:nvSpPr>
        <p:spPr>
          <a:xfrm>
            <a:off x="5655306" y="6821408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8E03BAE-B9AB-DC98-8EE6-12C58952124F}"/>
              </a:ext>
            </a:extLst>
          </p:cNvPr>
          <p:cNvSpPr/>
          <p:nvPr/>
        </p:nvSpPr>
        <p:spPr>
          <a:xfrm>
            <a:off x="3249776" y="7065651"/>
            <a:ext cx="63500" cy="63500"/>
          </a:xfrm>
          <a:prstGeom prst="ellipse">
            <a:avLst/>
          </a:prstGeom>
          <a:solidFill>
            <a:srgbClr val="465F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A026D1F-D757-C0B4-D071-EFE7F3850AAA}"/>
              </a:ext>
            </a:extLst>
          </p:cNvPr>
          <p:cNvSpPr txBox="1"/>
          <p:nvPr/>
        </p:nvSpPr>
        <p:spPr>
          <a:xfrm>
            <a:off x="1270000" y="8890000"/>
            <a:ext cx="12700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>
                <a:solidFill>
                  <a:srgbClr val="464646"/>
                </a:solidFill>
              </a:rPr>
              <a:t>The predictions closely follow the actual values, showing strong agreement on the validation data.</a:t>
            </a:r>
            <a:endParaRPr lang="en-JO" sz="170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010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4F0FA0-6C7D-5A54-B687-21F9A82772B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F4C89-BE32-60FA-1231-808CBD1DEE9C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12 · DATA VISUALIZATION &amp; INSIGHTS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8CEE9-64FB-C576-702D-89DA206395A0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Turning the analysis into a dashboard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C6635-C9E7-8392-667C-9597DCED2C19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7662B-D06C-E9A2-7728-5844A6E3AA24}"/>
              </a:ext>
            </a:extLst>
          </p:cNvPr>
          <p:cNvSpPr txBox="1"/>
          <p:nvPr/>
        </p:nvSpPr>
        <p:spPr>
          <a:xfrm>
            <a:off x="1016000" y="1841500"/>
            <a:ext cx="11430000" cy="446276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300" b="1">
                <a:solidFill>
                  <a:srgbClr val="143148"/>
                </a:solidFill>
              </a:rPr>
              <a:t>The dashboard answers three main questions:</a:t>
            </a:r>
            <a:endParaRPr lang="en-JO" sz="2300" b="1">
              <a:solidFill>
                <a:srgbClr val="143148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3BD5CA-4CD6-6EA6-5EB2-26606653429E}"/>
              </a:ext>
            </a:extLst>
          </p:cNvPr>
          <p:cNvSpPr/>
          <p:nvPr/>
        </p:nvSpPr>
        <p:spPr>
          <a:xfrm>
            <a:off x="889000" y="2794000"/>
            <a:ext cx="4191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8A8FA-EF99-CFC4-0D17-B94581B519A9}"/>
              </a:ext>
            </a:extLst>
          </p:cNvPr>
          <p:cNvSpPr txBox="1"/>
          <p:nvPr/>
        </p:nvSpPr>
        <p:spPr>
          <a:xfrm>
            <a:off x="1206500" y="3048000"/>
            <a:ext cx="3556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WHERE?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DA341-FE1D-B22D-E0B9-433C769C7FD2}"/>
              </a:ext>
            </a:extLst>
          </p:cNvPr>
          <p:cNvSpPr txBox="1"/>
          <p:nvPr/>
        </p:nvSpPr>
        <p:spPr>
          <a:xfrm>
            <a:off x="1206500" y="3746500"/>
            <a:ext cx="3556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Where is solar potential strongest across Jordan?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40B67D-CD05-CD5B-EAAD-CF6A855A9578}"/>
              </a:ext>
            </a:extLst>
          </p:cNvPr>
          <p:cNvSpPr/>
          <p:nvPr/>
        </p:nvSpPr>
        <p:spPr>
          <a:xfrm>
            <a:off x="5715000" y="2794000"/>
            <a:ext cx="4191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19CDCB-1FCE-6212-C029-9AD2E3107412}"/>
              </a:ext>
            </a:extLst>
          </p:cNvPr>
          <p:cNvSpPr txBox="1"/>
          <p:nvPr/>
        </p:nvSpPr>
        <p:spPr>
          <a:xfrm>
            <a:off x="6032500" y="3048000"/>
            <a:ext cx="3556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WHEN?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B5797-2547-A3F4-9995-BB2D8ED65692}"/>
              </a:ext>
            </a:extLst>
          </p:cNvPr>
          <p:cNvSpPr txBox="1"/>
          <p:nvPr/>
        </p:nvSpPr>
        <p:spPr>
          <a:xfrm>
            <a:off x="6032500" y="3746500"/>
            <a:ext cx="3556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How does solar potential change month by month with weather?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32C3B2-2851-08AD-060B-1C3F25AC66FE}"/>
              </a:ext>
            </a:extLst>
          </p:cNvPr>
          <p:cNvSpPr/>
          <p:nvPr/>
        </p:nvSpPr>
        <p:spPr>
          <a:xfrm>
            <a:off x="10541000" y="2794000"/>
            <a:ext cx="4191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6112D-2E22-EB67-091C-BCD0B45D3BD6}"/>
              </a:ext>
            </a:extLst>
          </p:cNvPr>
          <p:cNvSpPr txBox="1"/>
          <p:nvPr/>
        </p:nvSpPr>
        <p:spPr>
          <a:xfrm>
            <a:off x="10858500" y="3048000"/>
            <a:ext cx="3556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WHICH?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527844-7A89-4A14-A1A1-33DF7BED03D0}"/>
              </a:ext>
            </a:extLst>
          </p:cNvPr>
          <p:cNvSpPr txBox="1"/>
          <p:nvPr/>
        </p:nvSpPr>
        <p:spPr>
          <a:xfrm>
            <a:off x="10858500" y="3746500"/>
            <a:ext cx="3556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Which districts perform best when compared side by side?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4E771-BA94-DD13-DDA7-46DFA1AFB188}"/>
              </a:ext>
            </a:extLst>
          </p:cNvPr>
          <p:cNvSpPr txBox="1"/>
          <p:nvPr/>
        </p:nvSpPr>
        <p:spPr>
          <a:xfrm>
            <a:off x="1270000" y="6858000"/>
            <a:ext cx="13335000" cy="4001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000" b="1">
                <a:solidFill>
                  <a:srgbClr val="143148"/>
                </a:solidFill>
              </a:rPr>
              <a:t>Main dashboard features: KPIs, maps, rankings, monthly trends, filters and district comparison tables.</a:t>
            </a:r>
            <a:endParaRPr lang="en-JO" sz="20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92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9BBFA4-5DC4-4BFD-1EEA-E559DD593CE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4857-5567-2E57-AAB7-98475D6BC753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14 · DASHBOARD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DDCA0-0E2F-6F0F-F239-64DBBB5E1D03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Solar Resource Overview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52703-E52B-920A-0C93-A68397B28CF0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8921B6-1F94-03C3-3053-C2C9CFA92929}"/>
              </a:ext>
            </a:extLst>
          </p:cNvPr>
          <p:cNvSpPr/>
          <p:nvPr/>
        </p:nvSpPr>
        <p:spPr>
          <a:xfrm>
            <a:off x="889000" y="1968500"/>
            <a:ext cx="8763000" cy="546100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BE3BAA-F4D4-8F56-6AB3-C4068B9F8DE6}"/>
              </a:ext>
            </a:extLst>
          </p:cNvPr>
          <p:cNvSpPr/>
          <p:nvPr/>
        </p:nvSpPr>
        <p:spPr>
          <a:xfrm>
            <a:off x="1143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D6D40D-3CEF-4D64-E73F-55B5C17CE806}"/>
              </a:ext>
            </a:extLst>
          </p:cNvPr>
          <p:cNvSpPr/>
          <p:nvPr/>
        </p:nvSpPr>
        <p:spPr>
          <a:xfrm>
            <a:off x="3175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8D570B-753B-803A-E395-FEA1201545FE}"/>
              </a:ext>
            </a:extLst>
          </p:cNvPr>
          <p:cNvSpPr/>
          <p:nvPr/>
        </p:nvSpPr>
        <p:spPr>
          <a:xfrm>
            <a:off x="5207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81401B-4FCC-287B-4266-4D47EF98C82B}"/>
              </a:ext>
            </a:extLst>
          </p:cNvPr>
          <p:cNvSpPr/>
          <p:nvPr/>
        </p:nvSpPr>
        <p:spPr>
          <a:xfrm>
            <a:off x="7239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91607D-36AB-7B72-1BB5-89595F50EA4E}"/>
              </a:ext>
            </a:extLst>
          </p:cNvPr>
          <p:cNvSpPr/>
          <p:nvPr/>
        </p:nvSpPr>
        <p:spPr>
          <a:xfrm>
            <a:off x="1143000" y="3302000"/>
            <a:ext cx="4064000" cy="2286000"/>
          </a:xfrm>
          <a:prstGeom prst="roundRect">
            <a:avLst/>
          </a:prstGeom>
          <a:solidFill>
            <a:srgbClr val="EBF1E8"/>
          </a:solidFill>
          <a:ln>
            <a:solidFill>
              <a:srgbClr val="D2D7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ACE85BD-2102-7776-1EEE-CA42E7898C49}"/>
              </a:ext>
            </a:extLst>
          </p:cNvPr>
          <p:cNvSpPr/>
          <p:nvPr/>
        </p:nvSpPr>
        <p:spPr>
          <a:xfrm>
            <a:off x="5461000" y="3302000"/>
            <a:ext cx="3937000" cy="228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653F29F-BD58-54BE-01C7-3837A12B1970}"/>
              </a:ext>
            </a:extLst>
          </p:cNvPr>
          <p:cNvSpPr/>
          <p:nvPr/>
        </p:nvSpPr>
        <p:spPr>
          <a:xfrm>
            <a:off x="1143000" y="5842000"/>
            <a:ext cx="8255000" cy="120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E2A20-09BF-430C-9E9F-EF32F77E9204}"/>
              </a:ext>
            </a:extLst>
          </p:cNvPr>
          <p:cNvSpPr txBox="1"/>
          <p:nvPr/>
        </p:nvSpPr>
        <p:spPr>
          <a:xfrm>
            <a:off x="1206500" y="2095500"/>
            <a:ext cx="5080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 b="1">
                <a:solidFill>
                  <a:srgbClr val="143148"/>
                </a:solidFill>
              </a:rPr>
              <a:t>SOLAR RESOURCE DASHBOARD</a:t>
            </a:r>
            <a:endParaRPr lang="en-JO" sz="1100" b="1">
              <a:solidFill>
                <a:srgbClr val="143148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4F252-6A7F-DE46-E2AC-921C8F62232A}"/>
              </a:ext>
            </a:extLst>
          </p:cNvPr>
          <p:cNvSpPr txBox="1"/>
          <p:nvPr/>
        </p:nvSpPr>
        <p:spPr>
          <a:xfrm>
            <a:off x="10160000" y="2286000"/>
            <a:ext cx="4699000" cy="33855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Shows solar potential across Jordan.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756F0-1FB3-AB3E-ACF7-A45DE038A6D5}"/>
              </a:ext>
            </a:extLst>
          </p:cNvPr>
          <p:cNvSpPr txBox="1"/>
          <p:nvPr/>
        </p:nvSpPr>
        <p:spPr>
          <a:xfrm>
            <a:off x="10160000" y="3429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Provides annualized yield and solar irradiance indicators.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CEE9E0-4E55-D522-185E-4684C5635EF3}"/>
              </a:ext>
            </a:extLst>
          </p:cNvPr>
          <p:cNvSpPr txBox="1"/>
          <p:nvPr/>
        </p:nvSpPr>
        <p:spPr>
          <a:xfrm>
            <a:off x="10160000" y="4572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The map provides geographic context for the available solar resource.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D48A74-650C-B517-B22B-8E0A8283A00B}"/>
              </a:ext>
            </a:extLst>
          </p:cNvPr>
          <p:cNvSpPr txBox="1"/>
          <p:nvPr/>
        </p:nvSpPr>
        <p:spPr>
          <a:xfrm>
            <a:off x="10160000" y="5715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The district ranking allows locations to be compared by annualized yield.</a:t>
            </a:r>
            <a:endParaRPr lang="en-JO" sz="16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611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6FD91D-7423-96F2-68D0-63642FAC0B5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3102B-4B56-A4F1-04BC-366A3962C778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15 · DASHBOARD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1DA91-585E-B2A6-5534-5329F3C21EAB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Seasonal &amp; Weather Analysis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8C4FB-BC3B-9BC8-F2F9-9DEC2805E892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B8F372-CF6E-52DB-8F2D-AC9337BF3F83}"/>
              </a:ext>
            </a:extLst>
          </p:cNvPr>
          <p:cNvSpPr/>
          <p:nvPr/>
        </p:nvSpPr>
        <p:spPr>
          <a:xfrm>
            <a:off x="889000" y="1968500"/>
            <a:ext cx="8763000" cy="546100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8FBE8D-D86C-DD30-1CF1-A84F76F10C35}"/>
              </a:ext>
            </a:extLst>
          </p:cNvPr>
          <p:cNvSpPr/>
          <p:nvPr/>
        </p:nvSpPr>
        <p:spPr>
          <a:xfrm>
            <a:off x="1143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95708D-8654-32B0-1868-60122EF18B3A}"/>
              </a:ext>
            </a:extLst>
          </p:cNvPr>
          <p:cNvSpPr/>
          <p:nvPr/>
        </p:nvSpPr>
        <p:spPr>
          <a:xfrm>
            <a:off x="3175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84AF41-722C-DDD3-02BB-4E68EB70E350}"/>
              </a:ext>
            </a:extLst>
          </p:cNvPr>
          <p:cNvSpPr/>
          <p:nvPr/>
        </p:nvSpPr>
        <p:spPr>
          <a:xfrm>
            <a:off x="5207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10DA71-6993-8A0C-E436-4BB800C2A905}"/>
              </a:ext>
            </a:extLst>
          </p:cNvPr>
          <p:cNvSpPr/>
          <p:nvPr/>
        </p:nvSpPr>
        <p:spPr>
          <a:xfrm>
            <a:off x="7239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C38F8C-D6B7-39AC-380C-D98BF92ACC50}"/>
              </a:ext>
            </a:extLst>
          </p:cNvPr>
          <p:cNvSpPr/>
          <p:nvPr/>
        </p:nvSpPr>
        <p:spPr>
          <a:xfrm>
            <a:off x="1143000" y="3302000"/>
            <a:ext cx="4064000" cy="2286000"/>
          </a:xfrm>
          <a:prstGeom prst="roundRect">
            <a:avLst/>
          </a:prstGeom>
          <a:solidFill>
            <a:srgbClr val="EBF1E8"/>
          </a:solidFill>
          <a:ln>
            <a:solidFill>
              <a:srgbClr val="D2D7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956399-B95A-EF24-CBC9-76361D7D2BC5}"/>
              </a:ext>
            </a:extLst>
          </p:cNvPr>
          <p:cNvSpPr/>
          <p:nvPr/>
        </p:nvSpPr>
        <p:spPr>
          <a:xfrm>
            <a:off x="5461000" y="3302000"/>
            <a:ext cx="3937000" cy="228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28E319-59DC-6341-705B-3BE068FD3BD6}"/>
              </a:ext>
            </a:extLst>
          </p:cNvPr>
          <p:cNvSpPr/>
          <p:nvPr/>
        </p:nvSpPr>
        <p:spPr>
          <a:xfrm>
            <a:off x="1143000" y="5842000"/>
            <a:ext cx="8255000" cy="120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B3449-6B72-135E-2F72-74DC18349A79}"/>
              </a:ext>
            </a:extLst>
          </p:cNvPr>
          <p:cNvSpPr txBox="1"/>
          <p:nvPr/>
        </p:nvSpPr>
        <p:spPr>
          <a:xfrm>
            <a:off x="1206500" y="2095500"/>
            <a:ext cx="5080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 b="1">
                <a:solidFill>
                  <a:srgbClr val="143148"/>
                </a:solidFill>
              </a:rPr>
              <a:t>SOLAR RESOURCE DASHBOARD</a:t>
            </a:r>
            <a:endParaRPr lang="en-JO" sz="1100" b="1">
              <a:solidFill>
                <a:srgbClr val="143148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8DFC7-A914-B229-DC64-C04DC74D84C3}"/>
              </a:ext>
            </a:extLst>
          </p:cNvPr>
          <p:cNvSpPr txBox="1"/>
          <p:nvPr/>
        </p:nvSpPr>
        <p:spPr>
          <a:xfrm>
            <a:off x="10160000" y="2286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Monthly specific yield shows how solar production changes through the year.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9D6365-84D2-DC39-DEA4-6AB456EDEA01}"/>
              </a:ext>
            </a:extLst>
          </p:cNvPr>
          <p:cNvSpPr txBox="1"/>
          <p:nvPr/>
        </p:nvSpPr>
        <p:spPr>
          <a:xfrm>
            <a:off x="10160000" y="3429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Solar irradiance follows a similar seasonal pattern.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84F89-5135-310C-BBA1-03469F11203F}"/>
              </a:ext>
            </a:extLst>
          </p:cNvPr>
          <p:cNvSpPr txBox="1"/>
          <p:nvPr/>
        </p:nvSpPr>
        <p:spPr>
          <a:xfrm>
            <a:off x="10160000" y="4572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Cloud cover and temperature provide additional weather context.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E6EA3-9D8D-A944-EF56-F36E2A95306D}"/>
              </a:ext>
            </a:extLst>
          </p:cNvPr>
          <p:cNvSpPr txBox="1"/>
          <p:nvPr/>
        </p:nvSpPr>
        <p:spPr>
          <a:xfrm>
            <a:off x="10160000" y="5715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Year and district filters allow the dashboard view to change interactively.</a:t>
            </a:r>
            <a:endParaRPr lang="en-JO" sz="16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03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4F0797-B043-294B-728A-87DA62961BB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37EFC-7284-F2C7-070D-236A78DFF717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16 · DASHBOARD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B19AE-E95A-F832-2A57-E2A440BC92C4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District Site Comparison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B40B9-4778-DD9A-6A62-36DB836CEC19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609E7C-1CA3-3549-EEAD-FFDD7F16A046}"/>
              </a:ext>
            </a:extLst>
          </p:cNvPr>
          <p:cNvSpPr/>
          <p:nvPr/>
        </p:nvSpPr>
        <p:spPr>
          <a:xfrm>
            <a:off x="889000" y="1968500"/>
            <a:ext cx="8763000" cy="546100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34726A-3BDB-78EA-EEE6-73425F4BE626}"/>
              </a:ext>
            </a:extLst>
          </p:cNvPr>
          <p:cNvSpPr/>
          <p:nvPr/>
        </p:nvSpPr>
        <p:spPr>
          <a:xfrm>
            <a:off x="1143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4EC232D-A901-87BF-0D46-45D8672DA127}"/>
              </a:ext>
            </a:extLst>
          </p:cNvPr>
          <p:cNvSpPr/>
          <p:nvPr/>
        </p:nvSpPr>
        <p:spPr>
          <a:xfrm>
            <a:off x="3175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C8959D-B76E-6243-AC15-1A730D856BE5}"/>
              </a:ext>
            </a:extLst>
          </p:cNvPr>
          <p:cNvSpPr/>
          <p:nvPr/>
        </p:nvSpPr>
        <p:spPr>
          <a:xfrm>
            <a:off x="5207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1CA395-01CD-8196-4CD6-8D13E05AAA5E}"/>
              </a:ext>
            </a:extLst>
          </p:cNvPr>
          <p:cNvSpPr/>
          <p:nvPr/>
        </p:nvSpPr>
        <p:spPr>
          <a:xfrm>
            <a:off x="7239000" y="2222500"/>
            <a:ext cx="1778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AEB294-BC4F-0F1C-3380-0D710E5CFFC6}"/>
              </a:ext>
            </a:extLst>
          </p:cNvPr>
          <p:cNvSpPr/>
          <p:nvPr/>
        </p:nvSpPr>
        <p:spPr>
          <a:xfrm>
            <a:off x="1143000" y="3302000"/>
            <a:ext cx="4064000" cy="2286000"/>
          </a:xfrm>
          <a:prstGeom prst="roundRect">
            <a:avLst/>
          </a:prstGeom>
          <a:solidFill>
            <a:srgbClr val="EBF1E8"/>
          </a:solidFill>
          <a:ln>
            <a:solidFill>
              <a:srgbClr val="D2D7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A20852-90B6-4DCE-CCC2-78F0E5D61363}"/>
              </a:ext>
            </a:extLst>
          </p:cNvPr>
          <p:cNvSpPr/>
          <p:nvPr/>
        </p:nvSpPr>
        <p:spPr>
          <a:xfrm>
            <a:off x="5461000" y="3302000"/>
            <a:ext cx="3937000" cy="228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D8081D1-02C1-D4C0-80BA-0E39EB38B71D}"/>
              </a:ext>
            </a:extLst>
          </p:cNvPr>
          <p:cNvSpPr/>
          <p:nvPr/>
        </p:nvSpPr>
        <p:spPr>
          <a:xfrm>
            <a:off x="1143000" y="5842000"/>
            <a:ext cx="8255000" cy="120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BEAD8-A994-3AAD-68A4-C91A36F0189F}"/>
              </a:ext>
            </a:extLst>
          </p:cNvPr>
          <p:cNvSpPr txBox="1"/>
          <p:nvPr/>
        </p:nvSpPr>
        <p:spPr>
          <a:xfrm>
            <a:off x="1206500" y="2095500"/>
            <a:ext cx="5080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 b="1">
                <a:solidFill>
                  <a:srgbClr val="143148"/>
                </a:solidFill>
              </a:rPr>
              <a:t>SOLAR RESOURCE DASHBOARD</a:t>
            </a:r>
            <a:endParaRPr lang="en-JO" sz="1100" b="1">
              <a:solidFill>
                <a:srgbClr val="143148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8550E-4835-05AD-5A0D-E9630641BBF7}"/>
              </a:ext>
            </a:extLst>
          </p:cNvPr>
          <p:cNvSpPr txBox="1"/>
          <p:nvPr/>
        </p:nvSpPr>
        <p:spPr>
          <a:xfrm>
            <a:off x="10160000" y="2286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Districts can be compared side by side using the same solar and weather indicators.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BA9BE-6D84-C0E0-719E-82BAEFBF3CF0}"/>
              </a:ext>
            </a:extLst>
          </p:cNvPr>
          <p:cNvSpPr txBox="1"/>
          <p:nvPr/>
        </p:nvSpPr>
        <p:spPr>
          <a:xfrm>
            <a:off x="10160000" y="3429000"/>
            <a:ext cx="4699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The dashboard compares annualized yield, solar irradiance, cloud cover, temperature and performance ratio.</a:t>
            </a:r>
            <a:endParaRPr lang="en-JO" sz="1600">
              <a:solidFill>
                <a:srgbClr val="41414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FEADDF-4AD9-0139-4537-60E8706A62A9}"/>
              </a:ext>
            </a:extLst>
          </p:cNvPr>
          <p:cNvSpPr txBox="1"/>
          <p:nvPr/>
        </p:nvSpPr>
        <p:spPr>
          <a:xfrm>
            <a:off x="10160000" y="4572000"/>
            <a:ext cx="469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14141"/>
                </a:solidFill>
              </a:rPr>
              <a:t>•  The comparison supports the question: which districts perform best?</a:t>
            </a:r>
            <a:endParaRPr lang="en-JO" sz="160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476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9F93F-B5D3-D0B5-EB8A-18221B24503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644B4-425A-B810-9C95-71DA5A6C6F51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17 · BUSINESS QUESTIONS ANSWERED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95482-DD99-E7D6-7EE8-2344908EB1CD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What does the dashboard tell the user?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3BC26-220D-4437-44E1-3C8D5FCCC456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051CF9-6F26-5A36-8159-AF0C2054191A}"/>
              </a:ext>
            </a:extLst>
          </p:cNvPr>
          <p:cNvSpPr/>
          <p:nvPr/>
        </p:nvSpPr>
        <p:spPr>
          <a:xfrm>
            <a:off x="889000" y="2095500"/>
            <a:ext cx="4318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685EE-8C47-69D9-987F-58FDADBCC191}"/>
              </a:ext>
            </a:extLst>
          </p:cNvPr>
          <p:cNvSpPr txBox="1"/>
          <p:nvPr/>
        </p:nvSpPr>
        <p:spPr>
          <a:xfrm>
            <a:off x="1206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WHERE?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DCD3C-171A-F948-CE75-29F54A9C9C8F}"/>
              </a:ext>
            </a:extLst>
          </p:cNvPr>
          <p:cNvSpPr txBox="1"/>
          <p:nvPr/>
        </p:nvSpPr>
        <p:spPr>
          <a:xfrm>
            <a:off x="1206500" y="3048000"/>
            <a:ext cx="3683000" cy="107721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Solar Resource Overview shows where stronger solar potential exists across Jordan using geographic locations and district rankings.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2C491F-578C-09A8-BCC9-825BD9FEC7C4}"/>
              </a:ext>
            </a:extLst>
          </p:cNvPr>
          <p:cNvSpPr/>
          <p:nvPr/>
        </p:nvSpPr>
        <p:spPr>
          <a:xfrm>
            <a:off x="5715000" y="2095500"/>
            <a:ext cx="4318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C0477-5E0C-6BE2-A9FF-A54E6EDA7A9F}"/>
              </a:ext>
            </a:extLst>
          </p:cNvPr>
          <p:cNvSpPr txBox="1"/>
          <p:nvPr/>
        </p:nvSpPr>
        <p:spPr>
          <a:xfrm>
            <a:off x="6032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WHEN?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7D7EE-BDDB-116E-C006-09A903471365}"/>
              </a:ext>
            </a:extLst>
          </p:cNvPr>
          <p:cNvSpPr txBox="1"/>
          <p:nvPr/>
        </p:nvSpPr>
        <p:spPr>
          <a:xfrm>
            <a:off x="6032500" y="3048000"/>
            <a:ext cx="3683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Seasonal &amp; Weather Analysis shows how production and solar irradiance change throughout the year.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E21F07-DA38-5AF0-A382-BCE8504B74E7}"/>
              </a:ext>
            </a:extLst>
          </p:cNvPr>
          <p:cNvSpPr/>
          <p:nvPr/>
        </p:nvSpPr>
        <p:spPr>
          <a:xfrm>
            <a:off x="10541000" y="2095500"/>
            <a:ext cx="4318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2E0D2-C6C0-8CD8-DC39-2E0A45F9A742}"/>
              </a:ext>
            </a:extLst>
          </p:cNvPr>
          <p:cNvSpPr txBox="1"/>
          <p:nvPr/>
        </p:nvSpPr>
        <p:spPr>
          <a:xfrm>
            <a:off x="10858500" y="2349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WHICH?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475E6-D49C-4180-747B-4BB7755C3C5A}"/>
              </a:ext>
            </a:extLst>
          </p:cNvPr>
          <p:cNvSpPr txBox="1"/>
          <p:nvPr/>
        </p:nvSpPr>
        <p:spPr>
          <a:xfrm>
            <a:off x="10858500" y="3048000"/>
            <a:ext cx="3683000" cy="107721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District Site Comparison allows candidate districts to be compared using the same solar and weather indicators.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5208E-DE64-4AB6-76E4-FD8300249566}"/>
              </a:ext>
            </a:extLst>
          </p:cNvPr>
          <p:cNvSpPr txBox="1"/>
          <p:nvPr/>
        </p:nvSpPr>
        <p:spPr>
          <a:xfrm>
            <a:off x="1397000" y="6921500"/>
            <a:ext cx="12700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143148"/>
                </a:solidFill>
              </a:rPr>
              <a:t>Together, these views connect geographic potential, seasonal behavior and site comparison.</a:t>
            </a:r>
            <a:endParaRPr lang="en-JO" sz="21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35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84866D-4AE2-9C59-2893-E9584E67F11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11D47-3687-E590-B3D4-F5B849A8394B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18 · RESULTS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27E0E-C124-33B0-AE12-FD035E052001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A Real Household Example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D0934-0428-5C6C-3BE0-0A3DD4C1431D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CA244-8BEE-1841-3FA9-6B9C9E1658D1}"/>
              </a:ext>
            </a:extLst>
          </p:cNvPr>
          <p:cNvSpPr txBox="1"/>
          <p:nvPr/>
        </p:nvSpPr>
        <p:spPr>
          <a:xfrm>
            <a:off x="1016000" y="1778000"/>
            <a:ext cx="11430000" cy="384721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900">
                <a:solidFill>
                  <a:srgbClr val="5A5A5A"/>
                </a:solidFill>
              </a:rPr>
              <a:t>A house in Amman · 5 kWp system · 400 kWh per month</a:t>
            </a:r>
            <a:endParaRPr lang="en-JO" sz="1900">
              <a:solidFill>
                <a:srgbClr val="5A5A5A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5CB531-E2A1-75E2-D2D1-8AB9D52D77FD}"/>
              </a:ext>
            </a:extLst>
          </p:cNvPr>
          <p:cNvSpPr/>
          <p:nvPr/>
        </p:nvSpPr>
        <p:spPr>
          <a:xfrm>
            <a:off x="889000" y="2667000"/>
            <a:ext cx="3175000" cy="1905000"/>
          </a:xfrm>
          <a:prstGeom prst="roundRect">
            <a:avLst/>
          </a:prstGeom>
          <a:solidFill>
            <a:srgbClr val="FFFAEB"/>
          </a:solidFill>
          <a:ln>
            <a:solidFill>
              <a:srgbClr val="EEE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6861B-E366-5766-C08B-7683BAD79B56}"/>
              </a:ext>
            </a:extLst>
          </p:cNvPr>
          <p:cNvSpPr txBox="1"/>
          <p:nvPr/>
        </p:nvSpPr>
        <p:spPr>
          <a:xfrm>
            <a:off x="1079500" y="2921000"/>
            <a:ext cx="2794000" cy="5539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JO" sz="3000" b="1">
                <a:solidFill>
                  <a:srgbClr val="CA8F24"/>
                </a:solidFill>
              </a:rPr>
              <a:t>161%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28A8-50AF-B586-27AC-52FBC8DF2A5E}"/>
              </a:ext>
            </a:extLst>
          </p:cNvPr>
          <p:cNvSpPr txBox="1"/>
          <p:nvPr/>
        </p:nvSpPr>
        <p:spPr>
          <a:xfrm>
            <a:off x="1079500" y="3746500"/>
            <a:ext cx="2794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>
                <a:solidFill>
                  <a:srgbClr val="5A5A5A"/>
                </a:solidFill>
              </a:rPr>
              <a:t>Of yearly use covered</a:t>
            </a:r>
            <a:endParaRPr lang="en-JO" sz="1400">
              <a:solidFill>
                <a:srgbClr val="5A5A5A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790996B-C33F-C478-F25B-54B9E7EE1C0E}"/>
              </a:ext>
            </a:extLst>
          </p:cNvPr>
          <p:cNvSpPr/>
          <p:nvPr/>
        </p:nvSpPr>
        <p:spPr>
          <a:xfrm>
            <a:off x="4445000" y="2667000"/>
            <a:ext cx="3175000" cy="1905000"/>
          </a:xfrm>
          <a:prstGeom prst="roundRect">
            <a:avLst/>
          </a:prstGeom>
          <a:solidFill>
            <a:srgbClr val="FFFAEB"/>
          </a:solidFill>
          <a:ln>
            <a:solidFill>
              <a:srgbClr val="EEE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D3701-9DC5-08C1-1492-0FB8EF839E99}"/>
              </a:ext>
            </a:extLst>
          </p:cNvPr>
          <p:cNvSpPr txBox="1"/>
          <p:nvPr/>
        </p:nvSpPr>
        <p:spPr>
          <a:xfrm>
            <a:off x="4635500" y="2921000"/>
            <a:ext cx="2794000" cy="5539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000" b="1">
                <a:solidFill>
                  <a:srgbClr val="CA8F24"/>
                </a:solidFill>
              </a:rPr>
              <a:t>296 JOD</a:t>
            </a:r>
            <a:endParaRPr lang="en-JO" sz="3000" b="1">
              <a:solidFill>
                <a:srgbClr val="CA8F2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567DD-000C-8F53-DBF9-434A1D43136A}"/>
              </a:ext>
            </a:extLst>
          </p:cNvPr>
          <p:cNvSpPr txBox="1"/>
          <p:nvPr/>
        </p:nvSpPr>
        <p:spPr>
          <a:xfrm>
            <a:off x="4635500" y="3746500"/>
            <a:ext cx="2794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>
                <a:solidFill>
                  <a:srgbClr val="5A5A5A"/>
                </a:solidFill>
              </a:rPr>
              <a:t>Saved per year</a:t>
            </a:r>
            <a:endParaRPr lang="en-JO" sz="1400">
              <a:solidFill>
                <a:srgbClr val="5A5A5A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AA0CF1-9A80-807F-E353-A175B10734A4}"/>
              </a:ext>
            </a:extLst>
          </p:cNvPr>
          <p:cNvSpPr/>
          <p:nvPr/>
        </p:nvSpPr>
        <p:spPr>
          <a:xfrm>
            <a:off x="8001000" y="2667000"/>
            <a:ext cx="3175000" cy="1905000"/>
          </a:xfrm>
          <a:prstGeom prst="roundRect">
            <a:avLst/>
          </a:prstGeom>
          <a:solidFill>
            <a:srgbClr val="FFFAEB"/>
          </a:solidFill>
          <a:ln>
            <a:solidFill>
              <a:srgbClr val="EEE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65A2E5-4631-23C3-E153-02A67BAA4E7A}"/>
              </a:ext>
            </a:extLst>
          </p:cNvPr>
          <p:cNvSpPr txBox="1"/>
          <p:nvPr/>
        </p:nvSpPr>
        <p:spPr>
          <a:xfrm>
            <a:off x="8191500" y="2921000"/>
            <a:ext cx="2794000" cy="5539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000" b="1">
                <a:solidFill>
                  <a:srgbClr val="CA8F24"/>
                </a:solidFill>
              </a:rPr>
              <a:t>11 of 12</a:t>
            </a:r>
            <a:endParaRPr lang="en-JO" sz="3000" b="1">
              <a:solidFill>
                <a:srgbClr val="CA8F24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2821F-9079-EFBC-BE82-B760EC2A3E25}"/>
              </a:ext>
            </a:extLst>
          </p:cNvPr>
          <p:cNvSpPr txBox="1"/>
          <p:nvPr/>
        </p:nvSpPr>
        <p:spPr>
          <a:xfrm>
            <a:off x="8191500" y="3746500"/>
            <a:ext cx="2794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>
                <a:solidFill>
                  <a:srgbClr val="5A5A5A"/>
                </a:solidFill>
              </a:rPr>
              <a:t>Months fully covered</a:t>
            </a:r>
            <a:endParaRPr lang="en-JO" sz="1400">
              <a:solidFill>
                <a:srgbClr val="5A5A5A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7E4C7A6-9CA4-A360-2106-ACD5A84E1EA2}"/>
              </a:ext>
            </a:extLst>
          </p:cNvPr>
          <p:cNvSpPr/>
          <p:nvPr/>
        </p:nvSpPr>
        <p:spPr>
          <a:xfrm>
            <a:off x="11557000" y="2667000"/>
            <a:ext cx="3175000" cy="1905000"/>
          </a:xfrm>
          <a:prstGeom prst="roundRect">
            <a:avLst/>
          </a:prstGeom>
          <a:solidFill>
            <a:srgbClr val="FFFAEB"/>
          </a:solidFill>
          <a:ln>
            <a:solidFill>
              <a:srgbClr val="EEE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38C3F-C170-DEC5-2E53-A72B9D94877F}"/>
              </a:ext>
            </a:extLst>
          </p:cNvPr>
          <p:cNvSpPr txBox="1"/>
          <p:nvPr/>
        </p:nvSpPr>
        <p:spPr>
          <a:xfrm>
            <a:off x="11747500" y="2921000"/>
            <a:ext cx="2794000" cy="5539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JO" sz="3000" b="1">
                <a:solidFill>
                  <a:srgbClr val="CA8F24"/>
                </a:solidFill>
              </a:rPr>
              <a:t>1,556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37F41-476A-098B-78C8-4A1EE1E2DB01}"/>
              </a:ext>
            </a:extLst>
          </p:cNvPr>
          <p:cNvSpPr txBox="1"/>
          <p:nvPr/>
        </p:nvSpPr>
        <p:spPr>
          <a:xfrm>
            <a:off x="11747500" y="3746500"/>
            <a:ext cx="2794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>
                <a:solidFill>
                  <a:srgbClr val="5A5A5A"/>
                </a:solidFill>
              </a:rPr>
              <a:t>kWh per kWp per year</a:t>
            </a:r>
            <a:endParaRPr lang="en-JO" sz="1400">
              <a:solidFill>
                <a:srgbClr val="5A5A5A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688DA66-5647-D5D5-0574-31DE3D53FE30}"/>
              </a:ext>
            </a:extLst>
          </p:cNvPr>
          <p:cNvSpPr/>
          <p:nvPr/>
        </p:nvSpPr>
        <p:spPr>
          <a:xfrm>
            <a:off x="889000" y="5461000"/>
            <a:ext cx="66040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0EB9C-79F1-E2FB-0D72-32090D57B892}"/>
              </a:ext>
            </a:extLst>
          </p:cNvPr>
          <p:cNvSpPr txBox="1"/>
          <p:nvPr/>
        </p:nvSpPr>
        <p:spPr>
          <a:xfrm>
            <a:off x="1206500" y="5715000"/>
            <a:ext cx="5969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VERDICT: WORTH IT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0CBAF-E3AC-9FF4-FB4C-4BB7F9E72174}"/>
              </a:ext>
            </a:extLst>
          </p:cNvPr>
          <p:cNvSpPr txBox="1"/>
          <p:nvPr/>
        </p:nvSpPr>
        <p:spPr>
          <a:xfrm>
            <a:off x="1206500" y="6413500"/>
            <a:ext cx="5969000" cy="584775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The system generates more over the year than the household consumes and pays back the expensive part of the bill first.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207687B-A0B6-921F-98A5-D57BDC41492F}"/>
              </a:ext>
            </a:extLst>
          </p:cNvPr>
          <p:cNvSpPr/>
          <p:nvPr/>
        </p:nvSpPr>
        <p:spPr>
          <a:xfrm>
            <a:off x="8255000" y="5461000"/>
            <a:ext cx="66040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52C77A-7130-0000-6F04-164CF37CCE98}"/>
              </a:ext>
            </a:extLst>
          </p:cNvPr>
          <p:cNvSpPr txBox="1"/>
          <p:nvPr/>
        </p:nvSpPr>
        <p:spPr>
          <a:xfrm>
            <a:off x="8572500" y="5715000"/>
            <a:ext cx="5969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WHY THE TARIFF MATTERS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465CC-2C47-F26C-C454-CA06584DF26B}"/>
              </a:ext>
            </a:extLst>
          </p:cNvPr>
          <p:cNvSpPr txBox="1"/>
          <p:nvPr/>
        </p:nvSpPr>
        <p:spPr>
          <a:xfrm>
            <a:off x="8572500" y="6413500"/>
            <a:ext cx="5969000" cy="83099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JEPCO charges more per kilowatt-hour as residential consumption increases. Solar therefore has a larger saving effect for higher-use households.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885902-7D31-76B9-917F-FDCDFF1BB08B}"/>
              </a:ext>
            </a:extLst>
          </p:cNvPr>
          <p:cNvSpPr txBox="1"/>
          <p:nvPr/>
        </p:nvSpPr>
        <p:spPr>
          <a:xfrm>
            <a:off x="1143000" y="8382000"/>
            <a:ext cx="13335000" cy="35394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700" b="1">
                <a:solidFill>
                  <a:srgbClr val="143148"/>
                </a:solidFill>
              </a:rPr>
              <a:t>December reaches only 82%, showing why monthly performance matters instead of relying only on a yearly average.</a:t>
            </a:r>
            <a:endParaRPr lang="en-JO" sz="17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441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CE590-E33D-490D-4092-9BA1035AC32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A8F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C49E9-6332-7B9C-E2C0-83A74E9D9D94}"/>
              </a:ext>
            </a:extLst>
          </p:cNvPr>
          <p:cNvSpPr txBox="1"/>
          <p:nvPr/>
        </p:nvSpPr>
        <p:spPr>
          <a:xfrm>
            <a:off x="762000" y="571500"/>
            <a:ext cx="7620000" cy="30777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400" b="1">
                <a:solidFill>
                  <a:srgbClr val="CA8F24"/>
                </a:solidFill>
              </a:rPr>
              <a:t>19 · CONCLUSION</a:t>
            </a:r>
            <a:endParaRPr lang="en-JO" sz="1400" b="1">
              <a:solidFill>
                <a:srgbClr val="CA8F2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7AF50-D54E-86EA-7038-F54D5BAAF3BC}"/>
              </a:ext>
            </a:extLst>
          </p:cNvPr>
          <p:cNvSpPr txBox="1"/>
          <p:nvPr/>
        </p:nvSpPr>
        <p:spPr>
          <a:xfrm>
            <a:off x="762000" y="990600"/>
            <a:ext cx="13335000" cy="5693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3100" b="1">
                <a:solidFill>
                  <a:srgbClr val="143148"/>
                </a:solidFill>
              </a:rPr>
              <a:t>Conclusion</a:t>
            </a:r>
            <a:endParaRPr lang="en-JO" sz="3100" b="1">
              <a:solidFill>
                <a:srgbClr val="14314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42564-C278-07DC-07F9-4F8F25692CFC}"/>
              </a:ext>
            </a:extLst>
          </p:cNvPr>
          <p:cNvSpPr txBox="1"/>
          <p:nvPr/>
        </p:nvSpPr>
        <p:spPr>
          <a:xfrm>
            <a:off x="762000" y="6350000"/>
            <a:ext cx="3175000" cy="261610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100">
                <a:solidFill>
                  <a:srgbClr val="6E6E6E"/>
                </a:solidFill>
              </a:rPr>
              <a:t>SolarWise Jordan</a:t>
            </a:r>
            <a:endParaRPr lang="en-JO" sz="1100">
              <a:solidFill>
                <a:srgbClr val="6E6E6E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0CE8C1-C9EA-7DFD-3530-3A3F76DF72D1}"/>
              </a:ext>
            </a:extLst>
          </p:cNvPr>
          <p:cNvSpPr/>
          <p:nvPr/>
        </p:nvSpPr>
        <p:spPr>
          <a:xfrm>
            <a:off x="889000" y="1968500"/>
            <a:ext cx="4318000" cy="444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EC5A2-534D-5B6D-DF8C-5B3E683E6DE7}"/>
              </a:ext>
            </a:extLst>
          </p:cNvPr>
          <p:cNvSpPr txBox="1"/>
          <p:nvPr/>
        </p:nvSpPr>
        <p:spPr>
          <a:xfrm>
            <a:off x="1206500" y="2222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WHAT WE DID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253F2-AC6D-93A6-9503-49098B79B0CF}"/>
              </a:ext>
            </a:extLst>
          </p:cNvPr>
          <p:cNvSpPr txBox="1"/>
          <p:nvPr/>
        </p:nvSpPr>
        <p:spPr>
          <a:xfrm>
            <a:off x="1206500" y="2921000"/>
            <a:ext cx="3683000" cy="2062103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• 131 locations and 6 years of data
</a:t>
            </a:r>
          </a:p>
          <a:p>
            <a:r>
              <a:rPr lang="en-US" sz="1600">
                <a:solidFill>
                  <a:srgbClr val="464646"/>
                </a:solidFill>
              </a:rPr>
              <a:t>• R? 0.9829 on an untouched test year
</a:t>
            </a:r>
          </a:p>
          <a:p>
            <a:r>
              <a:rPr lang="en-US" sz="1600">
                <a:solidFill>
                  <a:srgbClr val="464646"/>
                </a:solidFill>
              </a:rPr>
              <a:t>• Tested on locations it never saw
</a:t>
            </a:r>
          </a:p>
          <a:p>
            <a:r>
              <a:rPr lang="en-US" sz="1600">
                <a:solidFill>
                  <a:srgbClr val="464646"/>
                </a:solidFill>
              </a:rPr>
              <a:t>• Produced a household and investor-oriented result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3E06C5-8AD2-48EF-76BF-BCDEBD54B7E1}"/>
              </a:ext>
            </a:extLst>
          </p:cNvPr>
          <p:cNvSpPr/>
          <p:nvPr/>
        </p:nvSpPr>
        <p:spPr>
          <a:xfrm>
            <a:off x="5715000" y="1968500"/>
            <a:ext cx="4318000" cy="444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379C3-D5E6-C4C6-365A-B10BE459EBC0}"/>
              </a:ext>
            </a:extLst>
          </p:cNvPr>
          <p:cNvSpPr txBox="1"/>
          <p:nvPr/>
        </p:nvSpPr>
        <p:spPr>
          <a:xfrm>
            <a:off x="6032500" y="2222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LIMITATIONS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387BB-7A33-69F5-2A60-960067A4516B}"/>
              </a:ext>
            </a:extLst>
          </p:cNvPr>
          <p:cNvSpPr txBox="1"/>
          <p:nvPr/>
        </p:nvSpPr>
        <p:spPr>
          <a:xfrm>
            <a:off x="6032500" y="2921000"/>
            <a:ext cx="3683000" cy="230832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• Output is modelled, not measured from real panels
</a:t>
            </a:r>
          </a:p>
          <a:p>
            <a:r>
              <a:rPr lang="en-US" sz="1600">
                <a:solidFill>
                  <a:srgbClr val="464646"/>
                </a:solidFill>
              </a:rPr>
              <a:t>• Nearby points can share similar weather data
</a:t>
            </a:r>
          </a:p>
          <a:p>
            <a:r>
              <a:rPr lang="en-US" sz="1600">
                <a:solidFill>
                  <a:srgbClr val="464646"/>
                </a:solidFill>
              </a:rPr>
              <a:t>• Winter predictions are less certain
</a:t>
            </a:r>
          </a:p>
          <a:p>
            <a:r>
              <a:rPr lang="en-US" sz="1600">
                <a:solidFill>
                  <a:srgbClr val="464646"/>
                </a:solidFill>
              </a:rPr>
              <a:t>• Selling surplus is not yet counted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83C5C0-2DCF-D034-4F40-8F8B3E5B2687}"/>
              </a:ext>
            </a:extLst>
          </p:cNvPr>
          <p:cNvSpPr/>
          <p:nvPr/>
        </p:nvSpPr>
        <p:spPr>
          <a:xfrm>
            <a:off x="10541000" y="1968500"/>
            <a:ext cx="4318000" cy="4445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8B776-2ACF-3AE0-A906-88061738E1C5}"/>
              </a:ext>
            </a:extLst>
          </p:cNvPr>
          <p:cNvSpPr txBox="1"/>
          <p:nvPr/>
        </p:nvSpPr>
        <p:spPr>
          <a:xfrm>
            <a:off x="10858500" y="2222500"/>
            <a:ext cx="3683000" cy="41549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100" b="1">
                <a:solidFill>
                  <a:srgbClr val="CA8F24"/>
                </a:solidFill>
              </a:rPr>
              <a:t>NEXT STEPS</a:t>
            </a:r>
            <a:endParaRPr lang="en-JO" sz="2100" b="1">
              <a:solidFill>
                <a:srgbClr val="CA8F2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DFE03-B184-2CF1-C0E3-7A6A023E5D46}"/>
              </a:ext>
            </a:extLst>
          </p:cNvPr>
          <p:cNvSpPr txBox="1"/>
          <p:nvPr/>
        </p:nvSpPr>
        <p:spPr>
          <a:xfrm>
            <a:off x="10858500" y="2921000"/>
            <a:ext cx="3683000" cy="230832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1600">
                <a:solidFill>
                  <a:srgbClr val="464646"/>
                </a:solidFill>
              </a:rPr>
              <a:t>• Compare against real installed systems
</a:t>
            </a:r>
          </a:p>
          <a:p>
            <a:r>
              <a:rPr lang="en-US" sz="1600">
                <a:solidFill>
                  <a:srgbClr val="464646"/>
                </a:solidFill>
              </a:rPr>
              <a:t>• Show a range instead of a single number
</a:t>
            </a:r>
          </a:p>
          <a:p>
            <a:r>
              <a:rPr lang="en-US" sz="1600">
                <a:solidFill>
                  <a:srgbClr val="464646"/>
                </a:solidFill>
              </a:rPr>
              <a:t>• Include income from selling surplus
</a:t>
            </a:r>
          </a:p>
          <a:p>
            <a:r>
              <a:rPr lang="en-US" sz="1600">
                <a:solidFill>
                  <a:srgbClr val="464646"/>
                </a:solidFill>
              </a:rPr>
              <a:t>• Test on more unseen locations</a:t>
            </a:r>
            <a:endParaRPr lang="en-JO" sz="1600">
              <a:solidFill>
                <a:srgbClr val="46464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7B30D7-5B26-966A-ADD5-F81D2D4B1602}"/>
              </a:ext>
            </a:extLst>
          </p:cNvPr>
          <p:cNvSpPr txBox="1"/>
          <p:nvPr/>
        </p:nvSpPr>
        <p:spPr>
          <a:xfrm>
            <a:off x="1270000" y="7302500"/>
            <a:ext cx="13335000" cy="430887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2200" b="1">
                <a:solidFill>
                  <a:srgbClr val="143148"/>
                </a:solidFill>
              </a:rPr>
              <a:t>SolarWise turns weather and location data into a practical answer about solar potential in Jordan.</a:t>
            </a:r>
            <a:endParaRPr lang="en-JO" sz="2200" b="1">
              <a:solidFill>
                <a:srgbClr val="14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39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1389</Words>
  <Application>Microsoft Macintosh PowerPoint</Application>
  <PresentationFormat>Widescreen</PresentationFormat>
  <Paragraphs>190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شهد احمد صبري الفراج</dc:creator>
  <cp:lastModifiedBy>شهد احمد صبري الفراج</cp:lastModifiedBy>
  <cp:revision>2</cp:revision>
  <dcterms:created xsi:type="dcterms:W3CDTF">2026-08-29T10:15:51Z</dcterms:created>
  <dcterms:modified xsi:type="dcterms:W3CDTF">2026-08-29T11:04:08Z</dcterms:modified>
</cp:coreProperties>
</file>