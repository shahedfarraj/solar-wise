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9" r:id="rId4"/>
    <p:sldId id="260" r:id="rId5"/>
    <p:sldId id="261" r:id="rId6"/>
    <p:sldId id="263" r:id="rId7"/>
    <p:sldId id="264" r:id="rId8"/>
    <p:sldId id="266" r:id="rId9"/>
    <p:sldId id="267" r:id="rId10"/>
    <p:sldId id="268" r:id="rId11"/>
    <p:sldId id="269" r:id="rId12"/>
    <p:sldId id="270" r:id="rId13"/>
    <p:sldId id="271" r:id="rId14"/>
    <p:sldId id="272" r:id="rId15"/>
    <p:sldId id="274" r:id="rId16"/>
    <p:sldId id="275" r:id="rId17"/>
    <p:sldId id="281" r:id="rId18"/>
    <p:sldId id="282" r:id="rId19"/>
    <p:sldId id="280"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81D7C8-0138-BC47-8BC6-C741D350F5A4}" v="26" dt="2026-08-29T18:36:40.4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p:restoredTop sz="94610"/>
  </p:normalViewPr>
  <p:slideViewPr>
    <p:cSldViewPr snapToGrid="0" snapToObjects="1">
      <p:cViewPr varScale="1">
        <p:scale>
          <a:sx n="122" d="100"/>
          <a:sy n="122" d="100"/>
        </p:scale>
        <p:origin x="224"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Share of variation explained (%)</c:v>
                </c:pt>
              </c:strCache>
            </c:strRef>
          </c:tx>
          <c:spPr>
            <a:solidFill>
              <a:srgbClr val="CA8F24"/>
            </a:solidFill>
            <a:effectLst/>
          </c:spPr>
          <c:invertIfNegative val="0"/>
          <c:dLbls>
            <c:numFmt formatCode="#,##0" sourceLinked="0"/>
            <c:spPr>
              <a:noFill/>
              <a:ln>
                <a:noFill/>
              </a:ln>
              <a:effectLst/>
            </c:spPr>
            <c:txPr>
              <a:bodyPr/>
              <a:lstStyle/>
              <a:p>
                <a:pPr>
                  <a:defRPr sz="1000" b="1" i="0" u="none" strike="noStrike">
                    <a:solidFill>
                      <a:srgbClr val="143148"/>
                    </a:solidFill>
                    <a:latin typeface="Arial"/>
                  </a:defRPr>
                </a:pPr>
                <a:endParaRPr lang="en-J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Which year</c:v>
                </c:pt>
                <c:pt idx="1">
                  <c:v>Location in Jordan</c:v>
                </c:pt>
                <c:pt idx="2">
                  <c:v>Month of the year</c:v>
                </c:pt>
              </c:strCache>
            </c:strRef>
          </c:cat>
          <c:val>
            <c:numRef>
              <c:f>Sheet1!$B$2:$B$4</c:f>
              <c:numCache>
                <c:formatCode>General</c:formatCode>
                <c:ptCount val="3"/>
                <c:pt idx="0">
                  <c:v>0.16</c:v>
                </c:pt>
                <c:pt idx="1">
                  <c:v>1.34</c:v>
                </c:pt>
                <c:pt idx="2">
                  <c:v>83.09</c:v>
                </c:pt>
              </c:numCache>
            </c:numRef>
          </c:val>
          <c:extLst>
            <c:ext xmlns:c16="http://schemas.microsoft.com/office/drawing/2014/chart" uri="{C3380CC4-5D6E-409C-BE32-E72D297353CC}">
              <c16:uniqueId val="{00000000-DC19-394A-96FB-18E4B7E7B8C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314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1E1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E6E6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4410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148"/>
        </a:solidFill>
        <a:effectLst/>
      </p:bgPr>
    </p:bg>
    <p:spTree>
      <p:nvGrpSpPr>
        <p:cNvPr id="1" name=""/>
        <p:cNvGrpSpPr/>
        <p:nvPr/>
      </p:nvGrpSpPr>
      <p:grpSpPr>
        <a:xfrm>
          <a:off x="0" y="0"/>
          <a:ext cx="0" cy="0"/>
          <a:chOff x="0" y="0"/>
          <a:chExt cx="0" cy="0"/>
        </a:xfrm>
      </p:grpSpPr>
      <p:sp>
        <p:nvSpPr>
          <p:cNvPr id="2" name="Shape 0"/>
          <p:cNvSpPr/>
          <p:nvPr/>
        </p:nvSpPr>
        <p:spPr>
          <a:xfrm>
            <a:off x="0" y="5806440"/>
            <a:ext cx="12191695" cy="1051560"/>
          </a:xfrm>
          <a:prstGeom prst="rect">
            <a:avLst/>
          </a:prstGeom>
          <a:solidFill>
            <a:srgbClr val="CA8F24"/>
          </a:solidFill>
          <a:ln/>
        </p:spPr>
        <p:txBody>
          <a:bodyPr/>
          <a:lstStyle/>
          <a:p>
            <a:endParaRPr lang="en-JO"/>
          </a:p>
        </p:txBody>
      </p:sp>
      <p:sp>
        <p:nvSpPr>
          <p:cNvPr id="3" name="Text 1"/>
          <p:cNvSpPr/>
          <p:nvPr/>
        </p:nvSpPr>
        <p:spPr>
          <a:xfrm>
            <a:off x="685800" y="1051560"/>
            <a:ext cx="9144000" cy="365760"/>
          </a:xfrm>
          <a:prstGeom prst="rect">
            <a:avLst/>
          </a:prstGeom>
          <a:noFill/>
          <a:ln/>
        </p:spPr>
        <p:txBody>
          <a:bodyPr wrap="square" rtlCol="0" anchor="ctr"/>
          <a:lstStyle/>
          <a:p>
            <a:pPr marL="0" indent="0">
              <a:buNone/>
            </a:pPr>
            <a:r>
              <a:rPr lang="en-US" sz="1300" b="1" kern="0" spc="150" dirty="0">
                <a:solidFill>
                  <a:srgbClr val="EEBE51"/>
                </a:solidFill>
                <a:latin typeface="Calibri" pitchFamily="34" charset="0"/>
                <a:ea typeface="Calibri" pitchFamily="34" charset="-122"/>
                <a:cs typeface="Calibri" pitchFamily="34" charset="-120"/>
              </a:rPr>
              <a:t>GRADUATION PROJECT  ·  COURSE 307498</a:t>
            </a:r>
            <a:endParaRPr lang="en-US" sz="1300" dirty="0"/>
          </a:p>
        </p:txBody>
      </p:sp>
      <p:sp>
        <p:nvSpPr>
          <p:cNvPr id="4" name="Text 2"/>
          <p:cNvSpPr/>
          <p:nvPr/>
        </p:nvSpPr>
        <p:spPr>
          <a:xfrm>
            <a:off x="658368" y="1417320"/>
            <a:ext cx="10515600" cy="100584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SolarWise Jordan</a:t>
            </a:r>
            <a:endParaRPr lang="en-US" sz="4800" dirty="0"/>
          </a:p>
        </p:txBody>
      </p:sp>
      <p:sp>
        <p:nvSpPr>
          <p:cNvPr id="5" name="Text 3"/>
          <p:cNvSpPr/>
          <p:nvPr/>
        </p:nvSpPr>
        <p:spPr>
          <a:xfrm>
            <a:off x="685800" y="2514600"/>
            <a:ext cx="10058400" cy="548640"/>
          </a:xfrm>
          <a:prstGeom prst="rect">
            <a:avLst/>
          </a:prstGeom>
          <a:noFill/>
          <a:ln/>
        </p:spPr>
        <p:txBody>
          <a:bodyPr wrap="square" rtlCol="0" anchor="ctr"/>
          <a:lstStyle/>
          <a:p>
            <a:pPr marL="0" indent="0">
              <a:buNone/>
            </a:pPr>
            <a:r>
              <a:rPr lang="en-US" sz="2200" i="1" dirty="0">
                <a:solidFill>
                  <a:srgbClr val="EEBE51"/>
                </a:solidFill>
                <a:latin typeface="Calibri" pitchFamily="34" charset="0"/>
                <a:ea typeface="Calibri" pitchFamily="34" charset="-122"/>
                <a:cs typeface="Calibri" pitchFamily="34" charset="-120"/>
              </a:rPr>
              <a:t>Is Solar Wise For Me?</a:t>
            </a:r>
            <a:endParaRPr lang="en-US" sz="2200" dirty="0"/>
          </a:p>
        </p:txBody>
      </p:sp>
      <p:sp>
        <p:nvSpPr>
          <p:cNvPr id="6" name="Text 4"/>
          <p:cNvSpPr/>
          <p:nvPr/>
        </p:nvSpPr>
        <p:spPr>
          <a:xfrm>
            <a:off x="685800" y="3108960"/>
            <a:ext cx="8961120" cy="822960"/>
          </a:xfrm>
          <a:prstGeom prst="rect">
            <a:avLst/>
          </a:prstGeom>
          <a:noFill/>
          <a:ln/>
        </p:spPr>
        <p:txBody>
          <a:bodyPr wrap="square" rtlCol="0" anchor="ctr"/>
          <a:lstStyle/>
          <a:p>
            <a:pPr marL="0" indent="0">
              <a:buNone/>
            </a:pPr>
            <a:r>
              <a:rPr lang="en-US" sz="1500" dirty="0">
                <a:solidFill>
                  <a:srgbClr val="C8D2DC"/>
                </a:solidFill>
                <a:latin typeface="Calibri" pitchFamily="34" charset="0"/>
                <a:ea typeface="Calibri" pitchFamily="34" charset="-122"/>
                <a:cs typeface="Calibri" pitchFamily="34" charset="-120"/>
              </a:rPr>
              <a:t>Predicting rooftop solar generation anywhere in Jordan from weather alone — and turning it into an answer in dinars.</a:t>
            </a:r>
            <a:endParaRPr lang="en-US" sz="1500" dirty="0"/>
          </a:p>
        </p:txBody>
      </p:sp>
      <p:sp>
        <p:nvSpPr>
          <p:cNvPr id="7" name="Text 5"/>
          <p:cNvSpPr/>
          <p:nvPr/>
        </p:nvSpPr>
        <p:spPr>
          <a:xfrm>
            <a:off x="685800" y="5989320"/>
            <a:ext cx="4572000" cy="365760"/>
          </a:xfrm>
          <a:prstGeom prst="rect">
            <a:avLst/>
          </a:prstGeom>
          <a:noFill/>
          <a:ln/>
        </p:spPr>
        <p:txBody>
          <a:bodyPr wrap="square" rtlCol="0" anchor="ctr"/>
          <a:lstStyle/>
          <a:p>
            <a:pPr marL="0" indent="0">
              <a:buNone/>
            </a:pPr>
            <a:r>
              <a:rPr lang="en-US" sz="1400" b="1" dirty="0">
                <a:solidFill>
                  <a:srgbClr val="143148"/>
                </a:solidFill>
                <a:latin typeface="Calibri" pitchFamily="34" charset="0"/>
                <a:ea typeface="Calibri" pitchFamily="34" charset="-122"/>
                <a:cs typeface="Calibri" pitchFamily="34" charset="-120"/>
              </a:rPr>
              <a:t>Shahed Farraj</a:t>
            </a:r>
            <a:endParaRPr lang="en-US" sz="1400" dirty="0"/>
          </a:p>
        </p:txBody>
      </p:sp>
      <p:sp>
        <p:nvSpPr>
          <p:cNvPr id="8" name="Text 6"/>
          <p:cNvSpPr/>
          <p:nvPr/>
        </p:nvSpPr>
        <p:spPr>
          <a:xfrm>
            <a:off x="685800" y="6327648"/>
            <a:ext cx="4572000" cy="320040"/>
          </a:xfrm>
          <a:prstGeom prst="rect">
            <a:avLst/>
          </a:prstGeom>
          <a:noFill/>
          <a:ln/>
        </p:spPr>
        <p:txBody>
          <a:bodyPr wrap="square" rtlCol="0" anchor="ctr"/>
          <a:lstStyle/>
          <a:p>
            <a:pPr marL="0" indent="0">
              <a:buNone/>
            </a:pPr>
            <a:r>
              <a:rPr lang="en-US" sz="1100" dirty="0">
                <a:solidFill>
                  <a:srgbClr val="143148"/>
                </a:solidFill>
                <a:latin typeface="Calibri" pitchFamily="34" charset="0"/>
                <a:ea typeface="Calibri" pitchFamily="34" charset="-122"/>
                <a:cs typeface="Calibri" pitchFamily="34" charset="-120"/>
              </a:rPr>
              <a:t>Graduation Project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01 · INTRODUCTION</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Why Solar, and What the Problem Is</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2</a:t>
            </a:r>
            <a:endParaRPr lang="en-US" sz="1000" dirty="0"/>
          </a:p>
        </p:txBody>
      </p:sp>
      <p:sp>
        <p:nvSpPr>
          <p:cNvPr id="7" name="Text 5"/>
          <p:cNvSpPr/>
          <p:nvPr/>
        </p:nvSpPr>
        <p:spPr>
          <a:xfrm>
            <a:off x="502920" y="1298448"/>
            <a:ext cx="10515600" cy="365760"/>
          </a:xfrm>
          <a:prstGeom prst="rect">
            <a:avLst/>
          </a:prstGeom>
          <a:noFill/>
          <a:ln/>
        </p:spPr>
        <p:txBody>
          <a:bodyPr wrap="square"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A national opportunity, and a decision people currently make blind.</a:t>
            </a:r>
            <a:endParaRPr lang="en-US" sz="1300" dirty="0"/>
          </a:p>
        </p:txBody>
      </p:sp>
      <p:sp>
        <p:nvSpPr>
          <p:cNvPr id="8" name="Shape 6"/>
          <p:cNvSpPr/>
          <p:nvPr/>
        </p:nvSpPr>
        <p:spPr>
          <a:xfrm>
            <a:off x="502920" y="1792539"/>
            <a:ext cx="5440680" cy="3749040"/>
          </a:xfrm>
          <a:prstGeom prst="roundRect">
            <a:avLst>
              <a:gd name="adj" fmla="val 1951"/>
            </a:avLst>
          </a:prstGeom>
          <a:solidFill>
            <a:srgbClr val="F5F5F5"/>
          </a:solidFill>
          <a:ln/>
        </p:spPr>
        <p:txBody>
          <a:bodyPr/>
          <a:lstStyle/>
          <a:p>
            <a:endParaRPr lang="en-JO" dirty="0">
              <a:latin typeface="+mj-lt"/>
            </a:endParaRPr>
          </a:p>
        </p:txBody>
      </p:sp>
      <p:sp>
        <p:nvSpPr>
          <p:cNvPr id="9" name="Text 7"/>
          <p:cNvSpPr/>
          <p:nvPr/>
        </p:nvSpPr>
        <p:spPr>
          <a:xfrm>
            <a:off x="777240" y="2057400"/>
            <a:ext cx="4937760" cy="320040"/>
          </a:xfrm>
          <a:prstGeom prst="rect">
            <a:avLst/>
          </a:prstGeom>
          <a:noFill/>
          <a:ln/>
        </p:spPr>
        <p:txBody>
          <a:bodyPr wrap="square" rtlCol="0" anchor="ctr"/>
          <a:lstStyle/>
          <a:p>
            <a:pPr marL="0" indent="0">
              <a:buNone/>
            </a:pPr>
            <a:r>
              <a:rPr lang="en-US" sz="1300" b="1" dirty="0">
                <a:solidFill>
                  <a:srgbClr val="CA8F24"/>
                </a:solidFill>
                <a:latin typeface="Calibri" pitchFamily="34" charset="0"/>
                <a:ea typeface="Calibri" pitchFamily="34" charset="-122"/>
                <a:cs typeface="Calibri" pitchFamily="34" charset="-120"/>
              </a:rPr>
              <a:t>WHY SOLAR IN JORDAN</a:t>
            </a:r>
            <a:endParaRPr lang="en-US" sz="1300" dirty="0"/>
          </a:p>
        </p:txBody>
      </p:sp>
      <p:sp>
        <p:nvSpPr>
          <p:cNvPr id="10" name="Text 8"/>
          <p:cNvSpPr/>
          <p:nvPr/>
        </p:nvSpPr>
        <p:spPr>
          <a:xfrm>
            <a:off x="777240" y="2468880"/>
            <a:ext cx="4892040" cy="3017520"/>
          </a:xfrm>
          <a:prstGeom prst="rect">
            <a:avLst/>
          </a:prstGeom>
          <a:noFill/>
          <a:ln/>
        </p:spPr>
        <p:txBody>
          <a:bodyPr wrap="square" rtlCol="0" anchor="t"/>
          <a:lstStyle/>
          <a:p>
            <a:pPr marL="285750" indent="-285750">
              <a:buFont typeface="Arial" panose="020B0604020202020204" pitchFamily="34" charset="0"/>
              <a:buChar char="•"/>
            </a:pPr>
            <a:r>
              <a:rPr lang="en-US" sz="1400" dirty="0">
                <a:solidFill>
                  <a:srgbClr val="414141"/>
                </a:solidFill>
                <a:latin typeface="Calibri" panose="020F0502020204030204" pitchFamily="34" charset="0"/>
                <a:cs typeface="Calibri" panose="020F0502020204030204" pitchFamily="34" charset="0"/>
              </a:rPr>
              <a:t>We help someone in Jordan answer one question: if I put solar panels on my roof, will I actually save money?</a:t>
            </a:r>
          </a:p>
          <a:p>
            <a:pPr marL="285750" indent="-285750">
              <a:buFont typeface="Arial" panose="020B0604020202020204" pitchFamily="34" charset="0"/>
              <a:buChar char="•"/>
            </a:pPr>
            <a:endParaRPr lang="en-US" sz="1400" dirty="0">
              <a:solidFill>
                <a:srgbClr val="414141"/>
              </a:solidFill>
              <a:latin typeface="Calibri" panose="020F0502020204030204" pitchFamily="34" charset="0"/>
              <a:cs typeface="Calibri" panose="020F0502020204030204" pitchFamily="34" charset="0"/>
            </a:endParaRPr>
          </a:p>
          <a:p>
            <a:pPr lvl="0">
              <a:defRPr/>
            </a:pPr>
            <a:r>
              <a:rPr lang="en-US" sz="1400" dirty="0">
                <a:solidFill>
                  <a:srgbClr val="414141"/>
                </a:solidFill>
                <a:latin typeface="Calibri" panose="020F0502020204030204" pitchFamily="34" charset="0"/>
                <a:cs typeface="Calibri" panose="020F0502020204030204" pitchFamily="34" charset="0"/>
              </a:rPr>
              <a:t>•  Weather data is used to estimate how much electricity solar panels could produce at a specific location.</a:t>
            </a:r>
          </a:p>
          <a:p>
            <a:pPr lvl="0">
              <a:defRPr/>
            </a:pPr>
            <a:endParaRPr lang="en-US" sz="1400" dirty="0">
              <a:solidFill>
                <a:srgbClr val="414141"/>
              </a:solidFill>
              <a:latin typeface="Calibri" panose="020F0502020204030204" pitchFamily="34" charset="0"/>
              <a:cs typeface="Calibri" panose="020F0502020204030204" pitchFamily="34" charset="0"/>
            </a:endParaRPr>
          </a:p>
          <a:p>
            <a:pPr lvl="0">
              <a:defRPr/>
            </a:pPr>
            <a:r>
              <a:rPr lang="en-US" sz="1400" dirty="0">
                <a:solidFill>
                  <a:srgbClr val="414141"/>
                </a:solidFill>
                <a:latin typeface="Calibri" panose="020F0502020204030204" pitchFamily="34" charset="0"/>
                <a:cs typeface="Calibri" panose="020F0502020204030204" pitchFamily="34" charset="0"/>
              </a:rPr>
              <a:t>•  The estimated generation is then compared with household electricity usage and the applicable tariff.</a:t>
            </a:r>
          </a:p>
          <a:p>
            <a:pPr lvl="0">
              <a:defRPr/>
            </a:pPr>
            <a:endParaRPr lang="en-JO" sz="1400" dirty="0">
              <a:solidFill>
                <a:srgbClr val="414141"/>
              </a:solidFill>
              <a:latin typeface="Calibri" panose="020F0502020204030204" pitchFamily="34" charset="0"/>
              <a:cs typeface="Calibri" panose="020F0502020204030204" pitchFamily="34" charset="0"/>
            </a:endParaRPr>
          </a:p>
          <a:p>
            <a:pPr lvl="0">
              <a:defRPr/>
            </a:pPr>
            <a:r>
              <a:rPr lang="en-US" sz="1400" dirty="0">
                <a:solidFill>
                  <a:srgbClr val="414141"/>
                </a:solidFill>
                <a:latin typeface="Calibri" panose="020F0502020204030204" pitchFamily="34" charset="0"/>
                <a:cs typeface="Calibri" panose="020F0502020204030204" pitchFamily="34" charset="0"/>
              </a:rPr>
              <a:t>•  The same country-wide data can also answer a second question: where in Jordan is solar most worth it?</a:t>
            </a:r>
            <a:endParaRPr lang="en-JO" sz="1400" dirty="0">
              <a:solidFill>
                <a:srgbClr val="414141"/>
              </a:solidFill>
              <a:latin typeface="Calibri" panose="020F0502020204030204" pitchFamily="34" charset="0"/>
              <a:cs typeface="Calibri" panose="020F0502020204030204" pitchFamily="34" charset="0"/>
            </a:endParaRPr>
          </a:p>
          <a:p>
            <a:pPr>
              <a:lnSpc>
                <a:spcPts val="1755"/>
              </a:lnSpc>
              <a:spcAft>
                <a:spcPts val="1200"/>
              </a:spcAft>
              <a:buSzPct val="100000"/>
            </a:pPr>
            <a:endParaRPr lang="en-US" sz="1350" dirty="0"/>
          </a:p>
        </p:txBody>
      </p:sp>
      <p:sp>
        <p:nvSpPr>
          <p:cNvPr id="11" name="Shape 9"/>
          <p:cNvSpPr/>
          <p:nvPr/>
        </p:nvSpPr>
        <p:spPr>
          <a:xfrm>
            <a:off x="6245352" y="1828800"/>
            <a:ext cx="5440680" cy="3749040"/>
          </a:xfrm>
          <a:prstGeom prst="roundRect">
            <a:avLst>
              <a:gd name="adj" fmla="val 1951"/>
            </a:avLst>
          </a:prstGeom>
          <a:solidFill>
            <a:srgbClr val="F5F5F5"/>
          </a:solidFill>
          <a:ln/>
        </p:spPr>
        <p:txBody>
          <a:bodyPr/>
          <a:lstStyle/>
          <a:p>
            <a:endParaRPr lang="en-JO"/>
          </a:p>
        </p:txBody>
      </p:sp>
      <p:sp>
        <p:nvSpPr>
          <p:cNvPr id="12" name="Text 10"/>
          <p:cNvSpPr/>
          <p:nvPr/>
        </p:nvSpPr>
        <p:spPr>
          <a:xfrm>
            <a:off x="6519672" y="2057400"/>
            <a:ext cx="4937760" cy="320040"/>
          </a:xfrm>
          <a:prstGeom prst="rect">
            <a:avLst/>
          </a:prstGeom>
          <a:noFill/>
          <a:ln/>
        </p:spPr>
        <p:txBody>
          <a:bodyPr wrap="square" rtlCol="0" anchor="ctr"/>
          <a:lstStyle/>
          <a:p>
            <a:pPr marL="0" indent="0">
              <a:buNone/>
            </a:pPr>
            <a:r>
              <a:rPr lang="en-US" sz="1300" b="1" dirty="0">
                <a:solidFill>
                  <a:srgbClr val="CA8F24"/>
                </a:solidFill>
                <a:latin typeface="Calibri" pitchFamily="34" charset="0"/>
                <a:ea typeface="Calibri" pitchFamily="34" charset="-122"/>
                <a:cs typeface="Calibri" pitchFamily="34" charset="-120"/>
              </a:rPr>
              <a:t>THE PROBLEM</a:t>
            </a:r>
            <a:endParaRPr lang="en-US" sz="1300" dirty="0"/>
          </a:p>
        </p:txBody>
      </p:sp>
      <p:sp>
        <p:nvSpPr>
          <p:cNvPr id="13" name="Text 11"/>
          <p:cNvSpPr/>
          <p:nvPr/>
        </p:nvSpPr>
        <p:spPr>
          <a:xfrm>
            <a:off x="6519672" y="2468880"/>
            <a:ext cx="4892040" cy="3017520"/>
          </a:xfrm>
          <a:prstGeom prst="rect">
            <a:avLst/>
          </a:prstGeom>
          <a:noFill/>
          <a:ln/>
        </p:spPr>
        <p:txBody>
          <a:bodyPr wrap="square" rtlCol="0" anchor="t"/>
          <a:lstStyle/>
          <a:p>
            <a:pPr lvl="0">
              <a:defRPr/>
            </a:pPr>
            <a:r>
              <a:rPr lang="en-US" sz="1400" dirty="0">
                <a:solidFill>
                  <a:srgbClr val="414141"/>
                </a:solidFill>
              </a:rPr>
              <a:t>•  Solar panels do not produce the same amount of electricity everywhere in Jordan.</a:t>
            </a:r>
          </a:p>
          <a:p>
            <a:pPr lvl="0">
              <a:defRPr/>
            </a:pPr>
            <a:endParaRPr lang="en-US" sz="1400" dirty="0">
              <a:solidFill>
                <a:srgbClr val="414141"/>
              </a:solidFill>
            </a:endParaRPr>
          </a:p>
          <a:p>
            <a:pPr lvl="0">
              <a:defRPr/>
            </a:pPr>
            <a:r>
              <a:rPr lang="en-US" sz="1400" dirty="0">
                <a:solidFill>
                  <a:srgbClr val="414141"/>
                </a:solidFill>
              </a:rPr>
              <a:t>•  Solar generation depends on factors such as sunlight, temperature and location.</a:t>
            </a:r>
          </a:p>
          <a:p>
            <a:pPr lvl="0">
              <a:defRPr/>
            </a:pPr>
            <a:endParaRPr lang="en-JO" sz="1400" dirty="0">
              <a:solidFill>
                <a:srgbClr val="414141"/>
              </a:solidFill>
            </a:endParaRPr>
          </a:p>
          <a:p>
            <a:pPr lvl="0">
              <a:defRPr/>
            </a:pPr>
            <a:r>
              <a:rPr lang="en-US" sz="1400" dirty="0">
                <a:solidFill>
                  <a:srgbClr val="414141"/>
                </a:solidFill>
              </a:rPr>
              <a:t>•  A person considering solar may not have an easy way to estimate what their own location can produce.</a:t>
            </a:r>
          </a:p>
          <a:p>
            <a:pPr lvl="0">
              <a:defRPr/>
            </a:pPr>
            <a:endParaRPr lang="en-US" sz="1400" dirty="0">
              <a:solidFill>
                <a:srgbClr val="414141"/>
              </a:solidFill>
            </a:endParaRPr>
          </a:p>
          <a:p>
            <a:pPr lvl="0">
              <a:defRPr/>
            </a:pPr>
            <a:r>
              <a:rPr lang="en-US" sz="1400" dirty="0">
                <a:solidFill>
                  <a:srgbClr val="414141"/>
                </a:solidFill>
              </a:rPr>
              <a:t>•  Without a location-based estimate, the decision can become a guess or depend heavily on a salesperson's estimate.</a:t>
            </a:r>
            <a:endParaRPr lang="en-JO" sz="1400" dirty="0">
              <a:solidFill>
                <a:srgbClr val="414141"/>
              </a:solidFill>
            </a:endParaRPr>
          </a:p>
          <a:p>
            <a:pPr>
              <a:lnSpc>
                <a:spcPts val="1755"/>
              </a:lnSpc>
              <a:spcAft>
                <a:spcPts val="1200"/>
              </a:spcAft>
              <a:buSzPct val="100000"/>
            </a:pPr>
            <a:endParaRPr lang="en-US" sz="1350" dirty="0"/>
          </a:p>
        </p:txBody>
      </p:sp>
      <p:sp>
        <p:nvSpPr>
          <p:cNvPr id="14" name="Shape 12"/>
          <p:cNvSpPr/>
          <p:nvPr/>
        </p:nvSpPr>
        <p:spPr>
          <a:xfrm>
            <a:off x="502920" y="5742432"/>
            <a:ext cx="11183112" cy="685800"/>
          </a:xfrm>
          <a:prstGeom prst="roundRect">
            <a:avLst>
              <a:gd name="adj" fmla="val 8000"/>
            </a:avLst>
          </a:prstGeom>
          <a:solidFill>
            <a:srgbClr val="143148"/>
          </a:solidFill>
          <a:ln/>
        </p:spPr>
        <p:txBody>
          <a:bodyPr/>
          <a:lstStyle/>
          <a:p>
            <a:endParaRPr lang="en-JO"/>
          </a:p>
        </p:txBody>
      </p:sp>
      <p:sp>
        <p:nvSpPr>
          <p:cNvPr id="15" name="Text 13"/>
          <p:cNvSpPr/>
          <p:nvPr/>
        </p:nvSpPr>
        <p:spPr>
          <a:xfrm>
            <a:off x="731520" y="5742432"/>
            <a:ext cx="10698480" cy="685800"/>
          </a:xfrm>
          <a:prstGeom prst="rect">
            <a:avLst/>
          </a:prstGeom>
          <a:noFill/>
          <a:ln/>
        </p:spPr>
        <p:txBody>
          <a:bodyPr wrap="square" rtlCol="0" anchor="ctr"/>
          <a:lstStyle/>
          <a:p>
            <a:pPr marL="0" indent="0">
              <a:buNone/>
            </a:pPr>
            <a:r>
              <a:rPr lang="en-US" sz="1300" b="1" dirty="0">
                <a:solidFill>
                  <a:srgbClr val="EEBE51"/>
                </a:solidFill>
                <a:latin typeface="Calibri" pitchFamily="34" charset="0"/>
                <a:ea typeface="Calibri" pitchFamily="34" charset="-122"/>
                <a:cs typeface="Calibri" pitchFamily="34" charset="-120"/>
              </a:rPr>
              <a:t>The question this project answers:  </a:t>
            </a:r>
            <a:r>
              <a:rPr lang="en-US" sz="1300" dirty="0">
                <a:solidFill>
                  <a:srgbClr val="FFFFFF"/>
                </a:solidFill>
                <a:latin typeface="Calibri" pitchFamily="34" charset="0"/>
                <a:ea typeface="Calibri" pitchFamily="34" charset="-122"/>
                <a:cs typeface="Calibri" pitchFamily="34" charset="-120"/>
              </a:rPr>
              <a:t>for this roof, in this month — how much will it generate, and is it worth the money?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01 · INTRODUCTION</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Objectives</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4</a:t>
            </a:r>
            <a:endParaRPr lang="en-US" sz="1000" dirty="0"/>
          </a:p>
        </p:txBody>
      </p:sp>
      <p:sp>
        <p:nvSpPr>
          <p:cNvPr id="7" name="Text 5"/>
          <p:cNvSpPr/>
          <p:nvPr/>
        </p:nvSpPr>
        <p:spPr>
          <a:xfrm>
            <a:off x="502920" y="1298448"/>
            <a:ext cx="10515600" cy="365760"/>
          </a:xfrm>
          <a:prstGeom prst="rect">
            <a:avLst/>
          </a:prstGeom>
          <a:noFill/>
          <a:ln/>
        </p:spPr>
        <p:txBody>
          <a:bodyPr wrap="square"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Four goals, each one tested later in this presentation.</a:t>
            </a:r>
            <a:endParaRPr lang="en-US" sz="1300" dirty="0"/>
          </a:p>
        </p:txBody>
      </p:sp>
      <p:sp>
        <p:nvSpPr>
          <p:cNvPr id="8" name="Shape 6"/>
          <p:cNvSpPr/>
          <p:nvPr/>
        </p:nvSpPr>
        <p:spPr>
          <a:xfrm>
            <a:off x="502920" y="1874520"/>
            <a:ext cx="5440680" cy="1874520"/>
          </a:xfrm>
          <a:prstGeom prst="roundRect">
            <a:avLst>
              <a:gd name="adj" fmla="val 3902"/>
            </a:avLst>
          </a:prstGeom>
          <a:solidFill>
            <a:srgbClr val="F5F5F5"/>
          </a:solidFill>
          <a:ln/>
        </p:spPr>
        <p:txBody>
          <a:bodyPr/>
          <a:lstStyle/>
          <a:p>
            <a:endParaRPr lang="en-JO"/>
          </a:p>
        </p:txBody>
      </p:sp>
      <p:sp>
        <p:nvSpPr>
          <p:cNvPr id="9" name="Shape 7"/>
          <p:cNvSpPr/>
          <p:nvPr/>
        </p:nvSpPr>
        <p:spPr>
          <a:xfrm>
            <a:off x="777240" y="2130552"/>
            <a:ext cx="457200" cy="457200"/>
          </a:xfrm>
          <a:prstGeom prst="ellipse">
            <a:avLst/>
          </a:prstGeom>
          <a:solidFill>
            <a:srgbClr val="143148"/>
          </a:solidFill>
          <a:ln/>
        </p:spPr>
        <p:txBody>
          <a:bodyPr/>
          <a:lstStyle/>
          <a:p>
            <a:endParaRPr lang="en-JO"/>
          </a:p>
        </p:txBody>
      </p:sp>
      <p:sp>
        <p:nvSpPr>
          <p:cNvPr id="10" name="Text 8"/>
          <p:cNvSpPr/>
          <p:nvPr/>
        </p:nvSpPr>
        <p:spPr>
          <a:xfrm>
            <a:off x="777240" y="213055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9"/>
          <p:cNvSpPr/>
          <p:nvPr/>
        </p:nvSpPr>
        <p:spPr>
          <a:xfrm>
            <a:off x="1417320" y="2103120"/>
            <a:ext cx="4251960" cy="457200"/>
          </a:xfrm>
          <a:prstGeom prst="rect">
            <a:avLst/>
          </a:prstGeom>
          <a:noFill/>
          <a:ln/>
        </p:spPr>
        <p:txBody>
          <a:bodyPr wrap="square" rtlCol="0" anchor="ctr"/>
          <a:lstStyle/>
          <a:p>
            <a:pPr marL="0" indent="0">
              <a:buNone/>
            </a:pPr>
            <a:r>
              <a:rPr lang="en-US" sz="1500" b="1" dirty="0">
                <a:solidFill>
                  <a:srgbClr val="143148"/>
                </a:solidFill>
                <a:latin typeface="Cambria" pitchFamily="34" charset="0"/>
                <a:ea typeface="Cambria" pitchFamily="34" charset="-122"/>
                <a:cs typeface="Cambria" pitchFamily="34" charset="-120"/>
              </a:rPr>
              <a:t>Cover all of Jordan</a:t>
            </a:r>
            <a:endParaRPr lang="en-US" sz="1500" dirty="0"/>
          </a:p>
        </p:txBody>
      </p:sp>
      <p:sp>
        <p:nvSpPr>
          <p:cNvPr id="12" name="Text 10"/>
          <p:cNvSpPr/>
          <p:nvPr/>
        </p:nvSpPr>
        <p:spPr>
          <a:xfrm>
            <a:off x="822960" y="2788920"/>
            <a:ext cx="4800600" cy="868680"/>
          </a:xfrm>
          <a:prstGeom prst="rect">
            <a:avLst/>
          </a:prstGeom>
          <a:noFill/>
          <a:ln/>
        </p:spPr>
        <p:txBody>
          <a:bodyPr wrap="square" rtlCol="0" anchor="t"/>
          <a:lstStyle/>
          <a:p>
            <a:pPr marL="0" indent="0">
              <a:buNone/>
            </a:pPr>
            <a:r>
              <a:rPr lang="en-US" sz="1250" dirty="0">
                <a:solidFill>
                  <a:srgbClr val="414141"/>
                </a:solidFill>
                <a:latin typeface="Calibri" pitchFamily="34" charset="0"/>
                <a:ea typeface="Calibri" pitchFamily="34" charset="-122"/>
                <a:cs typeface="Calibri" pitchFamily="34" charset="-120"/>
              </a:rPr>
              <a:t>Build a national grid of weather data — 131 locations, not a handful of cities.</a:t>
            </a:r>
            <a:endParaRPr lang="en-US" sz="1250" dirty="0"/>
          </a:p>
        </p:txBody>
      </p:sp>
      <p:sp>
        <p:nvSpPr>
          <p:cNvPr id="13" name="Shape 11"/>
          <p:cNvSpPr/>
          <p:nvPr/>
        </p:nvSpPr>
        <p:spPr>
          <a:xfrm>
            <a:off x="6245352" y="1874520"/>
            <a:ext cx="5440680" cy="1874520"/>
          </a:xfrm>
          <a:prstGeom prst="roundRect">
            <a:avLst>
              <a:gd name="adj" fmla="val 3902"/>
            </a:avLst>
          </a:prstGeom>
          <a:solidFill>
            <a:srgbClr val="F5F5F5"/>
          </a:solidFill>
          <a:ln/>
        </p:spPr>
        <p:txBody>
          <a:bodyPr/>
          <a:lstStyle/>
          <a:p>
            <a:endParaRPr lang="en-JO"/>
          </a:p>
        </p:txBody>
      </p:sp>
      <p:sp>
        <p:nvSpPr>
          <p:cNvPr id="14" name="Shape 12"/>
          <p:cNvSpPr/>
          <p:nvPr/>
        </p:nvSpPr>
        <p:spPr>
          <a:xfrm>
            <a:off x="6519672" y="2130552"/>
            <a:ext cx="457200" cy="457200"/>
          </a:xfrm>
          <a:prstGeom prst="ellipse">
            <a:avLst/>
          </a:prstGeom>
          <a:solidFill>
            <a:srgbClr val="143148"/>
          </a:solidFill>
          <a:ln/>
        </p:spPr>
        <p:txBody>
          <a:bodyPr/>
          <a:lstStyle/>
          <a:p>
            <a:endParaRPr lang="en-JO"/>
          </a:p>
        </p:txBody>
      </p:sp>
      <p:sp>
        <p:nvSpPr>
          <p:cNvPr id="15" name="Text 13"/>
          <p:cNvSpPr/>
          <p:nvPr/>
        </p:nvSpPr>
        <p:spPr>
          <a:xfrm>
            <a:off x="6519672" y="213055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4"/>
          <p:cNvSpPr/>
          <p:nvPr/>
        </p:nvSpPr>
        <p:spPr>
          <a:xfrm>
            <a:off x="7159752" y="2103120"/>
            <a:ext cx="4251960" cy="457200"/>
          </a:xfrm>
          <a:prstGeom prst="rect">
            <a:avLst/>
          </a:prstGeom>
          <a:noFill/>
          <a:ln/>
        </p:spPr>
        <p:txBody>
          <a:bodyPr wrap="square" rtlCol="0" anchor="ctr"/>
          <a:lstStyle/>
          <a:p>
            <a:pPr marL="0" indent="0">
              <a:buNone/>
            </a:pPr>
            <a:r>
              <a:rPr lang="en-US" sz="1500" b="1" dirty="0">
                <a:solidFill>
                  <a:srgbClr val="143148"/>
                </a:solidFill>
                <a:latin typeface="Cambria" pitchFamily="34" charset="0"/>
                <a:ea typeface="Cambria" pitchFamily="34" charset="-122"/>
                <a:cs typeface="Cambria" pitchFamily="34" charset="-120"/>
              </a:rPr>
              <a:t>Predict generation anywhere</a:t>
            </a:r>
            <a:endParaRPr lang="en-US" sz="1500" dirty="0"/>
          </a:p>
        </p:txBody>
      </p:sp>
      <p:sp>
        <p:nvSpPr>
          <p:cNvPr id="17" name="Text 15"/>
          <p:cNvSpPr/>
          <p:nvPr/>
        </p:nvSpPr>
        <p:spPr>
          <a:xfrm>
            <a:off x="6565392" y="2788920"/>
            <a:ext cx="4800600" cy="868680"/>
          </a:xfrm>
          <a:prstGeom prst="rect">
            <a:avLst/>
          </a:prstGeom>
          <a:noFill/>
          <a:ln/>
        </p:spPr>
        <p:txBody>
          <a:bodyPr wrap="square" rtlCol="0" anchor="t"/>
          <a:lstStyle/>
          <a:p>
            <a:pPr marL="0" indent="0">
              <a:buNone/>
            </a:pPr>
            <a:r>
              <a:rPr lang="en-US" sz="1250" dirty="0">
                <a:solidFill>
                  <a:srgbClr val="414141"/>
                </a:solidFill>
                <a:latin typeface="Calibri" pitchFamily="34" charset="0"/>
                <a:ea typeface="Calibri" pitchFamily="34" charset="-122"/>
                <a:cs typeface="Calibri" pitchFamily="34" charset="-120"/>
              </a:rPr>
              <a:t>From weather alone, at any coordinate a user can point to on a map.</a:t>
            </a:r>
            <a:endParaRPr lang="en-US" sz="1250" dirty="0"/>
          </a:p>
        </p:txBody>
      </p:sp>
      <p:sp>
        <p:nvSpPr>
          <p:cNvPr id="18" name="Shape 16"/>
          <p:cNvSpPr/>
          <p:nvPr/>
        </p:nvSpPr>
        <p:spPr>
          <a:xfrm>
            <a:off x="502920" y="4023360"/>
            <a:ext cx="5440680" cy="1874520"/>
          </a:xfrm>
          <a:prstGeom prst="roundRect">
            <a:avLst>
              <a:gd name="adj" fmla="val 3902"/>
            </a:avLst>
          </a:prstGeom>
          <a:solidFill>
            <a:srgbClr val="F5F5F5"/>
          </a:solidFill>
          <a:ln/>
        </p:spPr>
        <p:txBody>
          <a:bodyPr/>
          <a:lstStyle/>
          <a:p>
            <a:endParaRPr lang="en-JO"/>
          </a:p>
        </p:txBody>
      </p:sp>
      <p:sp>
        <p:nvSpPr>
          <p:cNvPr id="19" name="Shape 17"/>
          <p:cNvSpPr/>
          <p:nvPr/>
        </p:nvSpPr>
        <p:spPr>
          <a:xfrm>
            <a:off x="777240" y="4279392"/>
            <a:ext cx="457200" cy="457200"/>
          </a:xfrm>
          <a:prstGeom prst="ellipse">
            <a:avLst/>
          </a:prstGeom>
          <a:solidFill>
            <a:srgbClr val="143148"/>
          </a:solidFill>
          <a:ln/>
        </p:spPr>
        <p:txBody>
          <a:bodyPr/>
          <a:lstStyle/>
          <a:p>
            <a:endParaRPr lang="en-JO"/>
          </a:p>
        </p:txBody>
      </p:sp>
      <p:sp>
        <p:nvSpPr>
          <p:cNvPr id="20" name="Text 18"/>
          <p:cNvSpPr/>
          <p:nvPr/>
        </p:nvSpPr>
        <p:spPr>
          <a:xfrm>
            <a:off x="777240" y="427939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9"/>
          <p:cNvSpPr/>
          <p:nvPr/>
        </p:nvSpPr>
        <p:spPr>
          <a:xfrm>
            <a:off x="1417320" y="4251960"/>
            <a:ext cx="4251960" cy="457200"/>
          </a:xfrm>
          <a:prstGeom prst="rect">
            <a:avLst/>
          </a:prstGeom>
          <a:noFill/>
          <a:ln/>
        </p:spPr>
        <p:txBody>
          <a:bodyPr wrap="square" rtlCol="0" anchor="ctr"/>
          <a:lstStyle/>
          <a:p>
            <a:pPr marL="0" indent="0">
              <a:buNone/>
            </a:pPr>
            <a:r>
              <a:rPr lang="en-US" sz="1500" b="1" dirty="0">
                <a:solidFill>
                  <a:srgbClr val="143148"/>
                </a:solidFill>
                <a:latin typeface="Cambria" pitchFamily="34" charset="0"/>
                <a:ea typeface="Cambria" pitchFamily="34" charset="-122"/>
                <a:cs typeface="Cambria" pitchFamily="34" charset="-120"/>
              </a:rPr>
              <a:t>Prove it works on new places</a:t>
            </a:r>
            <a:endParaRPr lang="en-US" sz="1500" dirty="0"/>
          </a:p>
        </p:txBody>
      </p:sp>
      <p:sp>
        <p:nvSpPr>
          <p:cNvPr id="22" name="Text 20"/>
          <p:cNvSpPr/>
          <p:nvPr/>
        </p:nvSpPr>
        <p:spPr>
          <a:xfrm>
            <a:off x="822960" y="4937760"/>
            <a:ext cx="4800600" cy="868680"/>
          </a:xfrm>
          <a:prstGeom prst="rect">
            <a:avLst/>
          </a:prstGeom>
          <a:noFill/>
          <a:ln/>
        </p:spPr>
        <p:txBody>
          <a:bodyPr wrap="square" rtlCol="0" anchor="t"/>
          <a:lstStyle/>
          <a:p>
            <a:pPr marL="0" indent="0">
              <a:buNone/>
            </a:pPr>
            <a:r>
              <a:rPr lang="en-US" sz="1250" dirty="0">
                <a:solidFill>
                  <a:srgbClr val="414141"/>
                </a:solidFill>
                <a:latin typeface="Calibri" pitchFamily="34" charset="0"/>
                <a:ea typeface="Calibri" pitchFamily="34" charset="-122"/>
                <a:cs typeface="Calibri" pitchFamily="34" charset="-120"/>
              </a:rPr>
              <a:t>Test on a year and a location the model never saw during training.</a:t>
            </a:r>
            <a:endParaRPr lang="en-US" sz="1250" dirty="0"/>
          </a:p>
        </p:txBody>
      </p:sp>
      <p:sp>
        <p:nvSpPr>
          <p:cNvPr id="23" name="Shape 21"/>
          <p:cNvSpPr/>
          <p:nvPr/>
        </p:nvSpPr>
        <p:spPr>
          <a:xfrm>
            <a:off x="6245352" y="4023360"/>
            <a:ext cx="5440680" cy="1874520"/>
          </a:xfrm>
          <a:prstGeom prst="roundRect">
            <a:avLst>
              <a:gd name="adj" fmla="val 3902"/>
            </a:avLst>
          </a:prstGeom>
          <a:solidFill>
            <a:srgbClr val="F5F5F5"/>
          </a:solidFill>
          <a:ln/>
        </p:spPr>
        <p:txBody>
          <a:bodyPr/>
          <a:lstStyle/>
          <a:p>
            <a:endParaRPr lang="en-JO"/>
          </a:p>
        </p:txBody>
      </p:sp>
      <p:sp>
        <p:nvSpPr>
          <p:cNvPr id="24" name="Shape 22"/>
          <p:cNvSpPr/>
          <p:nvPr/>
        </p:nvSpPr>
        <p:spPr>
          <a:xfrm>
            <a:off x="6519672" y="4279392"/>
            <a:ext cx="457200" cy="457200"/>
          </a:xfrm>
          <a:prstGeom prst="ellipse">
            <a:avLst/>
          </a:prstGeom>
          <a:solidFill>
            <a:srgbClr val="143148"/>
          </a:solidFill>
          <a:ln/>
        </p:spPr>
        <p:txBody>
          <a:bodyPr/>
          <a:lstStyle/>
          <a:p>
            <a:endParaRPr lang="en-JO"/>
          </a:p>
        </p:txBody>
      </p:sp>
      <p:sp>
        <p:nvSpPr>
          <p:cNvPr id="25" name="Text 23"/>
          <p:cNvSpPr/>
          <p:nvPr/>
        </p:nvSpPr>
        <p:spPr>
          <a:xfrm>
            <a:off x="6519672" y="427939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6" name="Text 24"/>
          <p:cNvSpPr/>
          <p:nvPr/>
        </p:nvSpPr>
        <p:spPr>
          <a:xfrm>
            <a:off x="7159752" y="4251960"/>
            <a:ext cx="4251960" cy="457200"/>
          </a:xfrm>
          <a:prstGeom prst="rect">
            <a:avLst/>
          </a:prstGeom>
          <a:noFill/>
          <a:ln/>
        </p:spPr>
        <p:txBody>
          <a:bodyPr wrap="square" rtlCol="0" anchor="ctr"/>
          <a:lstStyle/>
          <a:p>
            <a:pPr marL="0" indent="0">
              <a:buNone/>
            </a:pPr>
            <a:r>
              <a:rPr lang="en-US" sz="1500" b="1" dirty="0">
                <a:solidFill>
                  <a:srgbClr val="143148"/>
                </a:solidFill>
                <a:latin typeface="Cambria" pitchFamily="34" charset="0"/>
                <a:ea typeface="Cambria" pitchFamily="34" charset="-122"/>
                <a:cs typeface="Cambria" pitchFamily="34" charset="-120"/>
              </a:rPr>
              <a:t>Turn it into a decision</a:t>
            </a:r>
            <a:endParaRPr lang="en-US" sz="1500" dirty="0"/>
          </a:p>
        </p:txBody>
      </p:sp>
      <p:sp>
        <p:nvSpPr>
          <p:cNvPr id="27" name="Text 25"/>
          <p:cNvSpPr/>
          <p:nvPr/>
        </p:nvSpPr>
        <p:spPr>
          <a:xfrm>
            <a:off x="6565392" y="4937760"/>
            <a:ext cx="4800600" cy="868680"/>
          </a:xfrm>
          <a:prstGeom prst="rect">
            <a:avLst/>
          </a:prstGeom>
          <a:noFill/>
          <a:ln/>
        </p:spPr>
        <p:txBody>
          <a:bodyPr wrap="square" rtlCol="0" anchor="t"/>
          <a:lstStyle/>
          <a:p>
            <a:pPr marL="0" indent="0">
              <a:buNone/>
            </a:pPr>
            <a:r>
              <a:rPr lang="en-US" sz="1250" dirty="0">
                <a:solidFill>
                  <a:srgbClr val="414141"/>
                </a:solidFill>
                <a:latin typeface="Calibri" pitchFamily="34" charset="0"/>
                <a:ea typeface="Calibri" pitchFamily="34" charset="-122"/>
                <a:cs typeface="Calibri" pitchFamily="34" charset="-120"/>
              </a:rPr>
              <a:t>A verdict in dinars for a household, and a ranked map for an investor.</a:t>
            </a:r>
            <a:endParaRPr lang="en-US" sz="1250" dirty="0"/>
          </a:p>
        </p:txBody>
      </p:sp>
      <p:sp>
        <p:nvSpPr>
          <p:cNvPr id="28" name="Text 26"/>
          <p:cNvSpPr/>
          <p:nvPr/>
        </p:nvSpPr>
        <p:spPr>
          <a:xfrm>
            <a:off x="502920" y="6263640"/>
            <a:ext cx="10972800" cy="274320"/>
          </a:xfrm>
          <a:prstGeom prst="rect">
            <a:avLst/>
          </a:prstGeom>
          <a:noFill/>
          <a:ln/>
        </p:spPr>
        <p:txBody>
          <a:bodyPr wrap="square" rtlCol="0" anchor="ctr"/>
          <a:lstStyle/>
          <a:p>
            <a:pPr marL="0" indent="0">
              <a:buNone/>
            </a:pPr>
            <a:r>
              <a:rPr lang="en-US" sz="1100" i="1" dirty="0">
                <a:solidFill>
                  <a:srgbClr val="6E6E6E"/>
                </a:solidFill>
                <a:latin typeface="Calibri" pitchFamily="34" charset="0"/>
                <a:ea typeface="Calibri" pitchFamily="34" charset="-122"/>
                <a:cs typeface="Calibri" pitchFamily="34" charset="-120"/>
              </a:rPr>
              <a:t>Objectives 2 and 3 are the ones this deck returns to with numbers.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02 · THE SYSTEM</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How the System Works</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5</a:t>
            </a:r>
            <a:endParaRPr lang="en-US" sz="1000" dirty="0"/>
          </a:p>
        </p:txBody>
      </p:sp>
      <p:sp>
        <p:nvSpPr>
          <p:cNvPr id="7" name="Text 5"/>
          <p:cNvSpPr/>
          <p:nvPr/>
        </p:nvSpPr>
        <p:spPr>
          <a:xfrm>
            <a:off x="502920" y="1298448"/>
            <a:ext cx="10515600" cy="365760"/>
          </a:xfrm>
          <a:prstGeom prst="rect">
            <a:avLst/>
          </a:prstGeom>
          <a:noFill/>
          <a:ln/>
        </p:spPr>
        <p:txBody>
          <a:bodyPr wrap="square"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Four stages, from a satellite record to an answer on a screen.</a:t>
            </a:r>
            <a:endParaRPr lang="en-US" sz="1300" dirty="0"/>
          </a:p>
        </p:txBody>
      </p:sp>
      <p:sp>
        <p:nvSpPr>
          <p:cNvPr id="8" name="Shape 6"/>
          <p:cNvSpPr/>
          <p:nvPr/>
        </p:nvSpPr>
        <p:spPr>
          <a:xfrm>
            <a:off x="502920" y="1920240"/>
            <a:ext cx="2606040" cy="3291840"/>
          </a:xfrm>
          <a:prstGeom prst="roundRect">
            <a:avLst>
              <a:gd name="adj" fmla="val 2807"/>
            </a:avLst>
          </a:prstGeom>
          <a:solidFill>
            <a:srgbClr val="F5F5F5"/>
          </a:solidFill>
          <a:ln/>
        </p:spPr>
        <p:txBody>
          <a:bodyPr/>
          <a:lstStyle/>
          <a:p>
            <a:endParaRPr lang="en-JO"/>
          </a:p>
        </p:txBody>
      </p:sp>
      <p:sp>
        <p:nvSpPr>
          <p:cNvPr id="9" name="Shape 7"/>
          <p:cNvSpPr/>
          <p:nvPr/>
        </p:nvSpPr>
        <p:spPr>
          <a:xfrm>
            <a:off x="1531620" y="2148840"/>
            <a:ext cx="548640" cy="548640"/>
          </a:xfrm>
          <a:prstGeom prst="ellipse">
            <a:avLst/>
          </a:prstGeom>
          <a:solidFill>
            <a:srgbClr val="143148"/>
          </a:solidFill>
          <a:ln/>
        </p:spPr>
        <p:txBody>
          <a:bodyPr/>
          <a:lstStyle/>
          <a:p>
            <a:endParaRPr lang="en-JO"/>
          </a:p>
        </p:txBody>
      </p:sp>
      <p:sp>
        <p:nvSpPr>
          <p:cNvPr id="10" name="Text 8"/>
          <p:cNvSpPr/>
          <p:nvPr/>
        </p:nvSpPr>
        <p:spPr>
          <a:xfrm>
            <a:off x="1531620" y="2148840"/>
            <a:ext cx="548640" cy="54864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9"/>
          <p:cNvSpPr/>
          <p:nvPr/>
        </p:nvSpPr>
        <p:spPr>
          <a:xfrm>
            <a:off x="502920" y="2834640"/>
            <a:ext cx="2606040" cy="365760"/>
          </a:xfrm>
          <a:prstGeom prst="rect">
            <a:avLst/>
          </a:prstGeom>
          <a:noFill/>
          <a:ln/>
        </p:spPr>
        <p:txBody>
          <a:bodyPr wrap="square" rtlCol="0" anchor="ctr"/>
          <a:lstStyle/>
          <a:p>
            <a:pPr marL="0" indent="0" algn="ctr">
              <a:buNone/>
            </a:pPr>
            <a:r>
              <a:rPr lang="en-US" sz="1600" b="1" dirty="0">
                <a:solidFill>
                  <a:srgbClr val="143148"/>
                </a:solidFill>
                <a:latin typeface="Cambria" pitchFamily="34" charset="0"/>
                <a:ea typeface="Cambria" pitchFamily="34" charset="-122"/>
                <a:cs typeface="Cambria" pitchFamily="34" charset="-120"/>
              </a:rPr>
              <a:t>Collect</a:t>
            </a:r>
            <a:endParaRPr lang="en-US" sz="1600" dirty="0"/>
          </a:p>
        </p:txBody>
      </p:sp>
      <p:sp>
        <p:nvSpPr>
          <p:cNvPr id="12" name="Text 10"/>
          <p:cNvSpPr/>
          <p:nvPr/>
        </p:nvSpPr>
        <p:spPr>
          <a:xfrm>
            <a:off x="685800" y="3246120"/>
            <a:ext cx="2240280" cy="1508760"/>
          </a:xfrm>
          <a:prstGeom prst="rect">
            <a:avLst/>
          </a:prstGeom>
          <a:noFill/>
          <a:ln/>
        </p:spPr>
        <p:txBody>
          <a:bodyPr wrap="square" rtlCol="0" anchor="t"/>
          <a:lstStyle/>
          <a:p>
            <a:pPr marL="0" indent="0">
              <a:buNone/>
            </a:pPr>
            <a:r>
              <a:rPr lang="en-US" sz="1050" dirty="0">
                <a:solidFill>
                  <a:srgbClr val="414141"/>
                </a:solidFill>
                <a:latin typeface="Calibri" pitchFamily="34" charset="0"/>
                <a:ea typeface="Calibri" pitchFamily="34" charset="-122"/>
                <a:cs typeface="Calibri" pitchFamily="34" charset="-120"/>
              </a:rPr>
              <a:t>NASA POWER daily API pulls 6 years of weather for 131 points across Jordan. Nominatim turns an address into coordinates and checks the point is inside the border.</a:t>
            </a:r>
            <a:endParaRPr lang="en-US" sz="1050" dirty="0"/>
          </a:p>
        </p:txBody>
      </p:sp>
      <p:sp>
        <p:nvSpPr>
          <p:cNvPr id="13" name="Text 11"/>
          <p:cNvSpPr/>
          <p:nvPr/>
        </p:nvSpPr>
        <p:spPr>
          <a:xfrm>
            <a:off x="685800" y="4709160"/>
            <a:ext cx="2240280" cy="411480"/>
          </a:xfrm>
          <a:prstGeom prst="rect">
            <a:avLst/>
          </a:prstGeom>
          <a:noFill/>
          <a:ln/>
        </p:spPr>
        <p:txBody>
          <a:bodyPr wrap="square" rtlCol="0" anchor="t"/>
          <a:lstStyle/>
          <a:p>
            <a:pPr marL="0" indent="0">
              <a:buNone/>
            </a:pPr>
            <a:r>
              <a:rPr lang="en-US" sz="900" b="1" dirty="0">
                <a:solidFill>
                  <a:srgbClr val="CA8F24"/>
                </a:solidFill>
                <a:latin typeface="Calibri" pitchFamily="34" charset="0"/>
                <a:ea typeface="Calibri" pitchFamily="34" charset="-122"/>
                <a:cs typeface="Calibri" pitchFamily="34" charset="-120"/>
              </a:rPr>
              <a:t>NASA POWER · Nominatim</a:t>
            </a:r>
            <a:endParaRPr lang="en-US" sz="900" dirty="0"/>
          </a:p>
        </p:txBody>
      </p:sp>
      <p:sp>
        <p:nvSpPr>
          <p:cNvPr id="14" name="Text 12"/>
          <p:cNvSpPr/>
          <p:nvPr/>
        </p:nvSpPr>
        <p:spPr>
          <a:xfrm>
            <a:off x="3090672" y="3383280"/>
            <a:ext cx="256032" cy="365760"/>
          </a:xfrm>
          <a:prstGeom prst="rect">
            <a:avLst/>
          </a:prstGeom>
          <a:noFill/>
          <a:ln/>
        </p:spPr>
        <p:txBody>
          <a:bodyPr wrap="square" rtlCol="0" anchor="ctr"/>
          <a:lstStyle/>
          <a:p>
            <a:pPr marL="0" indent="0" algn="ctr">
              <a:buNone/>
            </a:pPr>
            <a:r>
              <a:rPr lang="en-US" sz="1600" b="1" dirty="0">
                <a:solidFill>
                  <a:srgbClr val="CA8F24"/>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3328416" y="1920240"/>
            <a:ext cx="2606040" cy="3291840"/>
          </a:xfrm>
          <a:prstGeom prst="roundRect">
            <a:avLst>
              <a:gd name="adj" fmla="val 2807"/>
            </a:avLst>
          </a:prstGeom>
          <a:solidFill>
            <a:srgbClr val="F5F5F5"/>
          </a:solidFill>
          <a:ln/>
        </p:spPr>
        <p:txBody>
          <a:bodyPr/>
          <a:lstStyle/>
          <a:p>
            <a:endParaRPr lang="en-JO"/>
          </a:p>
        </p:txBody>
      </p:sp>
      <p:sp>
        <p:nvSpPr>
          <p:cNvPr id="16" name="Shape 14"/>
          <p:cNvSpPr/>
          <p:nvPr/>
        </p:nvSpPr>
        <p:spPr>
          <a:xfrm>
            <a:off x="4357116" y="2148840"/>
            <a:ext cx="548640" cy="548640"/>
          </a:xfrm>
          <a:prstGeom prst="ellipse">
            <a:avLst/>
          </a:prstGeom>
          <a:solidFill>
            <a:srgbClr val="143148"/>
          </a:solidFill>
          <a:ln/>
        </p:spPr>
        <p:txBody>
          <a:bodyPr/>
          <a:lstStyle/>
          <a:p>
            <a:endParaRPr lang="en-JO"/>
          </a:p>
        </p:txBody>
      </p:sp>
      <p:sp>
        <p:nvSpPr>
          <p:cNvPr id="17" name="Text 15"/>
          <p:cNvSpPr/>
          <p:nvPr/>
        </p:nvSpPr>
        <p:spPr>
          <a:xfrm>
            <a:off x="4357116" y="2148840"/>
            <a:ext cx="548640" cy="54864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8" name="Text 16"/>
          <p:cNvSpPr/>
          <p:nvPr/>
        </p:nvSpPr>
        <p:spPr>
          <a:xfrm>
            <a:off x="3328416" y="2834640"/>
            <a:ext cx="2606040" cy="365760"/>
          </a:xfrm>
          <a:prstGeom prst="rect">
            <a:avLst/>
          </a:prstGeom>
          <a:noFill/>
          <a:ln/>
        </p:spPr>
        <p:txBody>
          <a:bodyPr wrap="square" rtlCol="0" anchor="ctr"/>
          <a:lstStyle/>
          <a:p>
            <a:pPr marL="0" indent="0" algn="ctr">
              <a:buNone/>
            </a:pPr>
            <a:r>
              <a:rPr lang="en-US" sz="1600" b="1" dirty="0">
                <a:solidFill>
                  <a:srgbClr val="143148"/>
                </a:solidFill>
                <a:latin typeface="Cambria" pitchFamily="34" charset="0"/>
                <a:ea typeface="Cambria" pitchFamily="34" charset="-122"/>
                <a:cs typeface="Cambria" pitchFamily="34" charset="-120"/>
              </a:rPr>
              <a:t>Prepare</a:t>
            </a:r>
            <a:endParaRPr lang="en-US" sz="1600" dirty="0"/>
          </a:p>
        </p:txBody>
      </p:sp>
      <p:sp>
        <p:nvSpPr>
          <p:cNvPr id="19" name="Text 17"/>
          <p:cNvSpPr/>
          <p:nvPr/>
        </p:nvSpPr>
        <p:spPr>
          <a:xfrm>
            <a:off x="3511296" y="3246120"/>
            <a:ext cx="2240280" cy="1508760"/>
          </a:xfrm>
          <a:prstGeom prst="rect">
            <a:avLst/>
          </a:prstGeom>
          <a:noFill/>
          <a:ln/>
        </p:spPr>
        <p:txBody>
          <a:bodyPr wrap="square" rtlCol="0" anchor="t"/>
          <a:lstStyle/>
          <a:p>
            <a:pPr marL="0" indent="0">
              <a:buNone/>
            </a:pPr>
            <a:r>
              <a:rPr lang="en-US" sz="1050" dirty="0">
                <a:solidFill>
                  <a:srgbClr val="414141"/>
                </a:solidFill>
                <a:latin typeface="Calibri" pitchFamily="34" charset="0"/>
                <a:ea typeface="Calibri" pitchFamily="34" charset="-122"/>
                <a:cs typeface="Calibri" pitchFamily="34" charset="-120"/>
              </a:rPr>
              <a:t>Duplicates, hidden −999 codes and impossible readings removed. Dates converted, season encoded, target built.</a:t>
            </a:r>
            <a:endParaRPr lang="en-US" sz="1050" dirty="0"/>
          </a:p>
        </p:txBody>
      </p:sp>
      <p:sp>
        <p:nvSpPr>
          <p:cNvPr id="20" name="Text 18"/>
          <p:cNvSpPr/>
          <p:nvPr/>
        </p:nvSpPr>
        <p:spPr>
          <a:xfrm>
            <a:off x="3511296" y="4709160"/>
            <a:ext cx="2240280" cy="411480"/>
          </a:xfrm>
          <a:prstGeom prst="rect">
            <a:avLst/>
          </a:prstGeom>
          <a:noFill/>
          <a:ln/>
        </p:spPr>
        <p:txBody>
          <a:bodyPr wrap="square" rtlCol="0" anchor="t"/>
          <a:lstStyle/>
          <a:p>
            <a:pPr marL="0" indent="0">
              <a:buNone/>
            </a:pPr>
            <a:r>
              <a:rPr lang="en-US" sz="900" b="1" dirty="0">
                <a:solidFill>
                  <a:srgbClr val="CA8F24"/>
                </a:solidFill>
                <a:latin typeface="Calibri" pitchFamily="34" charset="0"/>
                <a:ea typeface="Calibri" pitchFamily="34" charset="-122"/>
                <a:cs typeface="Calibri" pitchFamily="34" charset="-120"/>
              </a:rPr>
              <a:t>pandas · NumPy</a:t>
            </a:r>
            <a:endParaRPr lang="en-US" sz="900" dirty="0"/>
          </a:p>
        </p:txBody>
      </p:sp>
      <p:sp>
        <p:nvSpPr>
          <p:cNvPr id="21" name="Text 19"/>
          <p:cNvSpPr/>
          <p:nvPr/>
        </p:nvSpPr>
        <p:spPr>
          <a:xfrm>
            <a:off x="5916168" y="3383280"/>
            <a:ext cx="256032" cy="365760"/>
          </a:xfrm>
          <a:prstGeom prst="rect">
            <a:avLst/>
          </a:prstGeom>
          <a:noFill/>
          <a:ln/>
        </p:spPr>
        <p:txBody>
          <a:bodyPr wrap="square" rtlCol="0" anchor="ctr"/>
          <a:lstStyle/>
          <a:p>
            <a:pPr marL="0" indent="0" algn="ctr">
              <a:buNone/>
            </a:pPr>
            <a:r>
              <a:rPr lang="en-US" sz="1600" b="1" dirty="0">
                <a:solidFill>
                  <a:srgbClr val="CA8F24"/>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6153912" y="1920240"/>
            <a:ext cx="2606040" cy="3291840"/>
          </a:xfrm>
          <a:prstGeom prst="roundRect">
            <a:avLst>
              <a:gd name="adj" fmla="val 2807"/>
            </a:avLst>
          </a:prstGeom>
          <a:solidFill>
            <a:srgbClr val="F5F5F5"/>
          </a:solidFill>
          <a:ln/>
        </p:spPr>
        <p:txBody>
          <a:bodyPr/>
          <a:lstStyle/>
          <a:p>
            <a:endParaRPr lang="en-JO"/>
          </a:p>
        </p:txBody>
      </p:sp>
      <p:sp>
        <p:nvSpPr>
          <p:cNvPr id="23" name="Shape 21"/>
          <p:cNvSpPr/>
          <p:nvPr/>
        </p:nvSpPr>
        <p:spPr>
          <a:xfrm>
            <a:off x="7182612" y="2148840"/>
            <a:ext cx="548640" cy="548640"/>
          </a:xfrm>
          <a:prstGeom prst="ellipse">
            <a:avLst/>
          </a:prstGeom>
          <a:solidFill>
            <a:srgbClr val="143148"/>
          </a:solidFill>
          <a:ln/>
        </p:spPr>
        <p:txBody>
          <a:bodyPr/>
          <a:lstStyle/>
          <a:p>
            <a:endParaRPr lang="en-JO"/>
          </a:p>
        </p:txBody>
      </p:sp>
      <p:sp>
        <p:nvSpPr>
          <p:cNvPr id="24" name="Text 22"/>
          <p:cNvSpPr/>
          <p:nvPr/>
        </p:nvSpPr>
        <p:spPr>
          <a:xfrm>
            <a:off x="7182612" y="2148840"/>
            <a:ext cx="548640" cy="54864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5" name="Text 23"/>
          <p:cNvSpPr/>
          <p:nvPr/>
        </p:nvSpPr>
        <p:spPr>
          <a:xfrm>
            <a:off x="6153912" y="2834640"/>
            <a:ext cx="2606040" cy="365760"/>
          </a:xfrm>
          <a:prstGeom prst="rect">
            <a:avLst/>
          </a:prstGeom>
          <a:noFill/>
          <a:ln/>
        </p:spPr>
        <p:txBody>
          <a:bodyPr wrap="square" rtlCol="0" anchor="ctr"/>
          <a:lstStyle/>
          <a:p>
            <a:pPr marL="0" indent="0" algn="ctr">
              <a:buNone/>
            </a:pPr>
            <a:r>
              <a:rPr lang="en-US" sz="1600" b="1" dirty="0">
                <a:solidFill>
                  <a:srgbClr val="143148"/>
                </a:solidFill>
                <a:latin typeface="Cambria" pitchFamily="34" charset="0"/>
                <a:ea typeface="Cambria" pitchFamily="34" charset="-122"/>
                <a:cs typeface="Cambria" pitchFamily="34" charset="-120"/>
              </a:rPr>
              <a:t>Learn</a:t>
            </a:r>
            <a:endParaRPr lang="en-US" sz="1600" dirty="0"/>
          </a:p>
        </p:txBody>
      </p:sp>
      <p:sp>
        <p:nvSpPr>
          <p:cNvPr id="26" name="Text 24"/>
          <p:cNvSpPr/>
          <p:nvPr/>
        </p:nvSpPr>
        <p:spPr>
          <a:xfrm>
            <a:off x="6336792" y="3246120"/>
            <a:ext cx="2240280" cy="1508760"/>
          </a:xfrm>
          <a:prstGeom prst="rect">
            <a:avLst/>
          </a:prstGeom>
          <a:noFill/>
          <a:ln/>
        </p:spPr>
        <p:txBody>
          <a:bodyPr wrap="square" rtlCol="0" anchor="t"/>
          <a:lstStyle/>
          <a:p>
            <a:pPr marL="0" indent="0">
              <a:buNone/>
            </a:pPr>
            <a:r>
              <a:rPr lang="en-US" sz="1050" dirty="0">
                <a:solidFill>
                  <a:srgbClr val="414141"/>
                </a:solidFill>
                <a:latin typeface="Calibri" pitchFamily="34" charset="0"/>
                <a:ea typeface="Calibri" pitchFamily="34" charset="-122"/>
                <a:cs typeface="Calibri" pitchFamily="34" charset="-120"/>
              </a:rPr>
              <a:t>Three models trained and compared. The winner is saved to disk with its feature list, ready to serve.</a:t>
            </a:r>
            <a:endParaRPr lang="en-US" sz="1050" dirty="0"/>
          </a:p>
        </p:txBody>
      </p:sp>
      <p:sp>
        <p:nvSpPr>
          <p:cNvPr id="27" name="Text 25"/>
          <p:cNvSpPr/>
          <p:nvPr/>
        </p:nvSpPr>
        <p:spPr>
          <a:xfrm>
            <a:off x="6336792" y="4709160"/>
            <a:ext cx="2240280" cy="411480"/>
          </a:xfrm>
          <a:prstGeom prst="rect">
            <a:avLst/>
          </a:prstGeom>
          <a:noFill/>
          <a:ln/>
        </p:spPr>
        <p:txBody>
          <a:bodyPr wrap="square" rtlCol="0" anchor="t"/>
          <a:lstStyle/>
          <a:p>
            <a:pPr marL="0" indent="0">
              <a:buNone/>
            </a:pPr>
            <a:r>
              <a:rPr lang="en-US" sz="900" b="1" dirty="0">
                <a:solidFill>
                  <a:srgbClr val="CA8F24"/>
                </a:solidFill>
                <a:latin typeface="Calibri" pitchFamily="34" charset="0"/>
                <a:ea typeface="Calibri" pitchFamily="34" charset="-122"/>
                <a:cs typeface="Calibri" pitchFamily="34" charset="-120"/>
              </a:rPr>
              <a:t>Linear Regression · Random Forest · XGBoost</a:t>
            </a:r>
            <a:endParaRPr lang="en-US" sz="900" dirty="0"/>
          </a:p>
        </p:txBody>
      </p:sp>
      <p:sp>
        <p:nvSpPr>
          <p:cNvPr id="28" name="Text 26"/>
          <p:cNvSpPr/>
          <p:nvPr/>
        </p:nvSpPr>
        <p:spPr>
          <a:xfrm>
            <a:off x="8741664" y="3383280"/>
            <a:ext cx="256032" cy="365760"/>
          </a:xfrm>
          <a:prstGeom prst="rect">
            <a:avLst/>
          </a:prstGeom>
          <a:noFill/>
          <a:ln/>
        </p:spPr>
        <p:txBody>
          <a:bodyPr wrap="square" rtlCol="0" anchor="ctr"/>
          <a:lstStyle/>
          <a:p>
            <a:pPr marL="0" indent="0" algn="ctr">
              <a:buNone/>
            </a:pPr>
            <a:r>
              <a:rPr lang="en-US" sz="1600" b="1" dirty="0">
                <a:solidFill>
                  <a:srgbClr val="CA8F24"/>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8979408" y="1920240"/>
            <a:ext cx="2606040" cy="3291840"/>
          </a:xfrm>
          <a:prstGeom prst="roundRect">
            <a:avLst>
              <a:gd name="adj" fmla="val 2807"/>
            </a:avLst>
          </a:prstGeom>
          <a:solidFill>
            <a:srgbClr val="F5F5F5"/>
          </a:solidFill>
          <a:ln/>
        </p:spPr>
        <p:txBody>
          <a:bodyPr/>
          <a:lstStyle/>
          <a:p>
            <a:endParaRPr lang="en-JO"/>
          </a:p>
        </p:txBody>
      </p:sp>
      <p:sp>
        <p:nvSpPr>
          <p:cNvPr id="30" name="Shape 28"/>
          <p:cNvSpPr/>
          <p:nvPr/>
        </p:nvSpPr>
        <p:spPr>
          <a:xfrm>
            <a:off x="10008108" y="2148840"/>
            <a:ext cx="548640" cy="548640"/>
          </a:xfrm>
          <a:prstGeom prst="ellipse">
            <a:avLst/>
          </a:prstGeom>
          <a:solidFill>
            <a:srgbClr val="143148"/>
          </a:solidFill>
          <a:ln/>
        </p:spPr>
        <p:txBody>
          <a:bodyPr/>
          <a:lstStyle/>
          <a:p>
            <a:endParaRPr lang="en-JO"/>
          </a:p>
        </p:txBody>
      </p:sp>
      <p:sp>
        <p:nvSpPr>
          <p:cNvPr id="31" name="Text 29"/>
          <p:cNvSpPr/>
          <p:nvPr/>
        </p:nvSpPr>
        <p:spPr>
          <a:xfrm>
            <a:off x="10008108" y="2148840"/>
            <a:ext cx="548640" cy="54864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2" name="Text 30"/>
          <p:cNvSpPr/>
          <p:nvPr/>
        </p:nvSpPr>
        <p:spPr>
          <a:xfrm>
            <a:off x="8979408" y="2834640"/>
            <a:ext cx="2606040" cy="365760"/>
          </a:xfrm>
          <a:prstGeom prst="rect">
            <a:avLst/>
          </a:prstGeom>
          <a:noFill/>
          <a:ln/>
        </p:spPr>
        <p:txBody>
          <a:bodyPr wrap="square" rtlCol="0" anchor="ctr"/>
          <a:lstStyle/>
          <a:p>
            <a:pPr marL="0" indent="0" algn="ctr">
              <a:buNone/>
            </a:pPr>
            <a:r>
              <a:rPr lang="en-US" sz="1600" b="1" dirty="0">
                <a:solidFill>
                  <a:srgbClr val="143148"/>
                </a:solidFill>
                <a:latin typeface="Cambria" pitchFamily="34" charset="0"/>
                <a:ea typeface="Cambria" pitchFamily="34" charset="-122"/>
                <a:cs typeface="Cambria" pitchFamily="34" charset="-120"/>
              </a:rPr>
              <a:t>Deliver</a:t>
            </a:r>
            <a:endParaRPr lang="en-US" sz="1600" dirty="0"/>
          </a:p>
        </p:txBody>
      </p:sp>
      <p:sp>
        <p:nvSpPr>
          <p:cNvPr id="33" name="Text 31"/>
          <p:cNvSpPr/>
          <p:nvPr/>
        </p:nvSpPr>
        <p:spPr>
          <a:xfrm>
            <a:off x="9162288" y="3246120"/>
            <a:ext cx="2240280" cy="1508760"/>
          </a:xfrm>
          <a:prstGeom prst="rect">
            <a:avLst/>
          </a:prstGeom>
          <a:noFill/>
          <a:ln/>
        </p:spPr>
        <p:txBody>
          <a:bodyPr wrap="square" rtlCol="0" anchor="t"/>
          <a:lstStyle/>
          <a:p>
            <a:pPr marL="0" indent="0">
              <a:buNone/>
            </a:pPr>
            <a:r>
              <a:rPr lang="en-US" sz="1050" dirty="0">
                <a:solidFill>
                  <a:srgbClr val="414141"/>
                </a:solidFill>
                <a:latin typeface="Calibri" pitchFamily="34" charset="0"/>
                <a:ea typeface="Calibri" pitchFamily="34" charset="-122"/>
                <a:cs typeface="Calibri" pitchFamily="34" charset="-120"/>
              </a:rPr>
              <a:t>A Streamlit web app answers the household question. A Power BI dashboard ranks sites for investors.</a:t>
            </a:r>
            <a:endParaRPr lang="en-US" sz="1050" dirty="0"/>
          </a:p>
        </p:txBody>
      </p:sp>
      <p:sp>
        <p:nvSpPr>
          <p:cNvPr id="34" name="Text 32"/>
          <p:cNvSpPr/>
          <p:nvPr/>
        </p:nvSpPr>
        <p:spPr>
          <a:xfrm>
            <a:off x="9162288" y="4709160"/>
            <a:ext cx="2240280" cy="411480"/>
          </a:xfrm>
          <a:prstGeom prst="rect">
            <a:avLst/>
          </a:prstGeom>
          <a:noFill/>
          <a:ln/>
        </p:spPr>
        <p:txBody>
          <a:bodyPr wrap="square" rtlCol="0" anchor="t"/>
          <a:lstStyle/>
          <a:p>
            <a:pPr marL="0" indent="0">
              <a:buNone/>
            </a:pPr>
            <a:r>
              <a:rPr lang="en-US" sz="900" b="1" dirty="0">
                <a:solidFill>
                  <a:srgbClr val="CA8F24"/>
                </a:solidFill>
                <a:latin typeface="Calibri" pitchFamily="34" charset="0"/>
                <a:ea typeface="Calibri" pitchFamily="34" charset="-122"/>
                <a:cs typeface="Calibri" pitchFamily="34" charset="-120"/>
              </a:rPr>
              <a:t>Streamlit · Power BI</a:t>
            </a:r>
            <a:endParaRPr lang="en-US" sz="900" dirty="0"/>
          </a:p>
        </p:txBody>
      </p:sp>
      <p:sp>
        <p:nvSpPr>
          <p:cNvPr id="35" name="Shape 33"/>
          <p:cNvSpPr/>
          <p:nvPr/>
        </p:nvSpPr>
        <p:spPr>
          <a:xfrm>
            <a:off x="502920" y="5440680"/>
            <a:ext cx="11183112" cy="868680"/>
          </a:xfrm>
          <a:prstGeom prst="roundRect">
            <a:avLst>
              <a:gd name="adj" fmla="val 6316"/>
            </a:avLst>
          </a:prstGeom>
          <a:solidFill>
            <a:srgbClr val="143148"/>
          </a:solidFill>
          <a:ln/>
        </p:spPr>
        <p:txBody>
          <a:bodyPr/>
          <a:lstStyle/>
          <a:p>
            <a:endParaRPr lang="en-JO"/>
          </a:p>
        </p:txBody>
      </p:sp>
      <p:sp>
        <p:nvSpPr>
          <p:cNvPr id="36" name="Text 34"/>
          <p:cNvSpPr/>
          <p:nvPr/>
        </p:nvSpPr>
        <p:spPr>
          <a:xfrm>
            <a:off x="777240" y="5440680"/>
            <a:ext cx="10607040" cy="868680"/>
          </a:xfrm>
          <a:prstGeom prst="rect">
            <a:avLst/>
          </a:prstGeom>
          <a:noFill/>
          <a:ln/>
        </p:spPr>
        <p:txBody>
          <a:bodyPr wrap="square" rtlCol="0" anchor="ctr"/>
          <a:lstStyle/>
          <a:p>
            <a:pPr marL="0" indent="0">
              <a:buNone/>
            </a:pPr>
            <a:r>
              <a:rPr lang="en-US" sz="1250" b="1" dirty="0">
                <a:solidFill>
                  <a:srgbClr val="EEBE51"/>
                </a:solidFill>
                <a:latin typeface="Calibri" pitchFamily="34" charset="0"/>
                <a:ea typeface="Calibri" pitchFamily="34" charset="-122"/>
                <a:cs typeface="Calibri" pitchFamily="34" charset="-120"/>
              </a:rPr>
              <a:t>Two surfaces, one model.  </a:t>
            </a:r>
            <a:r>
              <a:rPr lang="en-US" sz="1250" dirty="0">
                <a:solidFill>
                  <a:srgbClr val="FFFFFF"/>
                </a:solidFill>
                <a:latin typeface="Calibri" pitchFamily="34" charset="0"/>
                <a:ea typeface="Calibri" pitchFamily="34" charset="-122"/>
                <a:cs typeface="Calibri" pitchFamily="34" charset="-120"/>
              </a:rPr>
              <a:t>The household app and the investor dashboard read the same trained model and the same cleaned dataset — so they can never disagree.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03 · THE DATA</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Where the Data Comes From</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6</a:t>
            </a:r>
            <a:endParaRPr lang="en-US" sz="1000" dirty="0"/>
          </a:p>
        </p:txBody>
      </p:sp>
      <p:sp>
        <p:nvSpPr>
          <p:cNvPr id="7" name="Text 5"/>
          <p:cNvSpPr/>
          <p:nvPr/>
        </p:nvSpPr>
        <p:spPr>
          <a:xfrm>
            <a:off x="502920" y="1298448"/>
            <a:ext cx="10515600" cy="365760"/>
          </a:xfrm>
          <a:prstGeom prst="rect">
            <a:avLst/>
          </a:prstGeom>
          <a:noFill/>
          <a:ln/>
        </p:spPr>
        <p:txBody>
          <a:bodyPr wrap="square"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NASA POWER — satellite weather and solar data for any point on Earth, used across 2020–2025.</a:t>
            </a:r>
            <a:endParaRPr lang="en-US" sz="1300" dirty="0"/>
          </a:p>
        </p:txBody>
      </p:sp>
      <p:sp>
        <p:nvSpPr>
          <p:cNvPr id="8" name="Shape 6"/>
          <p:cNvSpPr/>
          <p:nvPr/>
        </p:nvSpPr>
        <p:spPr>
          <a:xfrm>
            <a:off x="502920" y="1783080"/>
            <a:ext cx="2590038" cy="1143000"/>
          </a:xfrm>
          <a:prstGeom prst="roundRect">
            <a:avLst>
              <a:gd name="adj" fmla="val 6400"/>
            </a:avLst>
          </a:prstGeom>
          <a:solidFill>
            <a:srgbClr val="EBEBEB"/>
          </a:solidFill>
          <a:ln/>
        </p:spPr>
        <p:txBody>
          <a:bodyPr/>
          <a:lstStyle/>
          <a:p>
            <a:endParaRPr lang="en-JO"/>
          </a:p>
        </p:txBody>
      </p:sp>
      <p:sp>
        <p:nvSpPr>
          <p:cNvPr id="9" name="Text 7"/>
          <p:cNvSpPr/>
          <p:nvPr/>
        </p:nvSpPr>
        <p:spPr>
          <a:xfrm>
            <a:off x="502920" y="1874520"/>
            <a:ext cx="2590038" cy="502920"/>
          </a:xfrm>
          <a:prstGeom prst="rect">
            <a:avLst/>
          </a:prstGeom>
          <a:noFill/>
          <a:ln/>
        </p:spPr>
        <p:txBody>
          <a:bodyPr wrap="square" rtlCol="0" anchor="ctr"/>
          <a:lstStyle/>
          <a:p>
            <a:pPr marL="0" indent="0" algn="ctr">
              <a:buNone/>
            </a:pPr>
            <a:r>
              <a:rPr lang="en-US" sz="2600" b="1" dirty="0">
                <a:solidFill>
                  <a:srgbClr val="CA8F24"/>
                </a:solidFill>
                <a:latin typeface="Cambria" pitchFamily="34" charset="0"/>
                <a:ea typeface="Cambria" pitchFamily="34" charset="-122"/>
                <a:cs typeface="Cambria" pitchFamily="34" charset="-120"/>
              </a:rPr>
              <a:t>285,699</a:t>
            </a:r>
            <a:endParaRPr lang="en-US" sz="2600" dirty="0"/>
          </a:p>
        </p:txBody>
      </p:sp>
      <p:sp>
        <p:nvSpPr>
          <p:cNvPr id="10" name="Text 8"/>
          <p:cNvSpPr/>
          <p:nvPr/>
        </p:nvSpPr>
        <p:spPr>
          <a:xfrm>
            <a:off x="502920" y="2377440"/>
            <a:ext cx="2590038" cy="502920"/>
          </a:xfrm>
          <a:prstGeom prst="rect">
            <a:avLst/>
          </a:prstGeom>
          <a:noFill/>
          <a:ln/>
        </p:spPr>
        <p:txBody>
          <a:bodyPr wrap="square" rtlCol="0" anchor="ctr"/>
          <a:lstStyle/>
          <a:p>
            <a:pPr marL="0" indent="0" algn="ctr">
              <a:buNone/>
            </a:pPr>
            <a:r>
              <a:rPr lang="en-US" sz="1100" dirty="0">
                <a:solidFill>
                  <a:srgbClr val="6E6E6E"/>
                </a:solidFill>
                <a:latin typeface="Calibri" pitchFamily="34" charset="0"/>
                <a:ea typeface="Calibri" pitchFamily="34" charset="-122"/>
                <a:cs typeface="Calibri" pitchFamily="34" charset="-120"/>
              </a:rPr>
              <a:t>Records after cleaning</a:t>
            </a:r>
            <a:endParaRPr lang="en-US" sz="1100" dirty="0"/>
          </a:p>
        </p:txBody>
      </p:sp>
      <p:sp>
        <p:nvSpPr>
          <p:cNvPr id="11" name="Shape 9"/>
          <p:cNvSpPr/>
          <p:nvPr/>
        </p:nvSpPr>
        <p:spPr>
          <a:xfrm>
            <a:off x="3367278" y="1783080"/>
            <a:ext cx="2590038" cy="1143000"/>
          </a:xfrm>
          <a:prstGeom prst="roundRect">
            <a:avLst>
              <a:gd name="adj" fmla="val 6400"/>
            </a:avLst>
          </a:prstGeom>
          <a:solidFill>
            <a:srgbClr val="EBEBEB"/>
          </a:solidFill>
          <a:ln/>
        </p:spPr>
        <p:txBody>
          <a:bodyPr/>
          <a:lstStyle/>
          <a:p>
            <a:endParaRPr lang="en-JO"/>
          </a:p>
        </p:txBody>
      </p:sp>
      <p:sp>
        <p:nvSpPr>
          <p:cNvPr id="12" name="Text 10"/>
          <p:cNvSpPr/>
          <p:nvPr/>
        </p:nvSpPr>
        <p:spPr>
          <a:xfrm>
            <a:off x="3367278" y="1874520"/>
            <a:ext cx="2590038" cy="502920"/>
          </a:xfrm>
          <a:prstGeom prst="rect">
            <a:avLst/>
          </a:prstGeom>
          <a:noFill/>
          <a:ln/>
        </p:spPr>
        <p:txBody>
          <a:bodyPr wrap="square" rtlCol="0" anchor="ctr"/>
          <a:lstStyle/>
          <a:p>
            <a:pPr marL="0" indent="0" algn="ctr">
              <a:buNone/>
            </a:pPr>
            <a:r>
              <a:rPr lang="en-US" sz="2600" b="1" dirty="0">
                <a:solidFill>
                  <a:srgbClr val="CA8F24"/>
                </a:solidFill>
                <a:latin typeface="Cambria" pitchFamily="34" charset="0"/>
                <a:ea typeface="Cambria" pitchFamily="34" charset="-122"/>
                <a:cs typeface="Cambria" pitchFamily="34" charset="-120"/>
              </a:rPr>
              <a:t>131</a:t>
            </a:r>
            <a:endParaRPr lang="en-US" sz="2600" dirty="0"/>
          </a:p>
        </p:txBody>
      </p:sp>
      <p:sp>
        <p:nvSpPr>
          <p:cNvPr id="13" name="Text 11"/>
          <p:cNvSpPr/>
          <p:nvPr/>
        </p:nvSpPr>
        <p:spPr>
          <a:xfrm>
            <a:off x="3367278" y="2377440"/>
            <a:ext cx="2590038" cy="502920"/>
          </a:xfrm>
          <a:prstGeom prst="rect">
            <a:avLst/>
          </a:prstGeom>
          <a:noFill/>
          <a:ln/>
        </p:spPr>
        <p:txBody>
          <a:bodyPr wrap="square" rtlCol="0" anchor="ctr"/>
          <a:lstStyle/>
          <a:p>
            <a:pPr marL="0" indent="0" algn="ctr">
              <a:buNone/>
            </a:pPr>
            <a:r>
              <a:rPr lang="en-US" sz="1100" dirty="0">
                <a:solidFill>
                  <a:srgbClr val="6E6E6E"/>
                </a:solidFill>
                <a:latin typeface="Calibri" pitchFamily="34" charset="0"/>
                <a:ea typeface="Calibri" pitchFamily="34" charset="-122"/>
                <a:cs typeface="Calibri" pitchFamily="34" charset="-120"/>
              </a:rPr>
              <a:t>Locations across Jordan</a:t>
            </a:r>
            <a:endParaRPr lang="en-US" sz="1100" dirty="0"/>
          </a:p>
        </p:txBody>
      </p:sp>
      <p:sp>
        <p:nvSpPr>
          <p:cNvPr id="14" name="Shape 12"/>
          <p:cNvSpPr/>
          <p:nvPr/>
        </p:nvSpPr>
        <p:spPr>
          <a:xfrm>
            <a:off x="6231636" y="1783080"/>
            <a:ext cx="2590038" cy="1143000"/>
          </a:xfrm>
          <a:prstGeom prst="roundRect">
            <a:avLst>
              <a:gd name="adj" fmla="val 6400"/>
            </a:avLst>
          </a:prstGeom>
          <a:solidFill>
            <a:srgbClr val="EBEBEB"/>
          </a:solidFill>
          <a:ln/>
        </p:spPr>
        <p:txBody>
          <a:bodyPr/>
          <a:lstStyle/>
          <a:p>
            <a:endParaRPr lang="en-JO"/>
          </a:p>
        </p:txBody>
      </p:sp>
      <p:sp>
        <p:nvSpPr>
          <p:cNvPr id="15" name="Text 13"/>
          <p:cNvSpPr/>
          <p:nvPr/>
        </p:nvSpPr>
        <p:spPr>
          <a:xfrm>
            <a:off x="6231636" y="1874520"/>
            <a:ext cx="2590038" cy="502920"/>
          </a:xfrm>
          <a:prstGeom prst="rect">
            <a:avLst/>
          </a:prstGeom>
          <a:noFill/>
          <a:ln/>
        </p:spPr>
        <p:txBody>
          <a:bodyPr wrap="square" rtlCol="0" anchor="ctr"/>
          <a:lstStyle/>
          <a:p>
            <a:pPr marL="0" indent="0" algn="ctr">
              <a:buNone/>
            </a:pPr>
            <a:r>
              <a:rPr lang="en-US" sz="2600" b="1" dirty="0">
                <a:solidFill>
                  <a:srgbClr val="CA8F24"/>
                </a:solidFill>
                <a:latin typeface="Cambria" pitchFamily="34" charset="0"/>
                <a:ea typeface="Cambria" pitchFamily="34" charset="-122"/>
                <a:cs typeface="Cambria" pitchFamily="34" charset="-120"/>
              </a:rPr>
              <a:t>6</a:t>
            </a:r>
            <a:endParaRPr lang="en-US" sz="2600" dirty="0"/>
          </a:p>
        </p:txBody>
      </p:sp>
      <p:sp>
        <p:nvSpPr>
          <p:cNvPr id="16" name="Text 14"/>
          <p:cNvSpPr/>
          <p:nvPr/>
        </p:nvSpPr>
        <p:spPr>
          <a:xfrm>
            <a:off x="6231636" y="2377440"/>
            <a:ext cx="2590038" cy="502920"/>
          </a:xfrm>
          <a:prstGeom prst="rect">
            <a:avLst/>
          </a:prstGeom>
          <a:noFill/>
          <a:ln/>
        </p:spPr>
        <p:txBody>
          <a:bodyPr wrap="square" rtlCol="0" anchor="ctr"/>
          <a:lstStyle/>
          <a:p>
            <a:pPr marL="0" indent="0" algn="ctr">
              <a:buNone/>
            </a:pPr>
            <a:r>
              <a:rPr lang="en-US" sz="1100" dirty="0">
                <a:solidFill>
                  <a:srgbClr val="6E6E6E"/>
                </a:solidFill>
                <a:latin typeface="Calibri" pitchFamily="34" charset="0"/>
                <a:ea typeface="Calibri" pitchFamily="34" charset="-122"/>
                <a:cs typeface="Calibri" pitchFamily="34" charset="-120"/>
              </a:rPr>
              <a:t>Years · 2020–2025</a:t>
            </a:r>
            <a:endParaRPr lang="en-US" sz="1100" dirty="0"/>
          </a:p>
        </p:txBody>
      </p:sp>
      <p:sp>
        <p:nvSpPr>
          <p:cNvPr id="17" name="Shape 15"/>
          <p:cNvSpPr/>
          <p:nvPr/>
        </p:nvSpPr>
        <p:spPr>
          <a:xfrm>
            <a:off x="9095994" y="1783080"/>
            <a:ext cx="2590038" cy="1143000"/>
          </a:xfrm>
          <a:prstGeom prst="roundRect">
            <a:avLst>
              <a:gd name="adj" fmla="val 6400"/>
            </a:avLst>
          </a:prstGeom>
          <a:solidFill>
            <a:srgbClr val="EBEBEB"/>
          </a:solidFill>
          <a:ln/>
        </p:spPr>
        <p:txBody>
          <a:bodyPr/>
          <a:lstStyle/>
          <a:p>
            <a:endParaRPr lang="en-JO"/>
          </a:p>
        </p:txBody>
      </p:sp>
      <p:sp>
        <p:nvSpPr>
          <p:cNvPr id="18" name="Text 16"/>
          <p:cNvSpPr/>
          <p:nvPr/>
        </p:nvSpPr>
        <p:spPr>
          <a:xfrm>
            <a:off x="9095994" y="1874520"/>
            <a:ext cx="2590038" cy="502920"/>
          </a:xfrm>
          <a:prstGeom prst="rect">
            <a:avLst/>
          </a:prstGeom>
          <a:noFill/>
          <a:ln/>
        </p:spPr>
        <p:txBody>
          <a:bodyPr wrap="square" rtlCol="0" anchor="ctr"/>
          <a:lstStyle/>
          <a:p>
            <a:pPr marL="0" indent="0" algn="ctr">
              <a:buNone/>
            </a:pPr>
            <a:r>
              <a:rPr lang="en-US" sz="2600" b="1" dirty="0">
                <a:solidFill>
                  <a:srgbClr val="CA8F24"/>
                </a:solidFill>
                <a:latin typeface="Cambria" pitchFamily="34" charset="0"/>
                <a:ea typeface="Cambria" pitchFamily="34" charset="-122"/>
                <a:cs typeface="Cambria" pitchFamily="34" charset="-120"/>
              </a:rPr>
              <a:t>7</a:t>
            </a:r>
            <a:endParaRPr lang="en-US" sz="2600" dirty="0"/>
          </a:p>
        </p:txBody>
      </p:sp>
      <p:sp>
        <p:nvSpPr>
          <p:cNvPr id="19" name="Text 17"/>
          <p:cNvSpPr/>
          <p:nvPr/>
        </p:nvSpPr>
        <p:spPr>
          <a:xfrm>
            <a:off x="9095994" y="2377440"/>
            <a:ext cx="2590038" cy="502920"/>
          </a:xfrm>
          <a:prstGeom prst="rect">
            <a:avLst/>
          </a:prstGeom>
          <a:noFill/>
          <a:ln/>
        </p:spPr>
        <p:txBody>
          <a:bodyPr wrap="square" rtlCol="0" anchor="ctr"/>
          <a:lstStyle/>
          <a:p>
            <a:pPr marL="0" indent="0" algn="ctr">
              <a:buNone/>
            </a:pPr>
            <a:r>
              <a:rPr lang="en-US" sz="1100" dirty="0">
                <a:solidFill>
                  <a:srgbClr val="6E6E6E"/>
                </a:solidFill>
                <a:latin typeface="Calibri" pitchFamily="34" charset="0"/>
                <a:ea typeface="Calibri" pitchFamily="34" charset="-122"/>
                <a:cs typeface="Calibri" pitchFamily="34" charset="-120"/>
              </a:rPr>
              <a:t>Weather variables per day</a:t>
            </a:r>
            <a:endParaRPr lang="en-US" sz="1100" dirty="0"/>
          </a:p>
        </p:txBody>
      </p:sp>
      <p:sp>
        <p:nvSpPr>
          <p:cNvPr id="20" name="Text 18"/>
          <p:cNvSpPr/>
          <p:nvPr/>
        </p:nvSpPr>
        <p:spPr>
          <a:xfrm>
            <a:off x="502920" y="3200400"/>
            <a:ext cx="5486400" cy="274320"/>
          </a:xfrm>
          <a:prstGeom prst="rect">
            <a:avLst/>
          </a:prstGeom>
          <a:noFill/>
          <a:ln/>
        </p:spPr>
        <p:txBody>
          <a:bodyPr wrap="square" rtlCol="0" anchor="ctr"/>
          <a:lstStyle/>
          <a:p>
            <a:pPr marL="0" indent="0">
              <a:buNone/>
            </a:pPr>
            <a:r>
              <a:rPr lang="en-US" sz="1200" b="1" dirty="0">
                <a:solidFill>
                  <a:srgbClr val="CA8F24"/>
                </a:solidFill>
                <a:latin typeface="Calibri" pitchFamily="34" charset="0"/>
                <a:ea typeface="Calibri" pitchFamily="34" charset="-122"/>
                <a:cs typeface="Calibri" pitchFamily="34" charset="-120"/>
              </a:rPr>
              <a:t>WHY WE CHOSE IT</a:t>
            </a:r>
            <a:endParaRPr lang="en-US" sz="1200" dirty="0"/>
          </a:p>
        </p:txBody>
      </p:sp>
      <p:sp>
        <p:nvSpPr>
          <p:cNvPr id="21" name="Text 19"/>
          <p:cNvSpPr/>
          <p:nvPr/>
        </p:nvSpPr>
        <p:spPr>
          <a:xfrm>
            <a:off x="502920" y="3520440"/>
            <a:ext cx="5669280" cy="2194560"/>
          </a:xfrm>
          <a:prstGeom prst="rect">
            <a:avLst/>
          </a:prstGeom>
          <a:noFill/>
          <a:ln/>
        </p:spPr>
        <p:txBody>
          <a:bodyPr wrap="square" rtlCol="0" anchor="t"/>
          <a:lstStyle/>
          <a:p>
            <a:pPr marL="228600" indent="-228600">
              <a:lnSpc>
                <a:spcPts val="1625"/>
              </a:lnSpc>
              <a:spcAft>
                <a:spcPts val="1000"/>
              </a:spcAft>
              <a:buSzPct val="100000"/>
              <a:buChar char="●"/>
            </a:pPr>
            <a:r>
              <a:rPr lang="en-US" sz="1250" dirty="0">
                <a:solidFill>
                  <a:srgbClr val="414141"/>
                </a:solidFill>
                <a:latin typeface="Calibri" pitchFamily="34" charset="0"/>
                <a:ea typeface="Calibri" pitchFamily="34" charset="-122"/>
                <a:cs typeface="Calibri" pitchFamily="34" charset="-120"/>
              </a:rPr>
              <a:t>Covers every coordinate in Jordan — not just a few weather stations.</a:t>
            </a:r>
            <a:endParaRPr lang="en-US" sz="1250" dirty="0"/>
          </a:p>
          <a:p>
            <a:pPr marL="228600" indent="-228600">
              <a:lnSpc>
                <a:spcPts val="1625"/>
              </a:lnSpc>
              <a:spcAft>
                <a:spcPts val="1000"/>
              </a:spcAft>
              <a:buSzPct val="100000"/>
              <a:buChar char="●"/>
            </a:pPr>
            <a:r>
              <a:rPr lang="en-US" sz="1250" dirty="0">
                <a:solidFill>
                  <a:srgbClr val="414141"/>
                </a:solidFill>
                <a:latin typeface="Calibri" pitchFamily="34" charset="0"/>
                <a:ea typeface="Calibri" pitchFamily="34" charset="-122"/>
                <a:cs typeface="Calibri" pitchFamily="34" charset="-120"/>
              </a:rPr>
              <a:t>Gives the same variables at prediction time as it did at training time.</a:t>
            </a:r>
            <a:endParaRPr lang="en-US" sz="1250" dirty="0"/>
          </a:p>
          <a:p>
            <a:pPr marL="228600" indent="-228600">
              <a:lnSpc>
                <a:spcPts val="1625"/>
              </a:lnSpc>
              <a:spcAft>
                <a:spcPts val="1000"/>
              </a:spcAft>
              <a:buSzPct val="100000"/>
              <a:buChar char="●"/>
            </a:pPr>
            <a:r>
              <a:rPr lang="en-US" sz="1250" dirty="0">
                <a:solidFill>
                  <a:srgbClr val="414141"/>
                </a:solidFill>
                <a:latin typeface="Calibri" pitchFamily="34" charset="0"/>
                <a:ea typeface="Calibri" pitchFamily="34" charset="-122"/>
                <a:cs typeface="Calibri" pitchFamily="34" charset="-120"/>
              </a:rPr>
              <a:t>Free, well documented, and needs no registration; a regular grid, so no district is favoured.</a:t>
            </a:r>
            <a:endParaRPr lang="en-US" sz="1250" dirty="0"/>
          </a:p>
        </p:txBody>
      </p:sp>
      <p:sp>
        <p:nvSpPr>
          <p:cNvPr id="22" name="Shape 20"/>
          <p:cNvSpPr/>
          <p:nvPr/>
        </p:nvSpPr>
        <p:spPr>
          <a:xfrm>
            <a:off x="6446520" y="3200400"/>
            <a:ext cx="5239512" cy="2560320"/>
          </a:xfrm>
          <a:prstGeom prst="roundRect">
            <a:avLst>
              <a:gd name="adj" fmla="val 2857"/>
            </a:avLst>
          </a:prstGeom>
          <a:solidFill>
            <a:srgbClr val="F5F5F5"/>
          </a:solidFill>
          <a:ln/>
        </p:spPr>
        <p:txBody>
          <a:bodyPr/>
          <a:lstStyle/>
          <a:p>
            <a:endParaRPr lang="en-JO"/>
          </a:p>
        </p:txBody>
      </p:sp>
      <p:sp>
        <p:nvSpPr>
          <p:cNvPr id="23" name="Text 21"/>
          <p:cNvSpPr/>
          <p:nvPr/>
        </p:nvSpPr>
        <p:spPr>
          <a:xfrm>
            <a:off x="6720840" y="3383280"/>
            <a:ext cx="4754880" cy="274320"/>
          </a:xfrm>
          <a:prstGeom prst="rect">
            <a:avLst/>
          </a:prstGeom>
          <a:noFill/>
          <a:ln/>
        </p:spPr>
        <p:txBody>
          <a:bodyPr wrap="square" rtlCol="0" anchor="ctr"/>
          <a:lstStyle/>
          <a:p>
            <a:pPr marL="0" indent="0">
              <a:buNone/>
            </a:pPr>
            <a:r>
              <a:rPr lang="en-US" sz="1200" b="1" dirty="0">
                <a:solidFill>
                  <a:srgbClr val="CA8F24"/>
                </a:solidFill>
                <a:latin typeface="Calibri" pitchFamily="34" charset="0"/>
                <a:ea typeface="Calibri" pitchFamily="34" charset="-122"/>
                <a:cs typeface="Calibri" pitchFamily="34" charset="-120"/>
              </a:rPr>
              <a:t>THE SEVEN VARIABLES</a:t>
            </a:r>
            <a:endParaRPr lang="en-US" sz="1200" dirty="0"/>
          </a:p>
        </p:txBody>
      </p:sp>
      <p:sp>
        <p:nvSpPr>
          <p:cNvPr id="24" name="Text 22"/>
          <p:cNvSpPr/>
          <p:nvPr/>
        </p:nvSpPr>
        <p:spPr>
          <a:xfrm>
            <a:off x="6720840" y="3749040"/>
            <a:ext cx="4754880" cy="822960"/>
          </a:xfrm>
          <a:prstGeom prst="rect">
            <a:avLst/>
          </a:prstGeom>
          <a:noFill/>
          <a:ln/>
        </p:spPr>
        <p:txBody>
          <a:bodyPr wrap="square" rtlCol="0" anchor="ctr"/>
          <a:lstStyle/>
          <a:p>
            <a:pPr marL="0" indent="0">
              <a:lnSpc>
                <a:spcPts val="2200"/>
              </a:lnSpc>
              <a:buNone/>
            </a:pPr>
            <a:r>
              <a:rPr lang="en-US" sz="1300" dirty="0">
                <a:solidFill>
                  <a:srgbClr val="414141"/>
                </a:solidFill>
                <a:latin typeface="Calibri" pitchFamily="34" charset="0"/>
                <a:ea typeface="Calibri" pitchFamily="34" charset="-122"/>
                <a:cs typeface="Calibri" pitchFamily="34" charset="-120"/>
              </a:rPr>
              <a:t>Sunlight  ·  Clear-sky sunlight  ·  Cloud cover</a:t>
            </a:r>
            <a:endParaRPr lang="en-US" sz="1300" dirty="0"/>
          </a:p>
          <a:p>
            <a:pPr marL="0" indent="0">
              <a:lnSpc>
                <a:spcPts val="2200"/>
              </a:lnSpc>
              <a:buNone/>
            </a:pPr>
            <a:r>
              <a:rPr lang="en-US" sz="1300" dirty="0">
                <a:solidFill>
                  <a:srgbClr val="414141"/>
                </a:solidFill>
                <a:latin typeface="Calibri" pitchFamily="34" charset="0"/>
                <a:ea typeface="Calibri" pitchFamily="34" charset="-122"/>
                <a:cs typeface="Calibri" pitchFamily="34" charset="-120"/>
              </a:rPr>
              <a:t>Temperature  ·  Humidity  ·  Wind  ·  Rainfall</a:t>
            </a:r>
            <a:endParaRPr lang="en-US" sz="1300" dirty="0"/>
          </a:p>
        </p:txBody>
      </p:sp>
      <p:sp>
        <p:nvSpPr>
          <p:cNvPr id="25" name="Text 23"/>
          <p:cNvSpPr/>
          <p:nvPr/>
        </p:nvSpPr>
        <p:spPr>
          <a:xfrm>
            <a:off x="6720840" y="4617720"/>
            <a:ext cx="4754880" cy="1005840"/>
          </a:xfrm>
          <a:prstGeom prst="rect">
            <a:avLst/>
          </a:prstGeom>
          <a:noFill/>
          <a:ln/>
        </p:spPr>
        <p:txBody>
          <a:bodyPr wrap="square" rtlCol="0" anchor="t"/>
          <a:lstStyle/>
          <a:p>
            <a:pPr marL="0" indent="0">
              <a:buNone/>
            </a:pPr>
            <a:r>
              <a:rPr lang="en-US" sz="1100" i="1" dirty="0">
                <a:solidFill>
                  <a:srgbClr val="6E6E6E"/>
                </a:solidFill>
                <a:latin typeface="Calibri" pitchFamily="34" charset="0"/>
                <a:ea typeface="Calibri" pitchFamily="34" charset="-122"/>
                <a:cs typeface="Calibri" pitchFamily="34" charset="-120"/>
              </a:rPr>
              <a:t>Addresses are handled too — OpenStreetMap Nominatim converts a typed address into coordinates and confirms the point falls inside Jordan.</a:t>
            </a:r>
            <a:endParaRPr lang="en-US" sz="1100" dirty="0"/>
          </a:p>
        </p:txBody>
      </p:sp>
      <p:sp>
        <p:nvSpPr>
          <p:cNvPr id="26" name="Text 24"/>
          <p:cNvSpPr/>
          <p:nvPr/>
        </p:nvSpPr>
        <p:spPr>
          <a:xfrm>
            <a:off x="502920" y="5897880"/>
            <a:ext cx="11155680" cy="502920"/>
          </a:xfrm>
          <a:prstGeom prst="rect">
            <a:avLst/>
          </a:prstGeom>
          <a:noFill/>
          <a:ln/>
        </p:spPr>
        <p:txBody>
          <a:bodyPr wrap="square" rtlCol="0" anchor="ctr"/>
          <a:lstStyle/>
          <a:p>
            <a:pPr marL="0" indent="0">
              <a:buNone/>
            </a:pPr>
            <a:r>
              <a:rPr lang="en-US" sz="1050" dirty="0">
                <a:solidFill>
                  <a:srgbClr val="6E6E6E"/>
                </a:solidFill>
                <a:latin typeface="Calibri" pitchFamily="34" charset="0"/>
                <a:ea typeface="Calibri" pitchFamily="34" charset="-122"/>
                <a:cs typeface="Calibri" pitchFamily="34" charset="-120"/>
              </a:rPr>
              <a:t>Data used in the project covers 2020–2025. The dashboard summarizes the collected data through geographic locations, districts and solar-resource indicators.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03 · THE DATA</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What Does One Row Represent?</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8</a:t>
            </a:r>
            <a:endParaRPr lang="en-US" sz="1000" dirty="0"/>
          </a:p>
        </p:txBody>
      </p:sp>
      <p:sp>
        <p:nvSpPr>
          <p:cNvPr id="7" name="Shape 5"/>
          <p:cNvSpPr/>
          <p:nvPr/>
        </p:nvSpPr>
        <p:spPr>
          <a:xfrm>
            <a:off x="502920" y="1691640"/>
            <a:ext cx="5440680" cy="4160520"/>
          </a:xfrm>
          <a:prstGeom prst="roundRect">
            <a:avLst>
              <a:gd name="adj" fmla="val 1758"/>
            </a:avLst>
          </a:prstGeom>
          <a:solidFill>
            <a:srgbClr val="F5F5F5"/>
          </a:solidFill>
          <a:ln/>
        </p:spPr>
        <p:txBody>
          <a:bodyPr/>
          <a:lstStyle/>
          <a:p>
            <a:endParaRPr lang="en-JO"/>
          </a:p>
        </p:txBody>
      </p:sp>
      <p:sp>
        <p:nvSpPr>
          <p:cNvPr id="8" name="Text 6"/>
          <p:cNvSpPr/>
          <p:nvPr/>
        </p:nvSpPr>
        <p:spPr>
          <a:xfrm>
            <a:off x="777240" y="1920240"/>
            <a:ext cx="4937760" cy="274320"/>
          </a:xfrm>
          <a:prstGeom prst="rect">
            <a:avLst/>
          </a:prstGeom>
          <a:noFill/>
          <a:ln/>
        </p:spPr>
        <p:txBody>
          <a:bodyPr wrap="square" rtlCol="0" anchor="ctr"/>
          <a:lstStyle/>
          <a:p>
            <a:pPr marL="0" indent="0">
              <a:buNone/>
            </a:pPr>
            <a:r>
              <a:rPr lang="en-US" sz="1200" b="1" dirty="0">
                <a:solidFill>
                  <a:srgbClr val="CA8F24"/>
                </a:solidFill>
                <a:latin typeface="Calibri" pitchFamily="34" charset="0"/>
                <a:ea typeface="Calibri" pitchFamily="34" charset="-122"/>
                <a:cs typeface="Calibri" pitchFamily="34" charset="-120"/>
              </a:rPr>
              <a:t>DATA STRUCTURE</a:t>
            </a:r>
            <a:endParaRPr lang="en-US" sz="1200" dirty="0"/>
          </a:p>
        </p:txBody>
      </p:sp>
      <p:sp>
        <p:nvSpPr>
          <p:cNvPr id="9" name="Text 7"/>
          <p:cNvSpPr/>
          <p:nvPr/>
        </p:nvSpPr>
        <p:spPr>
          <a:xfrm>
            <a:off x="777240" y="2286000"/>
            <a:ext cx="4892040" cy="3383280"/>
          </a:xfrm>
          <a:prstGeom prst="rect">
            <a:avLst/>
          </a:prstGeom>
          <a:noFill/>
          <a:ln/>
        </p:spPr>
        <p:txBody>
          <a:bodyPr wrap="square" rtlCol="0" anchor="t"/>
          <a:lstStyle/>
          <a:p>
            <a:pPr marL="228600" indent="-228600">
              <a:lnSpc>
                <a:spcPts val="1690"/>
              </a:lnSpc>
              <a:spcAft>
                <a:spcPts val="1400"/>
              </a:spcAft>
              <a:buSzPct val="100000"/>
              <a:buChar char="●"/>
            </a:pPr>
            <a:r>
              <a:rPr lang="en-US" sz="1300" dirty="0">
                <a:solidFill>
                  <a:srgbClr val="414141"/>
                </a:solidFill>
                <a:latin typeface="Calibri" pitchFamily="34" charset="0"/>
                <a:ea typeface="Calibri" pitchFamily="34" charset="-122"/>
                <a:cs typeface="Calibri" pitchFamily="34" charset="-120"/>
              </a:rPr>
              <a:t>One row represents one day of weather data at one geographic location.</a:t>
            </a:r>
            <a:endParaRPr lang="en-US" sz="1300" dirty="0"/>
          </a:p>
          <a:p>
            <a:pPr marL="228600" indent="-228600">
              <a:lnSpc>
                <a:spcPts val="1690"/>
              </a:lnSpc>
              <a:spcAft>
                <a:spcPts val="1400"/>
              </a:spcAft>
              <a:buSzPct val="100000"/>
              <a:buChar char="●"/>
            </a:pPr>
            <a:r>
              <a:rPr lang="en-US" sz="1300" dirty="0">
                <a:solidFill>
                  <a:srgbClr val="414141"/>
                </a:solidFill>
                <a:latin typeface="Calibri" pitchFamily="34" charset="0"/>
                <a:ea typeface="Calibri" pitchFamily="34" charset="-122"/>
                <a:cs typeface="Calibri" pitchFamily="34" charset="-120"/>
              </a:rPr>
              <a:t>Each record contains latitude, longitude and elevation information.</a:t>
            </a:r>
            <a:endParaRPr lang="en-US" sz="1300" dirty="0"/>
          </a:p>
          <a:p>
            <a:pPr marL="228600" indent="-228600">
              <a:lnSpc>
                <a:spcPts val="1690"/>
              </a:lnSpc>
              <a:spcAft>
                <a:spcPts val="1400"/>
              </a:spcAft>
              <a:buSzPct val="100000"/>
              <a:buChar char="●"/>
            </a:pPr>
            <a:r>
              <a:rPr lang="en-US" sz="1300" dirty="0">
                <a:solidFill>
                  <a:srgbClr val="414141"/>
                </a:solidFill>
                <a:latin typeface="Calibri" pitchFamily="34" charset="0"/>
                <a:ea typeface="Calibri" pitchFamily="34" charset="-122"/>
                <a:cs typeface="Calibri" pitchFamily="34" charset="-120"/>
              </a:rPr>
              <a:t>The dataset contains daily observations from 2020 to 2025.</a:t>
            </a:r>
            <a:endParaRPr lang="en-US" sz="1300" dirty="0"/>
          </a:p>
          <a:p>
            <a:pPr marL="228600" indent="-228600">
              <a:lnSpc>
                <a:spcPts val="1690"/>
              </a:lnSpc>
              <a:spcAft>
                <a:spcPts val="1400"/>
              </a:spcAft>
              <a:buSzPct val="100000"/>
              <a:buChar char="●"/>
            </a:pPr>
            <a:r>
              <a:rPr lang="en-US" sz="1300" dirty="0">
                <a:solidFill>
                  <a:srgbClr val="414141"/>
                </a:solidFill>
                <a:latin typeface="Calibri" pitchFamily="34" charset="0"/>
                <a:ea typeface="Calibri" pitchFamily="34" charset="-122"/>
                <a:cs typeface="Calibri" pitchFamily="34" charset="-120"/>
              </a:rPr>
              <a:t>The raw NASA POWER parameter codes were renamed into plain-language column names.</a:t>
            </a:r>
            <a:endParaRPr lang="en-US" sz="1300" dirty="0"/>
          </a:p>
        </p:txBody>
      </p:sp>
      <p:sp>
        <p:nvSpPr>
          <p:cNvPr id="10" name="Shape 8"/>
          <p:cNvSpPr/>
          <p:nvPr/>
        </p:nvSpPr>
        <p:spPr>
          <a:xfrm>
            <a:off x="6245352" y="1691640"/>
            <a:ext cx="5440680" cy="4160520"/>
          </a:xfrm>
          <a:prstGeom prst="roundRect">
            <a:avLst>
              <a:gd name="adj" fmla="val 1758"/>
            </a:avLst>
          </a:prstGeom>
          <a:solidFill>
            <a:srgbClr val="F5F5F5"/>
          </a:solidFill>
          <a:ln/>
        </p:spPr>
        <p:txBody>
          <a:bodyPr/>
          <a:lstStyle/>
          <a:p>
            <a:endParaRPr lang="en-JO"/>
          </a:p>
        </p:txBody>
      </p:sp>
      <p:sp>
        <p:nvSpPr>
          <p:cNvPr id="11" name="Text 9"/>
          <p:cNvSpPr/>
          <p:nvPr/>
        </p:nvSpPr>
        <p:spPr>
          <a:xfrm>
            <a:off x="6519672" y="1920240"/>
            <a:ext cx="4937760" cy="274320"/>
          </a:xfrm>
          <a:prstGeom prst="rect">
            <a:avLst/>
          </a:prstGeom>
          <a:noFill/>
          <a:ln/>
        </p:spPr>
        <p:txBody>
          <a:bodyPr wrap="square" rtlCol="0" anchor="ctr"/>
          <a:lstStyle/>
          <a:p>
            <a:pPr marL="0" indent="0">
              <a:buNone/>
            </a:pPr>
            <a:r>
              <a:rPr lang="en-US" sz="1200" b="1" dirty="0">
                <a:solidFill>
                  <a:srgbClr val="CA8F24"/>
                </a:solidFill>
                <a:latin typeface="Calibri" pitchFamily="34" charset="0"/>
                <a:ea typeface="Calibri" pitchFamily="34" charset="-122"/>
                <a:cs typeface="Calibri" pitchFamily="34" charset="-120"/>
              </a:rPr>
              <a:t>MAIN WEATHER VARIABLES</a:t>
            </a:r>
            <a:endParaRPr lang="en-US" sz="1200" dirty="0"/>
          </a:p>
        </p:txBody>
      </p:sp>
      <p:sp>
        <p:nvSpPr>
          <p:cNvPr id="12" name="Shape 10"/>
          <p:cNvSpPr/>
          <p:nvPr/>
        </p:nvSpPr>
        <p:spPr>
          <a:xfrm>
            <a:off x="6519672" y="2331720"/>
            <a:ext cx="4892040" cy="384048"/>
          </a:xfrm>
          <a:prstGeom prst="roundRect">
            <a:avLst>
              <a:gd name="adj" fmla="val 11905"/>
            </a:avLst>
          </a:prstGeom>
          <a:solidFill>
            <a:srgbClr val="FFFFFF"/>
          </a:solidFill>
          <a:ln/>
        </p:spPr>
        <p:txBody>
          <a:bodyPr/>
          <a:lstStyle/>
          <a:p>
            <a:endParaRPr lang="en-JO"/>
          </a:p>
        </p:txBody>
      </p:sp>
      <p:sp>
        <p:nvSpPr>
          <p:cNvPr id="13" name="Text 11"/>
          <p:cNvSpPr/>
          <p:nvPr/>
        </p:nvSpPr>
        <p:spPr>
          <a:xfrm>
            <a:off x="6702552" y="2331720"/>
            <a:ext cx="4572000" cy="384048"/>
          </a:xfrm>
          <a:prstGeom prst="rect">
            <a:avLst/>
          </a:prstGeom>
          <a:noFill/>
          <a:ln/>
        </p:spPr>
        <p:txBody>
          <a:bodyPr wrap="square" rtlCol="0" anchor="ctr"/>
          <a:lstStyle/>
          <a:p>
            <a:pPr marL="0" indent="0">
              <a:buNone/>
            </a:pPr>
            <a:r>
              <a:rPr lang="en-US" sz="1250" b="1" dirty="0">
                <a:solidFill>
                  <a:srgbClr val="143148"/>
                </a:solidFill>
                <a:latin typeface="Calibri" pitchFamily="34" charset="0"/>
                <a:ea typeface="Calibri" pitchFamily="34" charset="-122"/>
                <a:cs typeface="Calibri" pitchFamily="34" charset="-120"/>
              </a:rPr>
              <a:t>Solar irradiance</a:t>
            </a:r>
            <a:endParaRPr lang="en-US" sz="1250" dirty="0"/>
          </a:p>
        </p:txBody>
      </p:sp>
      <p:sp>
        <p:nvSpPr>
          <p:cNvPr id="14" name="Shape 12"/>
          <p:cNvSpPr/>
          <p:nvPr/>
        </p:nvSpPr>
        <p:spPr>
          <a:xfrm>
            <a:off x="6519672" y="2788920"/>
            <a:ext cx="4892040" cy="384048"/>
          </a:xfrm>
          <a:prstGeom prst="roundRect">
            <a:avLst>
              <a:gd name="adj" fmla="val 11905"/>
            </a:avLst>
          </a:prstGeom>
          <a:solidFill>
            <a:srgbClr val="FFFFFF"/>
          </a:solidFill>
          <a:ln/>
        </p:spPr>
        <p:txBody>
          <a:bodyPr/>
          <a:lstStyle/>
          <a:p>
            <a:endParaRPr lang="en-JO"/>
          </a:p>
        </p:txBody>
      </p:sp>
      <p:sp>
        <p:nvSpPr>
          <p:cNvPr id="15" name="Text 13"/>
          <p:cNvSpPr/>
          <p:nvPr/>
        </p:nvSpPr>
        <p:spPr>
          <a:xfrm>
            <a:off x="6702552" y="2788920"/>
            <a:ext cx="4572000" cy="384048"/>
          </a:xfrm>
          <a:prstGeom prst="rect">
            <a:avLst/>
          </a:prstGeom>
          <a:noFill/>
          <a:ln/>
        </p:spPr>
        <p:txBody>
          <a:bodyPr wrap="square" rtlCol="0" anchor="ctr"/>
          <a:lstStyle/>
          <a:p>
            <a:pPr marL="0" indent="0">
              <a:buNone/>
            </a:pPr>
            <a:r>
              <a:rPr lang="en-US" sz="1250" b="1" dirty="0">
                <a:solidFill>
                  <a:srgbClr val="143148"/>
                </a:solidFill>
                <a:latin typeface="Calibri" pitchFamily="34" charset="0"/>
                <a:ea typeface="Calibri" pitchFamily="34" charset="-122"/>
                <a:cs typeface="Calibri" pitchFamily="34" charset="-120"/>
              </a:rPr>
              <a:t>Clear-sky irradiance</a:t>
            </a:r>
            <a:endParaRPr lang="en-US" sz="1250" dirty="0"/>
          </a:p>
        </p:txBody>
      </p:sp>
      <p:sp>
        <p:nvSpPr>
          <p:cNvPr id="16" name="Shape 14"/>
          <p:cNvSpPr/>
          <p:nvPr/>
        </p:nvSpPr>
        <p:spPr>
          <a:xfrm>
            <a:off x="6519672" y="3246120"/>
            <a:ext cx="4892040" cy="384048"/>
          </a:xfrm>
          <a:prstGeom prst="roundRect">
            <a:avLst>
              <a:gd name="adj" fmla="val 11905"/>
            </a:avLst>
          </a:prstGeom>
          <a:solidFill>
            <a:srgbClr val="FFFFFF"/>
          </a:solidFill>
          <a:ln/>
        </p:spPr>
        <p:txBody>
          <a:bodyPr/>
          <a:lstStyle/>
          <a:p>
            <a:endParaRPr lang="en-JO"/>
          </a:p>
        </p:txBody>
      </p:sp>
      <p:sp>
        <p:nvSpPr>
          <p:cNvPr id="17" name="Text 15"/>
          <p:cNvSpPr/>
          <p:nvPr/>
        </p:nvSpPr>
        <p:spPr>
          <a:xfrm>
            <a:off x="6702552" y="3246120"/>
            <a:ext cx="4572000" cy="384048"/>
          </a:xfrm>
          <a:prstGeom prst="rect">
            <a:avLst/>
          </a:prstGeom>
          <a:noFill/>
          <a:ln/>
        </p:spPr>
        <p:txBody>
          <a:bodyPr wrap="square" rtlCol="0" anchor="ctr"/>
          <a:lstStyle/>
          <a:p>
            <a:pPr marL="0" indent="0">
              <a:buNone/>
            </a:pPr>
            <a:r>
              <a:rPr lang="en-US" sz="1250" b="1" dirty="0">
                <a:solidFill>
                  <a:srgbClr val="143148"/>
                </a:solidFill>
                <a:latin typeface="Calibri" pitchFamily="34" charset="0"/>
                <a:ea typeface="Calibri" pitchFamily="34" charset="-122"/>
                <a:cs typeface="Calibri" pitchFamily="34" charset="-120"/>
              </a:rPr>
              <a:t>Temperature</a:t>
            </a:r>
            <a:endParaRPr lang="en-US" sz="1250" dirty="0"/>
          </a:p>
        </p:txBody>
      </p:sp>
      <p:sp>
        <p:nvSpPr>
          <p:cNvPr id="18" name="Shape 16"/>
          <p:cNvSpPr/>
          <p:nvPr/>
        </p:nvSpPr>
        <p:spPr>
          <a:xfrm>
            <a:off x="6519672" y="3703320"/>
            <a:ext cx="4892040" cy="384048"/>
          </a:xfrm>
          <a:prstGeom prst="roundRect">
            <a:avLst>
              <a:gd name="adj" fmla="val 11905"/>
            </a:avLst>
          </a:prstGeom>
          <a:solidFill>
            <a:srgbClr val="FFFFFF"/>
          </a:solidFill>
          <a:ln/>
        </p:spPr>
        <p:txBody>
          <a:bodyPr/>
          <a:lstStyle/>
          <a:p>
            <a:endParaRPr lang="en-JO"/>
          </a:p>
        </p:txBody>
      </p:sp>
      <p:sp>
        <p:nvSpPr>
          <p:cNvPr id="19" name="Text 17"/>
          <p:cNvSpPr/>
          <p:nvPr/>
        </p:nvSpPr>
        <p:spPr>
          <a:xfrm>
            <a:off x="6702552" y="3703320"/>
            <a:ext cx="4572000" cy="384048"/>
          </a:xfrm>
          <a:prstGeom prst="rect">
            <a:avLst/>
          </a:prstGeom>
          <a:noFill/>
          <a:ln/>
        </p:spPr>
        <p:txBody>
          <a:bodyPr wrap="square" rtlCol="0" anchor="ctr"/>
          <a:lstStyle/>
          <a:p>
            <a:pPr marL="0" indent="0">
              <a:buNone/>
            </a:pPr>
            <a:r>
              <a:rPr lang="en-US" sz="1250" b="1" dirty="0">
                <a:solidFill>
                  <a:srgbClr val="143148"/>
                </a:solidFill>
                <a:latin typeface="Calibri" pitchFamily="34" charset="0"/>
                <a:ea typeface="Calibri" pitchFamily="34" charset="-122"/>
                <a:cs typeface="Calibri" pitchFamily="34" charset="-120"/>
              </a:rPr>
              <a:t>Humidity</a:t>
            </a:r>
            <a:endParaRPr lang="en-US" sz="1250" dirty="0"/>
          </a:p>
        </p:txBody>
      </p:sp>
      <p:sp>
        <p:nvSpPr>
          <p:cNvPr id="20" name="Shape 18"/>
          <p:cNvSpPr/>
          <p:nvPr/>
        </p:nvSpPr>
        <p:spPr>
          <a:xfrm>
            <a:off x="6519672" y="4160520"/>
            <a:ext cx="4892040" cy="384048"/>
          </a:xfrm>
          <a:prstGeom prst="roundRect">
            <a:avLst>
              <a:gd name="adj" fmla="val 11905"/>
            </a:avLst>
          </a:prstGeom>
          <a:solidFill>
            <a:srgbClr val="FFFFFF"/>
          </a:solidFill>
          <a:ln/>
        </p:spPr>
        <p:txBody>
          <a:bodyPr/>
          <a:lstStyle/>
          <a:p>
            <a:endParaRPr lang="en-JO"/>
          </a:p>
        </p:txBody>
      </p:sp>
      <p:sp>
        <p:nvSpPr>
          <p:cNvPr id="21" name="Text 19"/>
          <p:cNvSpPr/>
          <p:nvPr/>
        </p:nvSpPr>
        <p:spPr>
          <a:xfrm>
            <a:off x="6702552" y="4160520"/>
            <a:ext cx="4572000" cy="384048"/>
          </a:xfrm>
          <a:prstGeom prst="rect">
            <a:avLst/>
          </a:prstGeom>
          <a:noFill/>
          <a:ln/>
        </p:spPr>
        <p:txBody>
          <a:bodyPr wrap="square" rtlCol="0" anchor="ctr"/>
          <a:lstStyle/>
          <a:p>
            <a:pPr marL="0" indent="0">
              <a:buNone/>
            </a:pPr>
            <a:r>
              <a:rPr lang="en-US" sz="1250" b="1" dirty="0">
                <a:solidFill>
                  <a:srgbClr val="143148"/>
                </a:solidFill>
                <a:latin typeface="Calibri" pitchFamily="34" charset="0"/>
                <a:ea typeface="Calibri" pitchFamily="34" charset="-122"/>
                <a:cs typeface="Calibri" pitchFamily="34" charset="-120"/>
              </a:rPr>
              <a:t>Cloud cover</a:t>
            </a:r>
            <a:endParaRPr lang="en-US" sz="1250" dirty="0"/>
          </a:p>
        </p:txBody>
      </p:sp>
      <p:sp>
        <p:nvSpPr>
          <p:cNvPr id="22" name="Shape 20"/>
          <p:cNvSpPr/>
          <p:nvPr/>
        </p:nvSpPr>
        <p:spPr>
          <a:xfrm>
            <a:off x="6519672" y="4617720"/>
            <a:ext cx="4892040" cy="384048"/>
          </a:xfrm>
          <a:prstGeom prst="roundRect">
            <a:avLst>
              <a:gd name="adj" fmla="val 11905"/>
            </a:avLst>
          </a:prstGeom>
          <a:solidFill>
            <a:srgbClr val="FFFFFF"/>
          </a:solidFill>
          <a:ln/>
        </p:spPr>
        <p:txBody>
          <a:bodyPr/>
          <a:lstStyle/>
          <a:p>
            <a:endParaRPr lang="en-JO"/>
          </a:p>
        </p:txBody>
      </p:sp>
      <p:sp>
        <p:nvSpPr>
          <p:cNvPr id="23" name="Text 21"/>
          <p:cNvSpPr/>
          <p:nvPr/>
        </p:nvSpPr>
        <p:spPr>
          <a:xfrm>
            <a:off x="6702552" y="4617720"/>
            <a:ext cx="4572000" cy="384048"/>
          </a:xfrm>
          <a:prstGeom prst="rect">
            <a:avLst/>
          </a:prstGeom>
          <a:noFill/>
          <a:ln/>
        </p:spPr>
        <p:txBody>
          <a:bodyPr wrap="square" rtlCol="0" anchor="ctr"/>
          <a:lstStyle/>
          <a:p>
            <a:pPr marL="0" indent="0">
              <a:buNone/>
            </a:pPr>
            <a:r>
              <a:rPr lang="en-US" sz="1250" b="1" dirty="0">
                <a:solidFill>
                  <a:srgbClr val="143148"/>
                </a:solidFill>
                <a:latin typeface="Calibri" pitchFamily="34" charset="0"/>
                <a:ea typeface="Calibri" pitchFamily="34" charset="-122"/>
                <a:cs typeface="Calibri" pitchFamily="34" charset="-120"/>
              </a:rPr>
              <a:t>Wind speed</a:t>
            </a:r>
            <a:endParaRPr lang="en-US" sz="1250" dirty="0"/>
          </a:p>
        </p:txBody>
      </p:sp>
      <p:sp>
        <p:nvSpPr>
          <p:cNvPr id="24" name="Shape 22"/>
          <p:cNvSpPr/>
          <p:nvPr/>
        </p:nvSpPr>
        <p:spPr>
          <a:xfrm>
            <a:off x="6519672" y="5074920"/>
            <a:ext cx="4892040" cy="384048"/>
          </a:xfrm>
          <a:prstGeom prst="roundRect">
            <a:avLst>
              <a:gd name="adj" fmla="val 11905"/>
            </a:avLst>
          </a:prstGeom>
          <a:solidFill>
            <a:srgbClr val="FFFFFF"/>
          </a:solidFill>
          <a:ln/>
        </p:spPr>
        <p:txBody>
          <a:bodyPr/>
          <a:lstStyle/>
          <a:p>
            <a:endParaRPr lang="en-JO"/>
          </a:p>
        </p:txBody>
      </p:sp>
      <p:sp>
        <p:nvSpPr>
          <p:cNvPr id="25" name="Text 23"/>
          <p:cNvSpPr/>
          <p:nvPr/>
        </p:nvSpPr>
        <p:spPr>
          <a:xfrm>
            <a:off x="6702552" y="5074920"/>
            <a:ext cx="4572000" cy="384048"/>
          </a:xfrm>
          <a:prstGeom prst="rect">
            <a:avLst/>
          </a:prstGeom>
          <a:noFill/>
          <a:ln/>
        </p:spPr>
        <p:txBody>
          <a:bodyPr wrap="square" rtlCol="0" anchor="ctr"/>
          <a:lstStyle/>
          <a:p>
            <a:pPr marL="0" indent="0">
              <a:buNone/>
            </a:pPr>
            <a:r>
              <a:rPr lang="en-US" sz="1250" b="1" dirty="0">
                <a:solidFill>
                  <a:srgbClr val="143148"/>
                </a:solidFill>
                <a:latin typeface="Calibri" pitchFamily="34" charset="0"/>
                <a:ea typeface="Calibri" pitchFamily="34" charset="-122"/>
                <a:cs typeface="Calibri" pitchFamily="34" charset="-120"/>
              </a:rPr>
              <a:t>Precipitation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03 · THE DATA</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Cleaning the Data</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9</a:t>
            </a:r>
            <a:endParaRPr lang="en-US" sz="1000" dirty="0"/>
          </a:p>
        </p:txBody>
      </p:sp>
      <p:sp>
        <p:nvSpPr>
          <p:cNvPr id="7" name="Text 5"/>
          <p:cNvSpPr/>
          <p:nvPr/>
        </p:nvSpPr>
        <p:spPr>
          <a:xfrm>
            <a:off x="502920" y="1298448"/>
            <a:ext cx="10515600" cy="365760"/>
          </a:xfrm>
          <a:prstGeom prst="rect">
            <a:avLst/>
          </a:prstGeom>
          <a:noFill/>
          <a:ln/>
        </p:spPr>
        <p:txBody>
          <a:bodyPr wrap="square"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Four steps, in order — and one of them is easy to miss.</a:t>
            </a:r>
            <a:endParaRPr lang="en-US" sz="1300" dirty="0"/>
          </a:p>
        </p:txBody>
      </p:sp>
      <p:sp>
        <p:nvSpPr>
          <p:cNvPr id="8" name="Shape 6"/>
          <p:cNvSpPr/>
          <p:nvPr/>
        </p:nvSpPr>
        <p:spPr>
          <a:xfrm>
            <a:off x="502920" y="1828800"/>
            <a:ext cx="5440680" cy="1508760"/>
          </a:xfrm>
          <a:prstGeom prst="roundRect">
            <a:avLst>
              <a:gd name="adj" fmla="val 4848"/>
            </a:avLst>
          </a:prstGeom>
          <a:solidFill>
            <a:srgbClr val="F5F5F5"/>
          </a:solidFill>
          <a:ln/>
        </p:spPr>
        <p:txBody>
          <a:bodyPr/>
          <a:lstStyle/>
          <a:p>
            <a:endParaRPr lang="en-JO"/>
          </a:p>
        </p:txBody>
      </p:sp>
      <p:sp>
        <p:nvSpPr>
          <p:cNvPr id="9" name="Shape 7"/>
          <p:cNvSpPr/>
          <p:nvPr/>
        </p:nvSpPr>
        <p:spPr>
          <a:xfrm>
            <a:off x="758952" y="2057400"/>
            <a:ext cx="384048" cy="384048"/>
          </a:xfrm>
          <a:prstGeom prst="ellipse">
            <a:avLst/>
          </a:prstGeom>
          <a:solidFill>
            <a:srgbClr val="143148"/>
          </a:solidFill>
          <a:ln/>
        </p:spPr>
        <p:txBody>
          <a:bodyPr/>
          <a:lstStyle/>
          <a:p>
            <a:endParaRPr lang="en-JO"/>
          </a:p>
        </p:txBody>
      </p:sp>
      <p:sp>
        <p:nvSpPr>
          <p:cNvPr id="10" name="Text 8"/>
          <p:cNvSpPr/>
          <p:nvPr/>
        </p:nvSpPr>
        <p:spPr>
          <a:xfrm>
            <a:off x="758952" y="2057400"/>
            <a:ext cx="384048" cy="38404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9"/>
          <p:cNvSpPr/>
          <p:nvPr/>
        </p:nvSpPr>
        <p:spPr>
          <a:xfrm>
            <a:off x="1280160" y="1993392"/>
            <a:ext cx="4434840" cy="365760"/>
          </a:xfrm>
          <a:prstGeom prst="rect">
            <a:avLst/>
          </a:prstGeom>
          <a:noFill/>
          <a:ln/>
        </p:spPr>
        <p:txBody>
          <a:bodyPr wrap="square" rtlCol="0" anchor="ctr"/>
          <a:lstStyle/>
          <a:p>
            <a:pPr marL="0" indent="0">
              <a:buNone/>
            </a:pPr>
            <a:r>
              <a:rPr lang="en-US" sz="1350" b="1" dirty="0">
                <a:solidFill>
                  <a:srgbClr val="143148"/>
                </a:solidFill>
                <a:latin typeface="Cambria" pitchFamily="34" charset="0"/>
                <a:ea typeface="Cambria" pitchFamily="34" charset="-122"/>
                <a:cs typeface="Cambria" pitchFamily="34" charset="-120"/>
              </a:rPr>
              <a:t>Removed duplicates</a:t>
            </a:r>
            <a:endParaRPr lang="en-US" sz="1350" dirty="0"/>
          </a:p>
        </p:txBody>
      </p:sp>
      <p:sp>
        <p:nvSpPr>
          <p:cNvPr id="12" name="Text 10"/>
          <p:cNvSpPr/>
          <p:nvPr/>
        </p:nvSpPr>
        <p:spPr>
          <a:xfrm>
            <a:off x="1280160" y="2395728"/>
            <a:ext cx="4389120" cy="868680"/>
          </a:xfrm>
          <a:prstGeom prst="rect">
            <a:avLst/>
          </a:prstGeom>
          <a:noFill/>
          <a:ln/>
        </p:spPr>
        <p:txBody>
          <a:bodyPr wrap="square" rtlCol="0" anchor="t"/>
          <a:lstStyle/>
          <a:p>
            <a:pPr marL="0" indent="0">
              <a:buNone/>
            </a:pPr>
            <a:r>
              <a:rPr lang="en-US" sz="1100" dirty="0">
                <a:solidFill>
                  <a:srgbClr val="414141"/>
                </a:solidFill>
                <a:latin typeface="Calibri" pitchFamily="34" charset="0"/>
                <a:ea typeface="Calibri" pitchFamily="34" charset="-122"/>
                <a:cs typeface="Calibri" pitchFamily="34" charset="-120"/>
              </a:rPr>
              <a:t>2,871 repeated records left behind by overlapping downloads.</a:t>
            </a:r>
            <a:endParaRPr lang="en-US" sz="1100" dirty="0"/>
          </a:p>
        </p:txBody>
      </p:sp>
      <p:sp>
        <p:nvSpPr>
          <p:cNvPr id="13" name="Shape 11"/>
          <p:cNvSpPr/>
          <p:nvPr/>
        </p:nvSpPr>
        <p:spPr>
          <a:xfrm>
            <a:off x="6245352" y="1828800"/>
            <a:ext cx="5440680" cy="1508760"/>
          </a:xfrm>
          <a:prstGeom prst="roundRect">
            <a:avLst>
              <a:gd name="adj" fmla="val 4848"/>
            </a:avLst>
          </a:prstGeom>
          <a:solidFill>
            <a:srgbClr val="F5F5F5"/>
          </a:solidFill>
          <a:ln/>
        </p:spPr>
        <p:txBody>
          <a:bodyPr/>
          <a:lstStyle/>
          <a:p>
            <a:endParaRPr lang="en-JO"/>
          </a:p>
        </p:txBody>
      </p:sp>
      <p:sp>
        <p:nvSpPr>
          <p:cNvPr id="14" name="Shape 12"/>
          <p:cNvSpPr/>
          <p:nvPr/>
        </p:nvSpPr>
        <p:spPr>
          <a:xfrm>
            <a:off x="6501384" y="2057400"/>
            <a:ext cx="384048" cy="384048"/>
          </a:xfrm>
          <a:prstGeom prst="ellipse">
            <a:avLst/>
          </a:prstGeom>
          <a:solidFill>
            <a:srgbClr val="143148"/>
          </a:solidFill>
          <a:ln/>
        </p:spPr>
        <p:txBody>
          <a:bodyPr/>
          <a:lstStyle/>
          <a:p>
            <a:endParaRPr lang="en-JO"/>
          </a:p>
        </p:txBody>
      </p:sp>
      <p:sp>
        <p:nvSpPr>
          <p:cNvPr id="15" name="Text 13"/>
          <p:cNvSpPr/>
          <p:nvPr/>
        </p:nvSpPr>
        <p:spPr>
          <a:xfrm>
            <a:off x="6501384" y="2057400"/>
            <a:ext cx="384048" cy="38404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4"/>
          <p:cNvSpPr/>
          <p:nvPr/>
        </p:nvSpPr>
        <p:spPr>
          <a:xfrm>
            <a:off x="7022592" y="1993392"/>
            <a:ext cx="4434840" cy="365760"/>
          </a:xfrm>
          <a:prstGeom prst="rect">
            <a:avLst/>
          </a:prstGeom>
          <a:noFill/>
          <a:ln/>
        </p:spPr>
        <p:txBody>
          <a:bodyPr wrap="square" rtlCol="0" anchor="ctr"/>
          <a:lstStyle/>
          <a:p>
            <a:pPr marL="0" indent="0">
              <a:buNone/>
            </a:pPr>
            <a:r>
              <a:rPr lang="en-US" sz="1350" b="1" dirty="0">
                <a:solidFill>
                  <a:srgbClr val="143148"/>
                </a:solidFill>
                <a:latin typeface="Cambria" pitchFamily="34" charset="0"/>
                <a:ea typeface="Cambria" pitchFamily="34" charset="-122"/>
                <a:cs typeface="Cambria" pitchFamily="34" charset="-120"/>
              </a:rPr>
              <a:t>Found hidden missing values</a:t>
            </a:r>
            <a:endParaRPr lang="en-US" sz="1350" dirty="0"/>
          </a:p>
        </p:txBody>
      </p:sp>
      <p:sp>
        <p:nvSpPr>
          <p:cNvPr id="17" name="Text 15"/>
          <p:cNvSpPr/>
          <p:nvPr/>
        </p:nvSpPr>
        <p:spPr>
          <a:xfrm>
            <a:off x="7022592" y="2395728"/>
            <a:ext cx="4389120" cy="868680"/>
          </a:xfrm>
          <a:prstGeom prst="rect">
            <a:avLst/>
          </a:prstGeom>
          <a:noFill/>
          <a:ln/>
        </p:spPr>
        <p:txBody>
          <a:bodyPr wrap="square" rtlCol="0" anchor="t"/>
          <a:lstStyle/>
          <a:p>
            <a:pPr marL="0" indent="0">
              <a:buNone/>
            </a:pPr>
            <a:r>
              <a:rPr lang="en-US" sz="1100" dirty="0">
                <a:solidFill>
                  <a:srgbClr val="414141"/>
                </a:solidFill>
                <a:latin typeface="Calibri" pitchFamily="34" charset="0"/>
                <a:ea typeface="Calibri" pitchFamily="34" charset="-122"/>
                <a:cs typeface="Calibri" pitchFamily="34" charset="-120"/>
              </a:rPr>
              <a:t>NASA writes −999 instead of leaving a blank — 1,448 records. pandas reported no missing data, because −999 is a number.</a:t>
            </a:r>
            <a:endParaRPr lang="en-US" sz="1100" dirty="0"/>
          </a:p>
        </p:txBody>
      </p:sp>
      <p:sp>
        <p:nvSpPr>
          <p:cNvPr id="18" name="Shape 16"/>
          <p:cNvSpPr/>
          <p:nvPr/>
        </p:nvSpPr>
        <p:spPr>
          <a:xfrm>
            <a:off x="502920" y="3520440"/>
            <a:ext cx="5440680" cy="1508760"/>
          </a:xfrm>
          <a:prstGeom prst="roundRect">
            <a:avLst>
              <a:gd name="adj" fmla="val 4848"/>
            </a:avLst>
          </a:prstGeom>
          <a:solidFill>
            <a:srgbClr val="F5F5F5"/>
          </a:solidFill>
          <a:ln/>
        </p:spPr>
        <p:txBody>
          <a:bodyPr/>
          <a:lstStyle/>
          <a:p>
            <a:endParaRPr lang="en-JO"/>
          </a:p>
        </p:txBody>
      </p:sp>
      <p:sp>
        <p:nvSpPr>
          <p:cNvPr id="19" name="Shape 17"/>
          <p:cNvSpPr/>
          <p:nvPr/>
        </p:nvSpPr>
        <p:spPr>
          <a:xfrm>
            <a:off x="758952" y="3749040"/>
            <a:ext cx="384048" cy="384048"/>
          </a:xfrm>
          <a:prstGeom prst="ellipse">
            <a:avLst/>
          </a:prstGeom>
          <a:solidFill>
            <a:srgbClr val="143148"/>
          </a:solidFill>
          <a:ln/>
        </p:spPr>
        <p:txBody>
          <a:bodyPr/>
          <a:lstStyle/>
          <a:p>
            <a:endParaRPr lang="en-JO"/>
          </a:p>
        </p:txBody>
      </p:sp>
      <p:sp>
        <p:nvSpPr>
          <p:cNvPr id="20" name="Text 18"/>
          <p:cNvSpPr/>
          <p:nvPr/>
        </p:nvSpPr>
        <p:spPr>
          <a:xfrm>
            <a:off x="758952" y="3749040"/>
            <a:ext cx="384048" cy="38404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9"/>
          <p:cNvSpPr/>
          <p:nvPr/>
        </p:nvSpPr>
        <p:spPr>
          <a:xfrm>
            <a:off x="1280160" y="3685032"/>
            <a:ext cx="4434840" cy="365760"/>
          </a:xfrm>
          <a:prstGeom prst="rect">
            <a:avLst/>
          </a:prstGeom>
          <a:noFill/>
          <a:ln/>
        </p:spPr>
        <p:txBody>
          <a:bodyPr wrap="square" rtlCol="0" anchor="ctr"/>
          <a:lstStyle/>
          <a:p>
            <a:pPr marL="0" indent="0">
              <a:buNone/>
            </a:pPr>
            <a:r>
              <a:rPr lang="en-US" sz="1350" b="1" dirty="0">
                <a:solidFill>
                  <a:srgbClr val="143148"/>
                </a:solidFill>
                <a:latin typeface="Cambria" pitchFamily="34" charset="0"/>
                <a:ea typeface="Cambria" pitchFamily="34" charset="-122"/>
                <a:cs typeface="Cambria" pitchFamily="34" charset="-120"/>
              </a:rPr>
              <a:t>Removed impossible readings</a:t>
            </a:r>
            <a:endParaRPr lang="en-US" sz="1350" dirty="0"/>
          </a:p>
        </p:txBody>
      </p:sp>
      <p:sp>
        <p:nvSpPr>
          <p:cNvPr id="22" name="Text 20"/>
          <p:cNvSpPr/>
          <p:nvPr/>
        </p:nvSpPr>
        <p:spPr>
          <a:xfrm>
            <a:off x="1280160" y="4087368"/>
            <a:ext cx="4389120" cy="868680"/>
          </a:xfrm>
          <a:prstGeom prst="rect">
            <a:avLst/>
          </a:prstGeom>
          <a:noFill/>
          <a:ln/>
        </p:spPr>
        <p:txBody>
          <a:bodyPr wrap="square" rtlCol="0" anchor="t"/>
          <a:lstStyle/>
          <a:p>
            <a:pPr marL="0" indent="0">
              <a:buNone/>
            </a:pPr>
            <a:r>
              <a:rPr lang="en-US" sz="1100" dirty="0">
                <a:solidFill>
                  <a:srgbClr val="414141"/>
                </a:solidFill>
                <a:latin typeface="Calibri" pitchFamily="34" charset="0"/>
                <a:ea typeface="Calibri" pitchFamily="34" charset="-122"/>
                <a:cs typeface="Calibri" pitchFamily="34" charset="-120"/>
              </a:rPr>
              <a:t>Temperatures of 150°C and −80°C. Only 5 records in total.</a:t>
            </a:r>
            <a:endParaRPr lang="en-US" sz="1100" dirty="0"/>
          </a:p>
        </p:txBody>
      </p:sp>
      <p:sp>
        <p:nvSpPr>
          <p:cNvPr id="23" name="Shape 21"/>
          <p:cNvSpPr/>
          <p:nvPr/>
        </p:nvSpPr>
        <p:spPr>
          <a:xfrm>
            <a:off x="6245352" y="3520440"/>
            <a:ext cx="5440680" cy="1508760"/>
          </a:xfrm>
          <a:prstGeom prst="roundRect">
            <a:avLst>
              <a:gd name="adj" fmla="val 4848"/>
            </a:avLst>
          </a:prstGeom>
          <a:solidFill>
            <a:srgbClr val="F5F5F5"/>
          </a:solidFill>
          <a:ln/>
        </p:spPr>
        <p:txBody>
          <a:bodyPr/>
          <a:lstStyle/>
          <a:p>
            <a:endParaRPr lang="en-JO"/>
          </a:p>
        </p:txBody>
      </p:sp>
      <p:sp>
        <p:nvSpPr>
          <p:cNvPr id="24" name="Shape 22"/>
          <p:cNvSpPr/>
          <p:nvPr/>
        </p:nvSpPr>
        <p:spPr>
          <a:xfrm>
            <a:off x="6501384" y="3749040"/>
            <a:ext cx="384048" cy="384048"/>
          </a:xfrm>
          <a:prstGeom prst="ellipse">
            <a:avLst/>
          </a:prstGeom>
          <a:solidFill>
            <a:srgbClr val="143148"/>
          </a:solidFill>
          <a:ln/>
        </p:spPr>
        <p:txBody>
          <a:bodyPr/>
          <a:lstStyle/>
          <a:p>
            <a:endParaRPr lang="en-JO"/>
          </a:p>
        </p:txBody>
      </p:sp>
      <p:sp>
        <p:nvSpPr>
          <p:cNvPr id="25" name="Text 23"/>
          <p:cNvSpPr/>
          <p:nvPr/>
        </p:nvSpPr>
        <p:spPr>
          <a:xfrm>
            <a:off x="6501384" y="3749040"/>
            <a:ext cx="384048" cy="38404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6" name="Text 24"/>
          <p:cNvSpPr/>
          <p:nvPr/>
        </p:nvSpPr>
        <p:spPr>
          <a:xfrm>
            <a:off x="7022592" y="3685032"/>
            <a:ext cx="4434840" cy="365760"/>
          </a:xfrm>
          <a:prstGeom prst="rect">
            <a:avLst/>
          </a:prstGeom>
          <a:noFill/>
          <a:ln/>
        </p:spPr>
        <p:txBody>
          <a:bodyPr wrap="square" rtlCol="0" anchor="ctr"/>
          <a:lstStyle/>
          <a:p>
            <a:pPr marL="0" indent="0">
              <a:buNone/>
            </a:pPr>
            <a:r>
              <a:rPr lang="en-US" sz="1350" b="1" dirty="0">
                <a:solidFill>
                  <a:srgbClr val="143148"/>
                </a:solidFill>
                <a:latin typeface="Cambria" pitchFamily="34" charset="0"/>
                <a:ea typeface="Cambria" pitchFamily="34" charset="-122"/>
                <a:cs typeface="Cambria" pitchFamily="34" charset="-120"/>
              </a:rPr>
              <a:t>Prepared for the model</a:t>
            </a:r>
            <a:endParaRPr lang="en-US" sz="1350" dirty="0"/>
          </a:p>
        </p:txBody>
      </p:sp>
      <p:sp>
        <p:nvSpPr>
          <p:cNvPr id="27" name="Text 25"/>
          <p:cNvSpPr/>
          <p:nvPr/>
        </p:nvSpPr>
        <p:spPr>
          <a:xfrm>
            <a:off x="7022592" y="4087368"/>
            <a:ext cx="4389120" cy="868680"/>
          </a:xfrm>
          <a:prstGeom prst="rect">
            <a:avLst/>
          </a:prstGeom>
          <a:noFill/>
          <a:ln/>
        </p:spPr>
        <p:txBody>
          <a:bodyPr wrap="square" rtlCol="0" anchor="t"/>
          <a:lstStyle/>
          <a:p>
            <a:pPr marL="0" indent="0">
              <a:buNone/>
            </a:pPr>
            <a:r>
              <a:rPr lang="en-US" sz="1100" dirty="0">
                <a:solidFill>
                  <a:srgbClr val="414141"/>
                </a:solidFill>
                <a:latin typeface="Calibri" pitchFamily="34" charset="0"/>
                <a:ea typeface="Calibri" pitchFamily="34" charset="-122"/>
                <a:cs typeface="Calibri" pitchFamily="34" charset="-120"/>
              </a:rPr>
              <a:t>Converted dates, encoded the season, and built the prediction target.</a:t>
            </a:r>
            <a:endParaRPr lang="en-US" sz="1100" dirty="0"/>
          </a:p>
        </p:txBody>
      </p:sp>
      <p:sp>
        <p:nvSpPr>
          <p:cNvPr id="28" name="Shape 26"/>
          <p:cNvSpPr/>
          <p:nvPr/>
        </p:nvSpPr>
        <p:spPr>
          <a:xfrm>
            <a:off x="502920" y="5532120"/>
            <a:ext cx="3544824" cy="777240"/>
          </a:xfrm>
          <a:prstGeom prst="roundRect">
            <a:avLst>
              <a:gd name="adj" fmla="val 7059"/>
            </a:avLst>
          </a:prstGeom>
          <a:solidFill>
            <a:srgbClr val="143148"/>
          </a:solidFill>
          <a:ln/>
        </p:spPr>
        <p:txBody>
          <a:bodyPr/>
          <a:lstStyle/>
          <a:p>
            <a:endParaRPr lang="en-JO"/>
          </a:p>
        </p:txBody>
      </p:sp>
      <p:sp>
        <p:nvSpPr>
          <p:cNvPr id="29" name="Text 27"/>
          <p:cNvSpPr/>
          <p:nvPr/>
        </p:nvSpPr>
        <p:spPr>
          <a:xfrm>
            <a:off x="502920" y="5596128"/>
            <a:ext cx="3544824" cy="365760"/>
          </a:xfrm>
          <a:prstGeom prst="rect">
            <a:avLst/>
          </a:prstGeom>
          <a:noFill/>
          <a:ln/>
        </p:spPr>
        <p:txBody>
          <a:bodyPr wrap="square" rtlCol="0" anchor="ctr"/>
          <a:lstStyle/>
          <a:p>
            <a:pPr marL="0" indent="0" algn="ctr">
              <a:buNone/>
            </a:pPr>
            <a:r>
              <a:rPr lang="en-US" sz="1500" b="1" dirty="0">
                <a:solidFill>
                  <a:srgbClr val="EEBE51"/>
                </a:solidFill>
                <a:latin typeface="Cambria" pitchFamily="34" charset="0"/>
                <a:ea typeface="Cambria" pitchFamily="34" charset="-122"/>
                <a:cs typeface="Cambria" pitchFamily="34" charset="-120"/>
              </a:rPr>
              <a:t>290,023 → 285,699</a:t>
            </a:r>
            <a:endParaRPr lang="en-US" sz="1500" dirty="0"/>
          </a:p>
        </p:txBody>
      </p:sp>
      <p:sp>
        <p:nvSpPr>
          <p:cNvPr id="30" name="Text 28"/>
          <p:cNvSpPr/>
          <p:nvPr/>
        </p:nvSpPr>
        <p:spPr>
          <a:xfrm>
            <a:off x="502920" y="5943600"/>
            <a:ext cx="3544824" cy="274320"/>
          </a:xfrm>
          <a:prstGeom prst="rect">
            <a:avLst/>
          </a:prstGeom>
          <a:noFill/>
          <a:ln/>
        </p:spPr>
        <p:txBody>
          <a:bodyPr wrap="square" rtlCol="0" anchor="ctr"/>
          <a:lstStyle/>
          <a:p>
            <a:pPr marL="0" indent="0" algn="ctr">
              <a:buNone/>
            </a:pPr>
            <a:r>
              <a:rPr lang="en-US" sz="1000" dirty="0">
                <a:solidFill>
                  <a:srgbClr val="C8D2DC"/>
                </a:solidFill>
                <a:latin typeface="Calibri" pitchFamily="34" charset="0"/>
                <a:ea typeface="Calibri" pitchFamily="34" charset="-122"/>
                <a:cs typeface="Calibri" pitchFamily="34" charset="-120"/>
              </a:rPr>
              <a:t>records kept</a:t>
            </a:r>
            <a:endParaRPr lang="en-US" sz="1000" dirty="0"/>
          </a:p>
        </p:txBody>
      </p:sp>
      <p:sp>
        <p:nvSpPr>
          <p:cNvPr id="31" name="Shape 29"/>
          <p:cNvSpPr/>
          <p:nvPr/>
        </p:nvSpPr>
        <p:spPr>
          <a:xfrm>
            <a:off x="4322064" y="5532120"/>
            <a:ext cx="3544824" cy="777240"/>
          </a:xfrm>
          <a:prstGeom prst="roundRect">
            <a:avLst>
              <a:gd name="adj" fmla="val 7059"/>
            </a:avLst>
          </a:prstGeom>
          <a:solidFill>
            <a:srgbClr val="143148"/>
          </a:solidFill>
          <a:ln/>
        </p:spPr>
        <p:txBody>
          <a:bodyPr/>
          <a:lstStyle/>
          <a:p>
            <a:endParaRPr lang="en-JO"/>
          </a:p>
        </p:txBody>
      </p:sp>
      <p:sp>
        <p:nvSpPr>
          <p:cNvPr id="32" name="Text 30"/>
          <p:cNvSpPr/>
          <p:nvPr/>
        </p:nvSpPr>
        <p:spPr>
          <a:xfrm>
            <a:off x="4322064" y="5596128"/>
            <a:ext cx="3544824" cy="365760"/>
          </a:xfrm>
          <a:prstGeom prst="rect">
            <a:avLst/>
          </a:prstGeom>
          <a:noFill/>
          <a:ln/>
        </p:spPr>
        <p:txBody>
          <a:bodyPr wrap="square" rtlCol="0" anchor="ctr"/>
          <a:lstStyle/>
          <a:p>
            <a:pPr marL="0" indent="0" algn="ctr">
              <a:buNone/>
            </a:pPr>
            <a:r>
              <a:rPr lang="en-US" sz="1500" b="1" dirty="0">
                <a:solidFill>
                  <a:srgbClr val="EEBE51"/>
                </a:solidFill>
                <a:latin typeface="Cambria" pitchFamily="34" charset="0"/>
                <a:ea typeface="Cambria" pitchFamily="34" charset="-122"/>
                <a:cs typeface="Cambria" pitchFamily="34" charset="-120"/>
              </a:rPr>
              <a:t>1.49%</a:t>
            </a:r>
            <a:endParaRPr lang="en-US" sz="1500" dirty="0"/>
          </a:p>
        </p:txBody>
      </p:sp>
      <p:sp>
        <p:nvSpPr>
          <p:cNvPr id="33" name="Text 31"/>
          <p:cNvSpPr/>
          <p:nvPr/>
        </p:nvSpPr>
        <p:spPr>
          <a:xfrm>
            <a:off x="4322064" y="5943600"/>
            <a:ext cx="3544824" cy="274320"/>
          </a:xfrm>
          <a:prstGeom prst="rect">
            <a:avLst/>
          </a:prstGeom>
          <a:noFill/>
          <a:ln/>
        </p:spPr>
        <p:txBody>
          <a:bodyPr wrap="square" rtlCol="0" anchor="ctr"/>
          <a:lstStyle/>
          <a:p>
            <a:pPr marL="0" indent="0" algn="ctr">
              <a:buNone/>
            </a:pPr>
            <a:r>
              <a:rPr lang="en-US" sz="1000" dirty="0">
                <a:solidFill>
                  <a:srgbClr val="C8D2DC"/>
                </a:solidFill>
                <a:latin typeface="Calibri" pitchFamily="34" charset="0"/>
                <a:ea typeface="Calibri" pitchFamily="34" charset="-122"/>
                <a:cs typeface="Calibri" pitchFamily="34" charset="-120"/>
              </a:rPr>
              <a:t>of rows removed</a:t>
            </a:r>
            <a:endParaRPr lang="en-US" sz="1000" dirty="0"/>
          </a:p>
        </p:txBody>
      </p:sp>
      <p:sp>
        <p:nvSpPr>
          <p:cNvPr id="34" name="Shape 32"/>
          <p:cNvSpPr/>
          <p:nvPr/>
        </p:nvSpPr>
        <p:spPr>
          <a:xfrm>
            <a:off x="8141208" y="5532120"/>
            <a:ext cx="3544824" cy="777240"/>
          </a:xfrm>
          <a:prstGeom prst="roundRect">
            <a:avLst>
              <a:gd name="adj" fmla="val 7059"/>
            </a:avLst>
          </a:prstGeom>
          <a:solidFill>
            <a:srgbClr val="143148"/>
          </a:solidFill>
          <a:ln/>
        </p:spPr>
        <p:txBody>
          <a:bodyPr/>
          <a:lstStyle/>
          <a:p>
            <a:endParaRPr lang="en-JO"/>
          </a:p>
        </p:txBody>
      </p:sp>
      <p:sp>
        <p:nvSpPr>
          <p:cNvPr id="35" name="Text 33"/>
          <p:cNvSpPr/>
          <p:nvPr/>
        </p:nvSpPr>
        <p:spPr>
          <a:xfrm>
            <a:off x="8141208" y="5596128"/>
            <a:ext cx="3544824" cy="365760"/>
          </a:xfrm>
          <a:prstGeom prst="rect">
            <a:avLst/>
          </a:prstGeom>
          <a:noFill/>
          <a:ln/>
        </p:spPr>
        <p:txBody>
          <a:bodyPr wrap="square" rtlCol="0" anchor="ctr"/>
          <a:lstStyle/>
          <a:p>
            <a:pPr marL="0" indent="0" algn="ctr">
              <a:buNone/>
            </a:pPr>
            <a:r>
              <a:rPr lang="en-US" sz="1500" b="1" dirty="0">
                <a:solidFill>
                  <a:srgbClr val="EEBE51"/>
                </a:solidFill>
                <a:latin typeface="Cambria" pitchFamily="34" charset="0"/>
                <a:ea typeface="Cambria" pitchFamily="34" charset="-122"/>
                <a:cs typeface="Cambria" pitchFamily="34" charset="-120"/>
              </a:rPr>
              <a:t>131 / 131</a:t>
            </a:r>
            <a:endParaRPr lang="en-US" sz="1500" dirty="0"/>
          </a:p>
        </p:txBody>
      </p:sp>
      <p:sp>
        <p:nvSpPr>
          <p:cNvPr id="36" name="Text 34"/>
          <p:cNvSpPr/>
          <p:nvPr/>
        </p:nvSpPr>
        <p:spPr>
          <a:xfrm>
            <a:off x="8141208" y="5943600"/>
            <a:ext cx="3544824" cy="274320"/>
          </a:xfrm>
          <a:prstGeom prst="rect">
            <a:avLst/>
          </a:prstGeom>
          <a:noFill/>
          <a:ln/>
        </p:spPr>
        <p:txBody>
          <a:bodyPr wrap="square" rtlCol="0" anchor="ctr"/>
          <a:lstStyle/>
          <a:p>
            <a:pPr marL="0" indent="0" algn="ctr">
              <a:buNone/>
            </a:pPr>
            <a:r>
              <a:rPr lang="en-US" sz="1000" dirty="0">
                <a:solidFill>
                  <a:srgbClr val="C8D2DC"/>
                </a:solidFill>
                <a:latin typeface="Calibri" pitchFamily="34" charset="0"/>
                <a:ea typeface="Calibri" pitchFamily="34" charset="-122"/>
                <a:cs typeface="Calibri" pitchFamily="34" charset="-120"/>
              </a:rPr>
              <a:t>locations retained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04 · THE MODEL</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What the Model Predicts</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11</a:t>
            </a:r>
            <a:endParaRPr lang="en-US" sz="1000" dirty="0"/>
          </a:p>
        </p:txBody>
      </p:sp>
      <p:sp>
        <p:nvSpPr>
          <p:cNvPr id="7" name="Text 5"/>
          <p:cNvSpPr/>
          <p:nvPr/>
        </p:nvSpPr>
        <p:spPr>
          <a:xfrm>
            <a:off x="502920" y="1298448"/>
            <a:ext cx="10515600" cy="365760"/>
          </a:xfrm>
          <a:prstGeom prst="rect">
            <a:avLst/>
          </a:prstGeom>
          <a:noFill/>
          <a:ln/>
        </p:spPr>
        <p:txBody>
          <a:bodyPr wrap="square"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Daily energy per kilowatt-peak of installed panels — kWh/kWp/day.</a:t>
            </a:r>
            <a:endParaRPr lang="en-US" sz="1300" dirty="0"/>
          </a:p>
        </p:txBody>
      </p:sp>
      <p:sp>
        <p:nvSpPr>
          <p:cNvPr id="8" name="Shape 6"/>
          <p:cNvSpPr/>
          <p:nvPr/>
        </p:nvSpPr>
        <p:spPr>
          <a:xfrm>
            <a:off x="502920" y="1874520"/>
            <a:ext cx="11183112" cy="914400"/>
          </a:xfrm>
          <a:prstGeom prst="roundRect">
            <a:avLst>
              <a:gd name="adj" fmla="val 8000"/>
            </a:avLst>
          </a:prstGeom>
          <a:solidFill>
            <a:srgbClr val="143148"/>
          </a:solidFill>
          <a:ln/>
        </p:spPr>
        <p:txBody>
          <a:bodyPr/>
          <a:lstStyle/>
          <a:p>
            <a:endParaRPr lang="en-JO"/>
          </a:p>
        </p:txBody>
      </p:sp>
      <p:sp>
        <p:nvSpPr>
          <p:cNvPr id="9" name="Text 7"/>
          <p:cNvSpPr/>
          <p:nvPr/>
        </p:nvSpPr>
        <p:spPr>
          <a:xfrm>
            <a:off x="502920" y="1965960"/>
            <a:ext cx="11183112" cy="457200"/>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Energy  =  </a:t>
            </a:r>
            <a:r>
              <a:rPr lang="en-US" sz="2400" b="1" dirty="0">
                <a:solidFill>
                  <a:srgbClr val="EEBE51"/>
                </a:solidFill>
                <a:latin typeface="Cambria" pitchFamily="34" charset="0"/>
                <a:ea typeface="Cambria" pitchFamily="34" charset="-122"/>
                <a:cs typeface="Cambria" pitchFamily="34" charset="-120"/>
              </a:rPr>
              <a:t>Sunlight</a:t>
            </a:r>
            <a:r>
              <a:rPr lang="en-US" sz="2400" b="1" dirty="0">
                <a:solidFill>
                  <a:srgbClr val="FFFFFF"/>
                </a:solidFill>
                <a:latin typeface="Cambria" pitchFamily="34" charset="0"/>
                <a:ea typeface="Cambria" pitchFamily="34" charset="-122"/>
                <a:cs typeface="Cambria" pitchFamily="34" charset="-120"/>
              </a:rPr>
              <a:t>  ×  </a:t>
            </a:r>
            <a:r>
              <a:rPr lang="en-US" sz="2400" b="1" dirty="0">
                <a:solidFill>
                  <a:srgbClr val="EEBE51"/>
                </a:solidFill>
                <a:latin typeface="Cambria" pitchFamily="34" charset="0"/>
                <a:ea typeface="Cambria" pitchFamily="34" charset="-122"/>
                <a:cs typeface="Cambria" pitchFamily="34" charset="-120"/>
              </a:rPr>
              <a:t>Performance Ratio</a:t>
            </a:r>
            <a:endParaRPr lang="en-US" sz="2400" dirty="0"/>
          </a:p>
        </p:txBody>
      </p:sp>
      <p:sp>
        <p:nvSpPr>
          <p:cNvPr id="10" name="Text 8"/>
          <p:cNvSpPr/>
          <p:nvPr/>
        </p:nvSpPr>
        <p:spPr>
          <a:xfrm>
            <a:off x="502920" y="2423160"/>
            <a:ext cx="11183112" cy="320040"/>
          </a:xfrm>
          <a:prstGeom prst="rect">
            <a:avLst/>
          </a:prstGeom>
          <a:noFill/>
          <a:ln/>
        </p:spPr>
        <p:txBody>
          <a:bodyPr wrap="square" rtlCol="0" anchor="ctr"/>
          <a:lstStyle/>
          <a:p>
            <a:pPr marL="0" indent="0" algn="ctr">
              <a:buNone/>
            </a:pPr>
            <a:r>
              <a:rPr lang="en-US" sz="1150" i="1" dirty="0">
                <a:solidFill>
                  <a:srgbClr val="C8D2DC"/>
                </a:solidFill>
                <a:latin typeface="Calibri" pitchFamily="34" charset="0"/>
                <a:ea typeface="Calibri" pitchFamily="34" charset="-122"/>
                <a:cs typeface="Calibri" pitchFamily="34" charset="-120"/>
              </a:rPr>
              <a:t>the performance ratio falls as the panel heats up</a:t>
            </a:r>
            <a:endParaRPr lang="en-US" sz="1150" dirty="0"/>
          </a:p>
        </p:txBody>
      </p:sp>
      <p:sp>
        <p:nvSpPr>
          <p:cNvPr id="11" name="Shape 9"/>
          <p:cNvSpPr/>
          <p:nvPr/>
        </p:nvSpPr>
        <p:spPr>
          <a:xfrm>
            <a:off x="502920" y="3063240"/>
            <a:ext cx="5440680" cy="2788920"/>
          </a:xfrm>
          <a:prstGeom prst="roundRect">
            <a:avLst>
              <a:gd name="adj" fmla="val 2623"/>
            </a:avLst>
          </a:prstGeom>
          <a:solidFill>
            <a:srgbClr val="F5F5F5"/>
          </a:solidFill>
          <a:ln/>
        </p:spPr>
        <p:txBody>
          <a:bodyPr/>
          <a:lstStyle/>
          <a:p>
            <a:endParaRPr lang="en-JO"/>
          </a:p>
        </p:txBody>
      </p:sp>
      <p:sp>
        <p:nvSpPr>
          <p:cNvPr id="12" name="Text 10"/>
          <p:cNvSpPr/>
          <p:nvPr/>
        </p:nvSpPr>
        <p:spPr>
          <a:xfrm>
            <a:off x="777240" y="3246120"/>
            <a:ext cx="4937760" cy="274320"/>
          </a:xfrm>
          <a:prstGeom prst="rect">
            <a:avLst/>
          </a:prstGeom>
          <a:noFill/>
          <a:ln/>
        </p:spPr>
        <p:txBody>
          <a:bodyPr wrap="square" rtlCol="0" anchor="ctr"/>
          <a:lstStyle/>
          <a:p>
            <a:pPr marL="0" indent="0">
              <a:buNone/>
            </a:pPr>
            <a:r>
              <a:rPr lang="en-US" sz="1200" b="1" dirty="0">
                <a:solidFill>
                  <a:srgbClr val="CA8F24"/>
                </a:solidFill>
                <a:latin typeface="Calibri" pitchFamily="34" charset="0"/>
                <a:ea typeface="Calibri" pitchFamily="34" charset="-122"/>
                <a:cs typeface="Calibri" pitchFamily="34" charset="-120"/>
              </a:rPr>
              <a:t>HEAT REDUCES OUTPUT</a:t>
            </a:r>
            <a:endParaRPr lang="en-US" sz="1200" dirty="0"/>
          </a:p>
        </p:txBody>
      </p:sp>
      <p:sp>
        <p:nvSpPr>
          <p:cNvPr id="13" name="Text 11"/>
          <p:cNvSpPr/>
          <p:nvPr/>
        </p:nvSpPr>
        <p:spPr>
          <a:xfrm>
            <a:off x="777240" y="3611880"/>
            <a:ext cx="4892040" cy="2103120"/>
          </a:xfrm>
          <a:prstGeom prst="rect">
            <a:avLst/>
          </a:prstGeom>
          <a:noFill/>
          <a:ln/>
        </p:spPr>
        <p:txBody>
          <a:bodyPr wrap="square" rtlCol="0" anchor="t"/>
          <a:lstStyle/>
          <a:p>
            <a:pPr marL="228600" indent="-228600">
              <a:lnSpc>
                <a:spcPts val="1690"/>
              </a:lnSpc>
              <a:spcAft>
                <a:spcPts val="1400"/>
              </a:spcAft>
              <a:buSzPct val="100000"/>
              <a:buChar char="●"/>
            </a:pPr>
            <a:r>
              <a:rPr lang="en-US" sz="1300" dirty="0">
                <a:solidFill>
                  <a:srgbClr val="414141"/>
                </a:solidFill>
                <a:latin typeface="Calibri" pitchFamily="34" charset="0"/>
                <a:ea typeface="Calibri" pitchFamily="34" charset="-122"/>
                <a:cs typeface="Calibri" pitchFamily="34" charset="-120"/>
              </a:rPr>
              <a:t>A panel loses about 0.4% of its efficiency for every degree above 25°C.</a:t>
            </a:r>
            <a:endParaRPr lang="en-US" sz="1300" dirty="0"/>
          </a:p>
          <a:p>
            <a:pPr marL="228600" indent="-228600">
              <a:lnSpc>
                <a:spcPts val="1690"/>
              </a:lnSpc>
              <a:spcAft>
                <a:spcPts val="1400"/>
              </a:spcAft>
              <a:buSzPct val="100000"/>
              <a:buChar char="●"/>
            </a:pPr>
            <a:r>
              <a:rPr lang="en-US" sz="1300" dirty="0">
                <a:solidFill>
                  <a:srgbClr val="414141"/>
                </a:solidFill>
                <a:latin typeface="Calibri" pitchFamily="34" charset="0"/>
                <a:ea typeface="Calibri" pitchFamily="34" charset="-122"/>
                <a:cs typeface="Calibri" pitchFamily="34" charset="-120"/>
              </a:rPr>
              <a:t>Panels run hotter than the air — 27.4°C on average, against 19.7°C ambient.</a:t>
            </a:r>
            <a:endParaRPr lang="en-US" sz="1300" dirty="0"/>
          </a:p>
        </p:txBody>
      </p:sp>
      <p:sp>
        <p:nvSpPr>
          <p:cNvPr id="14" name="Shape 12"/>
          <p:cNvSpPr/>
          <p:nvPr/>
        </p:nvSpPr>
        <p:spPr>
          <a:xfrm>
            <a:off x="6245352" y="3063240"/>
            <a:ext cx="5440680" cy="2788920"/>
          </a:xfrm>
          <a:prstGeom prst="roundRect">
            <a:avLst>
              <a:gd name="adj" fmla="val 2623"/>
            </a:avLst>
          </a:prstGeom>
          <a:solidFill>
            <a:srgbClr val="F5F5F5"/>
          </a:solidFill>
          <a:ln/>
        </p:spPr>
        <p:txBody>
          <a:bodyPr/>
          <a:lstStyle/>
          <a:p>
            <a:endParaRPr lang="en-JO"/>
          </a:p>
        </p:txBody>
      </p:sp>
      <p:sp>
        <p:nvSpPr>
          <p:cNvPr id="15" name="Text 13"/>
          <p:cNvSpPr/>
          <p:nvPr/>
        </p:nvSpPr>
        <p:spPr>
          <a:xfrm>
            <a:off x="6519672" y="3246120"/>
            <a:ext cx="4937760" cy="274320"/>
          </a:xfrm>
          <a:prstGeom prst="rect">
            <a:avLst/>
          </a:prstGeom>
          <a:noFill/>
          <a:ln/>
        </p:spPr>
        <p:txBody>
          <a:bodyPr wrap="square" rtlCol="0" anchor="ctr"/>
          <a:lstStyle/>
          <a:p>
            <a:pPr marL="0" indent="0">
              <a:buNone/>
            </a:pPr>
            <a:r>
              <a:rPr lang="en-US" sz="1200" b="1" dirty="0">
                <a:solidFill>
                  <a:srgbClr val="CA8F24"/>
                </a:solidFill>
                <a:latin typeface="Calibri" pitchFamily="34" charset="0"/>
                <a:ea typeface="Calibri" pitchFamily="34" charset="-122"/>
                <a:cs typeface="Calibri" pitchFamily="34" charset="-120"/>
              </a:rPr>
              <a:t>EXTERNAL VALIDATION</a:t>
            </a:r>
            <a:endParaRPr lang="en-US" sz="1200" dirty="0"/>
          </a:p>
        </p:txBody>
      </p:sp>
      <p:sp>
        <p:nvSpPr>
          <p:cNvPr id="16" name="Text 14"/>
          <p:cNvSpPr/>
          <p:nvPr/>
        </p:nvSpPr>
        <p:spPr>
          <a:xfrm>
            <a:off x="6519672" y="3611880"/>
            <a:ext cx="4892040" cy="2011680"/>
          </a:xfrm>
          <a:prstGeom prst="rect">
            <a:avLst/>
          </a:prstGeom>
          <a:noFill/>
          <a:ln/>
        </p:spPr>
        <p:txBody>
          <a:bodyPr wrap="square" rtlCol="0" anchor="t"/>
          <a:lstStyle/>
          <a:p>
            <a:pPr marL="0" indent="0">
              <a:buNone/>
            </a:pPr>
            <a:r>
              <a:rPr lang="en-US" sz="1300" dirty="0">
                <a:solidFill>
                  <a:srgbClr val="414141"/>
                </a:solidFill>
                <a:latin typeface="Calibri" pitchFamily="34" charset="0"/>
                <a:ea typeface="Calibri" pitchFamily="34" charset="-122"/>
                <a:cs typeface="Calibri" pitchFamily="34" charset="-120"/>
              </a:rPr>
              <a:t>An outside check, not one of our own metrics confirming itself — our modeled output agrees with published figures for solar performance in Jordan.</a:t>
            </a:r>
            <a:endParaRPr lang="en-US" sz="1300" dirty="0"/>
          </a:p>
        </p:txBody>
      </p:sp>
      <p:pic>
        <p:nvPicPr>
          <p:cNvPr id="18" name="Picture 17">
            <a:extLst>
              <a:ext uri="{FF2B5EF4-FFF2-40B4-BE49-F238E27FC236}">
                <a16:creationId xmlns:a16="http://schemas.microsoft.com/office/drawing/2014/main" id="{7C4A6209-AB8C-830F-7A13-98F9D5A6DD06}"/>
              </a:ext>
            </a:extLst>
          </p:cNvPr>
          <p:cNvPicPr>
            <a:picLocks noChangeAspect="1"/>
          </p:cNvPicPr>
          <p:nvPr/>
        </p:nvPicPr>
        <p:blipFill>
          <a:blip r:embed="rId3"/>
          <a:stretch>
            <a:fillRect/>
          </a:stretch>
        </p:blipFill>
        <p:spPr>
          <a:xfrm>
            <a:off x="6245352" y="3044952"/>
            <a:ext cx="5440680" cy="28072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05 · FINDINGS</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Finding 1 — The Season Matters Most</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12</a:t>
            </a:r>
            <a:endParaRPr lang="en-US" sz="1000" dirty="0"/>
          </a:p>
        </p:txBody>
      </p:sp>
      <p:sp>
        <p:nvSpPr>
          <p:cNvPr id="7" name="Text 5"/>
          <p:cNvSpPr/>
          <p:nvPr/>
        </p:nvSpPr>
        <p:spPr>
          <a:xfrm>
            <a:off x="502920" y="1298448"/>
            <a:ext cx="10515600" cy="365760"/>
          </a:xfrm>
          <a:prstGeom prst="rect">
            <a:avLst/>
          </a:prstGeom>
          <a:noFill/>
          <a:ln/>
        </p:spPr>
        <p:txBody>
          <a:bodyPr wrap="square"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Share of the variation in daily output explained by each factor.</a:t>
            </a:r>
            <a:endParaRPr lang="en-US" sz="1300" dirty="0"/>
          </a:p>
        </p:txBody>
      </p:sp>
      <p:graphicFrame>
        <p:nvGraphicFramePr>
          <p:cNvPr id="8" name="Chart 0"/>
          <p:cNvGraphicFramePr/>
          <p:nvPr/>
        </p:nvGraphicFramePr>
        <p:xfrm>
          <a:off x="502920" y="1783080"/>
          <a:ext cx="557784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6309360" y="1783080"/>
            <a:ext cx="5376672" cy="3108960"/>
          </a:xfrm>
          <a:prstGeom prst="roundRect">
            <a:avLst>
              <a:gd name="adj" fmla="val 2353"/>
            </a:avLst>
          </a:prstGeom>
          <a:solidFill>
            <a:srgbClr val="F5F5F5"/>
          </a:solidFill>
          <a:ln/>
        </p:spPr>
        <p:txBody>
          <a:bodyPr/>
          <a:lstStyle/>
          <a:p>
            <a:endParaRPr lang="en-JO"/>
          </a:p>
        </p:txBody>
      </p:sp>
      <p:sp>
        <p:nvSpPr>
          <p:cNvPr id="10" name="Text 7"/>
          <p:cNvSpPr/>
          <p:nvPr/>
        </p:nvSpPr>
        <p:spPr>
          <a:xfrm>
            <a:off x="6583680" y="1965960"/>
            <a:ext cx="4846320" cy="274320"/>
          </a:xfrm>
          <a:prstGeom prst="rect">
            <a:avLst/>
          </a:prstGeom>
          <a:noFill/>
          <a:ln/>
        </p:spPr>
        <p:txBody>
          <a:bodyPr wrap="square" rtlCol="0" anchor="ctr"/>
          <a:lstStyle/>
          <a:p>
            <a:pPr marL="0" indent="0">
              <a:buNone/>
            </a:pPr>
            <a:r>
              <a:rPr lang="en-US" sz="1200" b="1" dirty="0">
                <a:solidFill>
                  <a:srgbClr val="CA8F24"/>
                </a:solidFill>
                <a:latin typeface="Calibri" pitchFamily="34" charset="0"/>
                <a:ea typeface="Calibri" pitchFamily="34" charset="-122"/>
                <a:cs typeface="Calibri" pitchFamily="34" charset="-120"/>
              </a:rPr>
              <a:t>WHAT THIS MEANS</a:t>
            </a:r>
            <a:endParaRPr lang="en-US" sz="1200" dirty="0"/>
          </a:p>
        </p:txBody>
      </p:sp>
      <p:sp>
        <p:nvSpPr>
          <p:cNvPr id="11" name="Text 8"/>
          <p:cNvSpPr/>
          <p:nvPr/>
        </p:nvSpPr>
        <p:spPr>
          <a:xfrm>
            <a:off x="6583680" y="2286000"/>
            <a:ext cx="4846320" cy="502920"/>
          </a:xfrm>
          <a:prstGeom prst="rect">
            <a:avLst/>
          </a:prstGeom>
          <a:noFill/>
          <a:ln/>
        </p:spPr>
        <p:txBody>
          <a:bodyPr wrap="square" rtlCol="0" anchor="ctr"/>
          <a:lstStyle/>
          <a:p>
            <a:pPr marL="0" indent="0">
              <a:buNone/>
            </a:pPr>
            <a:r>
              <a:rPr lang="en-US" sz="1300" b="1" dirty="0">
                <a:solidFill>
                  <a:srgbClr val="143148"/>
                </a:solidFill>
                <a:latin typeface="Calibri" pitchFamily="34" charset="0"/>
                <a:ea typeface="Calibri" pitchFamily="34" charset="-122"/>
                <a:cs typeface="Calibri" pitchFamily="34" charset="-120"/>
              </a:rPr>
              <a:t>WHEN you generate matters far more than WHERE in Jordan you are.</a:t>
            </a:r>
            <a:endParaRPr lang="en-US" sz="1300" dirty="0"/>
          </a:p>
        </p:txBody>
      </p:sp>
      <p:sp>
        <p:nvSpPr>
          <p:cNvPr id="12" name="Text 9"/>
          <p:cNvSpPr/>
          <p:nvPr/>
        </p:nvSpPr>
        <p:spPr>
          <a:xfrm>
            <a:off x="6583680" y="2880360"/>
            <a:ext cx="4846320" cy="640080"/>
          </a:xfrm>
          <a:prstGeom prst="rect">
            <a:avLst/>
          </a:prstGeom>
          <a:noFill/>
          <a:ln/>
        </p:spPr>
        <p:txBody>
          <a:bodyPr wrap="square" rtlCol="0" anchor="ctr"/>
          <a:lstStyle/>
          <a:p>
            <a:pPr marL="0" indent="0">
              <a:lnSpc>
                <a:spcPts val="2000"/>
              </a:lnSpc>
              <a:buNone/>
            </a:pPr>
            <a:r>
              <a:rPr lang="en-US" sz="1250" b="1" dirty="0">
                <a:solidFill>
                  <a:srgbClr val="143148"/>
                </a:solidFill>
                <a:latin typeface="Calibri" pitchFamily="34" charset="0"/>
                <a:ea typeface="Calibri" pitchFamily="34" charset="-122"/>
                <a:cs typeface="Calibri" pitchFamily="34" charset="-120"/>
              </a:rPr>
              <a:t>June:  </a:t>
            </a:r>
            <a:r>
              <a:rPr lang="en-US" sz="1250" dirty="0">
                <a:solidFill>
                  <a:srgbClr val="414141"/>
                </a:solidFill>
                <a:latin typeface="Calibri" pitchFamily="34" charset="0"/>
                <a:ea typeface="Calibri" pitchFamily="34" charset="-122"/>
                <a:cs typeface="Calibri" pitchFamily="34" charset="-120"/>
              </a:rPr>
              <a:t>6.17 kWh/kWp per day
</a:t>
            </a:r>
            <a:r>
              <a:rPr lang="en-US" sz="1250" b="1" dirty="0">
                <a:solidFill>
                  <a:srgbClr val="143148"/>
                </a:solidFill>
                <a:latin typeface="Calibri" pitchFamily="34" charset="0"/>
                <a:ea typeface="Calibri" pitchFamily="34" charset="-122"/>
                <a:cs typeface="Calibri" pitchFamily="34" charset="-120"/>
              </a:rPr>
              <a:t>December:  </a:t>
            </a:r>
            <a:r>
              <a:rPr lang="en-US" sz="1250" dirty="0">
                <a:solidFill>
                  <a:srgbClr val="414141"/>
                </a:solidFill>
                <a:latin typeface="Calibri" pitchFamily="34" charset="0"/>
                <a:ea typeface="Calibri" pitchFamily="34" charset="-122"/>
                <a:cs typeface="Calibri" pitchFamily="34" charset="-120"/>
              </a:rPr>
              <a:t>2.48 kWh/kWp per day</a:t>
            </a:r>
            <a:endParaRPr lang="en-US" sz="1250" dirty="0"/>
          </a:p>
        </p:txBody>
      </p:sp>
      <p:sp>
        <p:nvSpPr>
          <p:cNvPr id="13" name="Text 10"/>
          <p:cNvSpPr/>
          <p:nvPr/>
        </p:nvSpPr>
        <p:spPr>
          <a:xfrm>
            <a:off x="6583680" y="3611880"/>
            <a:ext cx="4846320" cy="1188720"/>
          </a:xfrm>
          <a:prstGeom prst="rect">
            <a:avLst/>
          </a:prstGeom>
          <a:noFill/>
          <a:ln/>
        </p:spPr>
        <p:txBody>
          <a:bodyPr wrap="square" rtlCol="0" anchor="t"/>
          <a:lstStyle/>
          <a:p>
            <a:pPr marL="0" indent="0">
              <a:buNone/>
            </a:pPr>
            <a:r>
              <a:rPr lang="en-US" sz="1150" i="1" dirty="0">
                <a:solidFill>
                  <a:srgbClr val="6E6E6E"/>
                </a:solidFill>
                <a:latin typeface="Calibri" pitchFamily="34" charset="0"/>
                <a:ea typeface="Calibri" pitchFamily="34" charset="-122"/>
                <a:cs typeface="Calibri" pitchFamily="34" charset="-120"/>
              </a:rPr>
              <a:t>That is 2.5× more in summer. Location and year barely move the needle — together they account for under 2%.</a:t>
            </a:r>
            <a:endParaRPr lang="en-US" sz="1150" dirty="0"/>
          </a:p>
        </p:txBody>
      </p:sp>
      <p:sp>
        <p:nvSpPr>
          <p:cNvPr id="14" name="Shape 11"/>
          <p:cNvSpPr/>
          <p:nvPr/>
        </p:nvSpPr>
        <p:spPr>
          <a:xfrm>
            <a:off x="502920" y="5074920"/>
            <a:ext cx="11183112" cy="1234440"/>
          </a:xfrm>
          <a:prstGeom prst="roundRect">
            <a:avLst>
              <a:gd name="adj" fmla="val 4444"/>
            </a:avLst>
          </a:prstGeom>
          <a:solidFill>
            <a:srgbClr val="143148"/>
          </a:solidFill>
          <a:ln/>
        </p:spPr>
        <p:txBody>
          <a:bodyPr/>
          <a:lstStyle/>
          <a:p>
            <a:endParaRPr lang="en-JO"/>
          </a:p>
        </p:txBody>
      </p:sp>
      <p:sp>
        <p:nvSpPr>
          <p:cNvPr id="15" name="Text 12"/>
          <p:cNvSpPr/>
          <p:nvPr/>
        </p:nvSpPr>
        <p:spPr>
          <a:xfrm>
            <a:off x="777240" y="5074920"/>
            <a:ext cx="10607040" cy="12344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So the answer we give a user must be monthly — </a:t>
            </a:r>
            <a:r>
              <a:rPr lang="en-US" sz="1300" dirty="0">
                <a:solidFill>
                  <a:srgbClr val="C8D2DC"/>
                </a:solidFill>
                <a:latin typeface="Calibri" pitchFamily="34" charset="0"/>
                <a:ea typeface="Calibri" pitchFamily="34" charset="-122"/>
                <a:cs typeface="Calibri" pitchFamily="34" charset="-120"/>
              </a:rPr>
              <a:t>a single yearly average would hide the months that actually decide whether solar pays.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05 · FINDINGS</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Finding 2 — Heat Hurts, and It Is Hidden</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13</a:t>
            </a:r>
            <a:endParaRPr lang="en-US" sz="1000" dirty="0"/>
          </a:p>
        </p:txBody>
      </p:sp>
      <p:sp>
        <p:nvSpPr>
          <p:cNvPr id="7" name="Text 5"/>
          <p:cNvSpPr/>
          <p:nvPr/>
        </p:nvSpPr>
        <p:spPr>
          <a:xfrm>
            <a:off x="502920" y="1298448"/>
            <a:ext cx="10515600" cy="365760"/>
          </a:xfrm>
          <a:prstGeom prst="rect">
            <a:avLst/>
          </a:prstGeom>
          <a:noFill/>
          <a:ln/>
        </p:spPr>
        <p:txBody>
          <a:bodyPr wrap="square"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The raw correlation says one thing; a fair comparison says the opposite.</a:t>
            </a:r>
            <a:endParaRPr lang="en-US" sz="1300" dirty="0"/>
          </a:p>
        </p:txBody>
      </p:sp>
      <p:sp>
        <p:nvSpPr>
          <p:cNvPr id="8" name="Shape 6"/>
          <p:cNvSpPr/>
          <p:nvPr/>
        </p:nvSpPr>
        <p:spPr>
          <a:xfrm>
            <a:off x="502920" y="1828800"/>
            <a:ext cx="5440680" cy="2743200"/>
          </a:xfrm>
          <a:prstGeom prst="roundRect">
            <a:avLst>
              <a:gd name="adj" fmla="val 2667"/>
            </a:avLst>
          </a:prstGeom>
          <a:solidFill>
            <a:srgbClr val="F5F5F5"/>
          </a:solidFill>
          <a:ln/>
        </p:spPr>
        <p:txBody>
          <a:bodyPr/>
          <a:lstStyle/>
          <a:p>
            <a:endParaRPr lang="en-JO"/>
          </a:p>
        </p:txBody>
      </p:sp>
      <p:sp>
        <p:nvSpPr>
          <p:cNvPr id="9" name="Text 7"/>
          <p:cNvSpPr/>
          <p:nvPr/>
        </p:nvSpPr>
        <p:spPr>
          <a:xfrm>
            <a:off x="777240" y="2011680"/>
            <a:ext cx="4937760" cy="274320"/>
          </a:xfrm>
          <a:prstGeom prst="rect">
            <a:avLst/>
          </a:prstGeom>
          <a:noFill/>
          <a:ln/>
        </p:spPr>
        <p:txBody>
          <a:bodyPr wrap="square" rtlCol="0" anchor="ctr"/>
          <a:lstStyle/>
          <a:p>
            <a:pPr marL="0" indent="0">
              <a:buNone/>
            </a:pPr>
            <a:r>
              <a:rPr lang="en-US" sz="1150" b="1" dirty="0">
                <a:solidFill>
                  <a:srgbClr val="CA8F24"/>
                </a:solidFill>
                <a:latin typeface="Calibri" pitchFamily="34" charset="0"/>
                <a:ea typeface="Calibri" pitchFamily="34" charset="-122"/>
                <a:cs typeface="Calibri" pitchFamily="34" charset="-120"/>
              </a:rPr>
              <a:t>WHAT THE NUMBERS SEEM TO SAY</a:t>
            </a:r>
            <a:endParaRPr lang="en-US" sz="1150" dirty="0"/>
          </a:p>
        </p:txBody>
      </p:sp>
      <p:sp>
        <p:nvSpPr>
          <p:cNvPr id="10" name="Text 8"/>
          <p:cNvSpPr/>
          <p:nvPr/>
        </p:nvSpPr>
        <p:spPr>
          <a:xfrm>
            <a:off x="777240" y="2331720"/>
            <a:ext cx="4892040" cy="640080"/>
          </a:xfrm>
          <a:prstGeom prst="rect">
            <a:avLst/>
          </a:prstGeom>
          <a:noFill/>
          <a:ln/>
        </p:spPr>
        <p:txBody>
          <a:bodyPr wrap="square" rtlCol="0" anchor="ctr"/>
          <a:lstStyle/>
          <a:p>
            <a:pPr marL="0" indent="0">
              <a:buNone/>
            </a:pPr>
            <a:r>
              <a:rPr lang="en-US" sz="3400" b="1" dirty="0">
                <a:solidFill>
                  <a:srgbClr val="143148"/>
                </a:solidFill>
                <a:latin typeface="Cambria" pitchFamily="34" charset="0"/>
                <a:ea typeface="Cambria" pitchFamily="34" charset="-122"/>
                <a:cs typeface="Cambria" pitchFamily="34" charset="-120"/>
              </a:rPr>
              <a:t>+0.69</a:t>
            </a:r>
            <a:endParaRPr lang="en-US" sz="3400" dirty="0"/>
          </a:p>
        </p:txBody>
      </p:sp>
      <p:sp>
        <p:nvSpPr>
          <p:cNvPr id="11" name="Text 9"/>
          <p:cNvSpPr/>
          <p:nvPr/>
        </p:nvSpPr>
        <p:spPr>
          <a:xfrm>
            <a:off x="777240" y="2971800"/>
            <a:ext cx="4892040" cy="320040"/>
          </a:xfrm>
          <a:prstGeom prst="rect">
            <a:avLst/>
          </a:prstGeom>
          <a:noFill/>
          <a:ln/>
        </p:spPr>
        <p:txBody>
          <a:bodyPr wrap="square" rtlCol="0" anchor="ctr"/>
          <a:lstStyle/>
          <a:p>
            <a:pPr marL="0" indent="0">
              <a:buNone/>
            </a:pPr>
            <a:r>
              <a:rPr lang="en-US" sz="1100" dirty="0">
                <a:solidFill>
                  <a:srgbClr val="6E6E6E"/>
                </a:solidFill>
                <a:latin typeface="Calibri" pitchFamily="34" charset="0"/>
                <a:ea typeface="Calibri" pitchFamily="34" charset="-122"/>
                <a:cs typeface="Calibri" pitchFamily="34" charset="-120"/>
              </a:rPr>
              <a:t>correlation between temperature and output</a:t>
            </a:r>
            <a:endParaRPr lang="en-US" sz="1100" dirty="0"/>
          </a:p>
        </p:txBody>
      </p:sp>
      <p:sp>
        <p:nvSpPr>
          <p:cNvPr id="12" name="Text 10"/>
          <p:cNvSpPr/>
          <p:nvPr/>
        </p:nvSpPr>
        <p:spPr>
          <a:xfrm>
            <a:off x="777240" y="3383280"/>
            <a:ext cx="4892040" cy="1051560"/>
          </a:xfrm>
          <a:prstGeom prst="rect">
            <a:avLst/>
          </a:prstGeom>
          <a:noFill/>
          <a:ln/>
        </p:spPr>
        <p:txBody>
          <a:bodyPr wrap="square" rtlCol="0" anchor="t"/>
          <a:lstStyle/>
          <a:p>
            <a:pPr marL="0" indent="0">
              <a:buNone/>
            </a:pPr>
            <a:r>
              <a:rPr lang="en-US" sz="1200" dirty="0">
                <a:solidFill>
                  <a:srgbClr val="414141"/>
                </a:solidFill>
                <a:latin typeface="Calibri" pitchFamily="34" charset="0"/>
                <a:ea typeface="Calibri" pitchFamily="34" charset="-122"/>
                <a:cs typeface="Calibri" pitchFamily="34" charset="-120"/>
              </a:rPr>
              <a:t>Hotter days appear to produce more. But that is the season talking — hot days in Jordan are also sunny days.</a:t>
            </a:r>
            <a:endParaRPr lang="en-US" sz="1200" dirty="0"/>
          </a:p>
        </p:txBody>
      </p:sp>
      <p:sp>
        <p:nvSpPr>
          <p:cNvPr id="13" name="Shape 11"/>
          <p:cNvSpPr/>
          <p:nvPr/>
        </p:nvSpPr>
        <p:spPr>
          <a:xfrm>
            <a:off x="6245352" y="1828800"/>
            <a:ext cx="5440680" cy="2743200"/>
          </a:xfrm>
          <a:prstGeom prst="roundRect">
            <a:avLst>
              <a:gd name="adj" fmla="val 2667"/>
            </a:avLst>
          </a:prstGeom>
          <a:solidFill>
            <a:srgbClr val="EBEBEB"/>
          </a:solidFill>
          <a:ln/>
        </p:spPr>
        <p:txBody>
          <a:bodyPr/>
          <a:lstStyle/>
          <a:p>
            <a:endParaRPr lang="en-JO"/>
          </a:p>
        </p:txBody>
      </p:sp>
      <p:sp>
        <p:nvSpPr>
          <p:cNvPr id="14" name="Text 12"/>
          <p:cNvSpPr/>
          <p:nvPr/>
        </p:nvSpPr>
        <p:spPr>
          <a:xfrm>
            <a:off x="6519672" y="2011680"/>
            <a:ext cx="4937760" cy="274320"/>
          </a:xfrm>
          <a:prstGeom prst="rect">
            <a:avLst/>
          </a:prstGeom>
          <a:noFill/>
          <a:ln/>
        </p:spPr>
        <p:txBody>
          <a:bodyPr wrap="square" rtlCol="0" anchor="ctr"/>
          <a:lstStyle/>
          <a:p>
            <a:pPr marL="0" indent="0">
              <a:buNone/>
            </a:pPr>
            <a:r>
              <a:rPr lang="en-US" sz="1150" b="1" dirty="0">
                <a:solidFill>
                  <a:srgbClr val="CA8F24"/>
                </a:solidFill>
                <a:latin typeface="Calibri" pitchFamily="34" charset="0"/>
                <a:ea typeface="Calibri" pitchFamily="34" charset="-122"/>
                <a:cs typeface="Calibri" pitchFamily="34" charset="-120"/>
              </a:rPr>
              <a:t>WHAT ACTUALLY HAPPENS</a:t>
            </a:r>
            <a:endParaRPr lang="en-US" sz="1150" dirty="0"/>
          </a:p>
        </p:txBody>
      </p:sp>
      <p:sp>
        <p:nvSpPr>
          <p:cNvPr id="15" name="Text 13"/>
          <p:cNvSpPr/>
          <p:nvPr/>
        </p:nvSpPr>
        <p:spPr>
          <a:xfrm>
            <a:off x="6519672" y="2331720"/>
            <a:ext cx="4892040" cy="640080"/>
          </a:xfrm>
          <a:prstGeom prst="rect">
            <a:avLst/>
          </a:prstGeom>
          <a:noFill/>
          <a:ln/>
        </p:spPr>
        <p:txBody>
          <a:bodyPr wrap="square" rtlCol="0" anchor="ctr"/>
          <a:lstStyle/>
          <a:p>
            <a:pPr marL="0" indent="0">
              <a:buNone/>
            </a:pPr>
            <a:r>
              <a:rPr lang="en-US" sz="3400" b="1" dirty="0">
                <a:solidFill>
                  <a:srgbClr val="143148"/>
                </a:solidFill>
                <a:latin typeface="Cambria" pitchFamily="34" charset="0"/>
                <a:ea typeface="Cambria" pitchFamily="34" charset="-122"/>
                <a:cs typeface="Cambria" pitchFamily="34" charset="-120"/>
              </a:rPr>
              <a:t>−0.64</a:t>
            </a:r>
            <a:endParaRPr lang="en-US" sz="3400" dirty="0"/>
          </a:p>
        </p:txBody>
      </p:sp>
      <p:sp>
        <p:nvSpPr>
          <p:cNvPr id="16" name="Text 14"/>
          <p:cNvSpPr/>
          <p:nvPr/>
        </p:nvSpPr>
        <p:spPr>
          <a:xfrm>
            <a:off x="6519672" y="2971800"/>
            <a:ext cx="4892040" cy="320040"/>
          </a:xfrm>
          <a:prstGeom prst="rect">
            <a:avLst/>
          </a:prstGeom>
          <a:noFill/>
          <a:ln/>
        </p:spPr>
        <p:txBody>
          <a:bodyPr wrap="square" rtlCol="0" anchor="ctr"/>
          <a:lstStyle/>
          <a:p>
            <a:pPr marL="0" indent="0">
              <a:buNone/>
            </a:pPr>
            <a:r>
              <a:rPr lang="en-US" sz="1100" dirty="0">
                <a:solidFill>
                  <a:srgbClr val="6E6E6E"/>
                </a:solidFill>
                <a:latin typeface="Calibri" pitchFamily="34" charset="0"/>
                <a:ea typeface="Calibri" pitchFamily="34" charset="-122"/>
                <a:cs typeface="Calibri" pitchFamily="34" charset="-120"/>
              </a:rPr>
              <a:t>once days with the same sunlight are compared</a:t>
            </a:r>
            <a:endParaRPr lang="en-US" sz="1100" dirty="0"/>
          </a:p>
        </p:txBody>
      </p:sp>
      <p:sp>
        <p:nvSpPr>
          <p:cNvPr id="17" name="Text 15"/>
          <p:cNvSpPr/>
          <p:nvPr/>
        </p:nvSpPr>
        <p:spPr>
          <a:xfrm>
            <a:off x="6519672" y="3383280"/>
            <a:ext cx="4892040" cy="1051560"/>
          </a:xfrm>
          <a:prstGeom prst="rect">
            <a:avLst/>
          </a:prstGeom>
          <a:noFill/>
          <a:ln/>
        </p:spPr>
        <p:txBody>
          <a:bodyPr wrap="square" rtlCol="0" anchor="t"/>
          <a:lstStyle/>
          <a:p>
            <a:pPr marL="0" indent="0">
              <a:buNone/>
            </a:pPr>
            <a:r>
              <a:rPr lang="en-US" sz="1200" dirty="0">
                <a:solidFill>
                  <a:srgbClr val="414141"/>
                </a:solidFill>
                <a:latin typeface="Calibri" pitchFamily="34" charset="0"/>
                <a:ea typeface="Calibri" pitchFamily="34" charset="-122"/>
                <a:cs typeface="Calibri" pitchFamily="34" charset="-120"/>
              </a:rPr>
              <a:t>Hold sunlight constant and hot days produce 5.2% less. The physics was there all along, hidden by the season.</a:t>
            </a:r>
            <a:endParaRPr lang="en-US" sz="1200" dirty="0"/>
          </a:p>
        </p:txBody>
      </p:sp>
      <p:sp>
        <p:nvSpPr>
          <p:cNvPr id="18" name="Shape 16"/>
          <p:cNvSpPr/>
          <p:nvPr/>
        </p:nvSpPr>
        <p:spPr>
          <a:xfrm>
            <a:off x="502920" y="4800600"/>
            <a:ext cx="11183112" cy="1508760"/>
          </a:xfrm>
          <a:prstGeom prst="roundRect">
            <a:avLst>
              <a:gd name="adj" fmla="val 3636"/>
            </a:avLst>
          </a:prstGeom>
          <a:solidFill>
            <a:srgbClr val="143148"/>
          </a:solidFill>
          <a:ln/>
        </p:spPr>
        <p:txBody>
          <a:bodyPr/>
          <a:lstStyle/>
          <a:p>
            <a:endParaRPr lang="en-JO"/>
          </a:p>
        </p:txBody>
      </p:sp>
      <p:sp>
        <p:nvSpPr>
          <p:cNvPr id="19" name="Text 17"/>
          <p:cNvSpPr/>
          <p:nvPr/>
        </p:nvSpPr>
        <p:spPr>
          <a:xfrm>
            <a:off x="777240" y="4956048"/>
            <a:ext cx="10515600" cy="274320"/>
          </a:xfrm>
          <a:prstGeom prst="rect">
            <a:avLst/>
          </a:prstGeom>
          <a:noFill/>
          <a:ln/>
        </p:spPr>
        <p:txBody>
          <a:bodyPr wrap="square" rtlCol="0" anchor="ctr"/>
          <a:lstStyle/>
          <a:p>
            <a:pPr marL="0" indent="0">
              <a:buNone/>
            </a:pPr>
            <a:r>
              <a:rPr lang="en-US" sz="1200" b="1" dirty="0">
                <a:solidFill>
                  <a:srgbClr val="EEBE51"/>
                </a:solidFill>
                <a:latin typeface="Calibri" pitchFamily="34" charset="0"/>
                <a:ea typeface="Calibri" pitchFamily="34" charset="-122"/>
                <a:cs typeface="Calibri" pitchFamily="34" charset="-120"/>
              </a:rPr>
              <a:t>WHY THE PEAK MONTH IS JUNE, NOT JULY</a:t>
            </a:r>
            <a:endParaRPr lang="en-US" sz="1200" dirty="0"/>
          </a:p>
        </p:txBody>
      </p:sp>
      <p:sp>
        <p:nvSpPr>
          <p:cNvPr id="20" name="Text 18"/>
          <p:cNvSpPr/>
          <p:nvPr/>
        </p:nvSpPr>
        <p:spPr>
          <a:xfrm>
            <a:off x="777240" y="5285232"/>
            <a:ext cx="10607040" cy="91440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July receives slightly more sunlight, but it is hotter — and the panels pay for it. The model reproduces this without being told.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05 · FINDINGS</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Finding 3 — Location Matters Less Than People Think</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14</a:t>
            </a:r>
            <a:endParaRPr lang="en-US" sz="1000" dirty="0"/>
          </a:p>
        </p:txBody>
      </p:sp>
      <p:sp>
        <p:nvSpPr>
          <p:cNvPr id="7" name="Text 5"/>
          <p:cNvSpPr/>
          <p:nvPr/>
        </p:nvSpPr>
        <p:spPr>
          <a:xfrm>
            <a:off x="502920" y="1298448"/>
            <a:ext cx="10515600" cy="365760"/>
          </a:xfrm>
          <a:prstGeom prst="rect">
            <a:avLst/>
          </a:prstGeom>
          <a:noFill/>
          <a:ln/>
        </p:spPr>
        <p:txBody>
          <a:bodyPr wrap="square"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Annual yield across Jordan, in kWh per kWp per year.</a:t>
            </a:r>
            <a:endParaRPr lang="en-US" sz="1300" dirty="0"/>
          </a:p>
        </p:txBody>
      </p:sp>
      <p:sp>
        <p:nvSpPr>
          <p:cNvPr id="8" name="Shape 6"/>
          <p:cNvSpPr/>
          <p:nvPr/>
        </p:nvSpPr>
        <p:spPr>
          <a:xfrm>
            <a:off x="502920" y="1783080"/>
            <a:ext cx="2590038" cy="1188720"/>
          </a:xfrm>
          <a:prstGeom prst="roundRect">
            <a:avLst>
              <a:gd name="adj" fmla="val 6154"/>
            </a:avLst>
          </a:prstGeom>
          <a:solidFill>
            <a:srgbClr val="EBEBEB"/>
          </a:solidFill>
          <a:ln/>
        </p:spPr>
        <p:txBody>
          <a:bodyPr/>
          <a:lstStyle/>
          <a:p>
            <a:endParaRPr lang="en-JO"/>
          </a:p>
        </p:txBody>
      </p:sp>
      <p:sp>
        <p:nvSpPr>
          <p:cNvPr id="9" name="Text 7"/>
          <p:cNvSpPr/>
          <p:nvPr/>
        </p:nvSpPr>
        <p:spPr>
          <a:xfrm>
            <a:off x="502920" y="1901952"/>
            <a:ext cx="2590038" cy="502920"/>
          </a:xfrm>
          <a:prstGeom prst="rect">
            <a:avLst/>
          </a:prstGeom>
          <a:noFill/>
          <a:ln/>
        </p:spPr>
        <p:txBody>
          <a:bodyPr wrap="square" rtlCol="0" anchor="ctr"/>
          <a:lstStyle/>
          <a:p>
            <a:pPr marL="0" indent="0" algn="ctr">
              <a:buNone/>
            </a:pPr>
            <a:r>
              <a:rPr lang="en-US" sz="2400" b="1" dirty="0">
                <a:solidFill>
                  <a:srgbClr val="CA8F24"/>
                </a:solidFill>
                <a:latin typeface="Cambria" pitchFamily="34" charset="0"/>
                <a:ea typeface="Cambria" pitchFamily="34" charset="-122"/>
                <a:cs typeface="Cambria" pitchFamily="34" charset="-120"/>
              </a:rPr>
              <a:t>1,737</a:t>
            </a:r>
            <a:endParaRPr lang="en-US" sz="2400" dirty="0"/>
          </a:p>
        </p:txBody>
      </p:sp>
      <p:sp>
        <p:nvSpPr>
          <p:cNvPr id="10" name="Text 8"/>
          <p:cNvSpPr/>
          <p:nvPr/>
        </p:nvSpPr>
        <p:spPr>
          <a:xfrm>
            <a:off x="502920" y="2404872"/>
            <a:ext cx="2590038" cy="502920"/>
          </a:xfrm>
          <a:prstGeom prst="rect">
            <a:avLst/>
          </a:prstGeom>
          <a:noFill/>
          <a:ln/>
        </p:spPr>
        <p:txBody>
          <a:bodyPr wrap="square" rtlCol="0" anchor="ctr"/>
          <a:lstStyle/>
          <a:p>
            <a:pPr marL="0" indent="0" algn="ctr">
              <a:buNone/>
            </a:pPr>
            <a:r>
              <a:rPr lang="en-US" sz="1100" dirty="0">
                <a:solidFill>
                  <a:srgbClr val="6E6E6E"/>
                </a:solidFill>
                <a:latin typeface="Calibri" pitchFamily="34" charset="0"/>
                <a:ea typeface="Calibri" pitchFamily="34" charset="-122"/>
                <a:cs typeface="Calibri" pitchFamily="34" charset="-120"/>
              </a:rPr>
              <a:t>Best — southern desert</a:t>
            </a:r>
            <a:endParaRPr lang="en-US" sz="1100" dirty="0"/>
          </a:p>
        </p:txBody>
      </p:sp>
      <p:sp>
        <p:nvSpPr>
          <p:cNvPr id="11" name="Shape 9"/>
          <p:cNvSpPr/>
          <p:nvPr/>
        </p:nvSpPr>
        <p:spPr>
          <a:xfrm>
            <a:off x="3367278" y="1783080"/>
            <a:ext cx="2590038" cy="1188720"/>
          </a:xfrm>
          <a:prstGeom prst="roundRect">
            <a:avLst>
              <a:gd name="adj" fmla="val 6154"/>
            </a:avLst>
          </a:prstGeom>
          <a:solidFill>
            <a:srgbClr val="EBEBEB"/>
          </a:solidFill>
          <a:ln/>
        </p:spPr>
        <p:txBody>
          <a:bodyPr/>
          <a:lstStyle/>
          <a:p>
            <a:endParaRPr lang="en-JO"/>
          </a:p>
        </p:txBody>
      </p:sp>
      <p:sp>
        <p:nvSpPr>
          <p:cNvPr id="12" name="Text 10"/>
          <p:cNvSpPr/>
          <p:nvPr/>
        </p:nvSpPr>
        <p:spPr>
          <a:xfrm>
            <a:off x="3367278" y="1901952"/>
            <a:ext cx="2590038" cy="502920"/>
          </a:xfrm>
          <a:prstGeom prst="rect">
            <a:avLst/>
          </a:prstGeom>
          <a:noFill/>
          <a:ln/>
        </p:spPr>
        <p:txBody>
          <a:bodyPr wrap="square" rtlCol="0" anchor="ctr"/>
          <a:lstStyle/>
          <a:p>
            <a:pPr marL="0" indent="0" algn="ctr">
              <a:buNone/>
            </a:pPr>
            <a:r>
              <a:rPr lang="en-US" sz="2400" b="1" dirty="0">
                <a:solidFill>
                  <a:srgbClr val="CA8F24"/>
                </a:solidFill>
                <a:latin typeface="Cambria" pitchFamily="34" charset="0"/>
                <a:ea typeface="Cambria" pitchFamily="34" charset="-122"/>
                <a:cs typeface="Cambria" pitchFamily="34" charset="-120"/>
              </a:rPr>
              <a:t>1,532</a:t>
            </a:r>
            <a:endParaRPr lang="en-US" sz="2400" dirty="0"/>
          </a:p>
        </p:txBody>
      </p:sp>
      <p:sp>
        <p:nvSpPr>
          <p:cNvPr id="13" name="Text 11"/>
          <p:cNvSpPr/>
          <p:nvPr/>
        </p:nvSpPr>
        <p:spPr>
          <a:xfrm>
            <a:off x="3367278" y="2404872"/>
            <a:ext cx="2590038" cy="502920"/>
          </a:xfrm>
          <a:prstGeom prst="rect">
            <a:avLst/>
          </a:prstGeom>
          <a:noFill/>
          <a:ln/>
        </p:spPr>
        <p:txBody>
          <a:bodyPr wrap="square" rtlCol="0" anchor="ctr"/>
          <a:lstStyle/>
          <a:p>
            <a:pPr marL="0" indent="0" algn="ctr">
              <a:buNone/>
            </a:pPr>
            <a:r>
              <a:rPr lang="en-US" sz="1100" dirty="0">
                <a:solidFill>
                  <a:srgbClr val="6E6E6E"/>
                </a:solidFill>
                <a:latin typeface="Calibri" pitchFamily="34" charset="0"/>
                <a:ea typeface="Calibri" pitchFamily="34" charset="-122"/>
                <a:cs typeface="Calibri" pitchFamily="34" charset="-120"/>
              </a:rPr>
              <a:t>Lowest — northern hills</a:t>
            </a:r>
            <a:endParaRPr lang="en-US" sz="1100" dirty="0"/>
          </a:p>
        </p:txBody>
      </p:sp>
      <p:sp>
        <p:nvSpPr>
          <p:cNvPr id="14" name="Shape 12"/>
          <p:cNvSpPr/>
          <p:nvPr/>
        </p:nvSpPr>
        <p:spPr>
          <a:xfrm>
            <a:off x="6231636" y="1783080"/>
            <a:ext cx="2590038" cy="1188720"/>
          </a:xfrm>
          <a:prstGeom prst="roundRect">
            <a:avLst>
              <a:gd name="adj" fmla="val 6154"/>
            </a:avLst>
          </a:prstGeom>
          <a:solidFill>
            <a:srgbClr val="EBEBEB"/>
          </a:solidFill>
          <a:ln/>
        </p:spPr>
        <p:txBody>
          <a:bodyPr/>
          <a:lstStyle/>
          <a:p>
            <a:endParaRPr lang="en-JO"/>
          </a:p>
        </p:txBody>
      </p:sp>
      <p:sp>
        <p:nvSpPr>
          <p:cNvPr id="15" name="Text 13"/>
          <p:cNvSpPr/>
          <p:nvPr/>
        </p:nvSpPr>
        <p:spPr>
          <a:xfrm>
            <a:off x="6231636" y="1901952"/>
            <a:ext cx="2590038" cy="502920"/>
          </a:xfrm>
          <a:prstGeom prst="rect">
            <a:avLst/>
          </a:prstGeom>
          <a:noFill/>
          <a:ln/>
        </p:spPr>
        <p:txBody>
          <a:bodyPr wrap="square" rtlCol="0" anchor="ctr"/>
          <a:lstStyle/>
          <a:p>
            <a:pPr marL="0" indent="0" algn="ctr">
              <a:buNone/>
            </a:pPr>
            <a:r>
              <a:rPr lang="en-US" sz="2400" b="1" dirty="0">
                <a:solidFill>
                  <a:srgbClr val="CA8F24"/>
                </a:solidFill>
                <a:latin typeface="Cambria" pitchFamily="34" charset="0"/>
                <a:ea typeface="Cambria" pitchFamily="34" charset="-122"/>
                <a:cs typeface="Cambria" pitchFamily="34" charset="-120"/>
              </a:rPr>
              <a:t>13%</a:t>
            </a:r>
            <a:endParaRPr lang="en-US" sz="2400" dirty="0"/>
          </a:p>
        </p:txBody>
      </p:sp>
      <p:sp>
        <p:nvSpPr>
          <p:cNvPr id="16" name="Text 14"/>
          <p:cNvSpPr/>
          <p:nvPr/>
        </p:nvSpPr>
        <p:spPr>
          <a:xfrm>
            <a:off x="6231636" y="2404872"/>
            <a:ext cx="2590038" cy="502920"/>
          </a:xfrm>
          <a:prstGeom prst="rect">
            <a:avLst/>
          </a:prstGeom>
          <a:noFill/>
          <a:ln/>
        </p:spPr>
        <p:txBody>
          <a:bodyPr wrap="square" rtlCol="0" anchor="ctr"/>
          <a:lstStyle/>
          <a:p>
            <a:pPr marL="0" indent="0" algn="ctr">
              <a:buNone/>
            </a:pPr>
            <a:r>
              <a:rPr lang="en-US" sz="1100" dirty="0">
                <a:solidFill>
                  <a:srgbClr val="6E6E6E"/>
                </a:solidFill>
                <a:latin typeface="Calibri" pitchFamily="34" charset="0"/>
                <a:ea typeface="Calibri" pitchFamily="34" charset="-122"/>
                <a:cs typeface="Calibri" pitchFamily="34" charset="-120"/>
              </a:rPr>
              <a:t>Difference across Jordan</a:t>
            </a:r>
            <a:endParaRPr lang="en-US" sz="1100" dirty="0"/>
          </a:p>
        </p:txBody>
      </p:sp>
      <p:sp>
        <p:nvSpPr>
          <p:cNvPr id="17" name="Shape 15"/>
          <p:cNvSpPr/>
          <p:nvPr/>
        </p:nvSpPr>
        <p:spPr>
          <a:xfrm>
            <a:off x="9095994" y="1783080"/>
            <a:ext cx="2590038" cy="1188720"/>
          </a:xfrm>
          <a:prstGeom prst="roundRect">
            <a:avLst>
              <a:gd name="adj" fmla="val 6154"/>
            </a:avLst>
          </a:prstGeom>
          <a:solidFill>
            <a:srgbClr val="EBEBEB"/>
          </a:solidFill>
          <a:ln/>
        </p:spPr>
        <p:txBody>
          <a:bodyPr/>
          <a:lstStyle/>
          <a:p>
            <a:endParaRPr lang="en-JO"/>
          </a:p>
        </p:txBody>
      </p:sp>
      <p:sp>
        <p:nvSpPr>
          <p:cNvPr id="18" name="Text 16"/>
          <p:cNvSpPr/>
          <p:nvPr/>
        </p:nvSpPr>
        <p:spPr>
          <a:xfrm>
            <a:off x="9095994" y="1901952"/>
            <a:ext cx="2590038" cy="502920"/>
          </a:xfrm>
          <a:prstGeom prst="rect">
            <a:avLst/>
          </a:prstGeom>
          <a:noFill/>
          <a:ln/>
        </p:spPr>
        <p:txBody>
          <a:bodyPr wrap="square" rtlCol="0" anchor="ctr"/>
          <a:lstStyle/>
          <a:p>
            <a:pPr marL="0" indent="0" algn="ctr">
              <a:buNone/>
            </a:pPr>
            <a:r>
              <a:rPr lang="en-US" sz="2400" b="1" dirty="0">
                <a:solidFill>
                  <a:srgbClr val="CA8F24"/>
                </a:solidFill>
                <a:latin typeface="Cambria" pitchFamily="34" charset="0"/>
                <a:ea typeface="Cambria" pitchFamily="34" charset="-122"/>
                <a:cs typeface="Cambria" pitchFamily="34" charset="-120"/>
              </a:rPr>
              <a:t>2.5×</a:t>
            </a:r>
            <a:endParaRPr lang="en-US" sz="2400" dirty="0"/>
          </a:p>
        </p:txBody>
      </p:sp>
      <p:sp>
        <p:nvSpPr>
          <p:cNvPr id="19" name="Text 17"/>
          <p:cNvSpPr/>
          <p:nvPr/>
        </p:nvSpPr>
        <p:spPr>
          <a:xfrm>
            <a:off x="9095994" y="2404872"/>
            <a:ext cx="2590038" cy="502920"/>
          </a:xfrm>
          <a:prstGeom prst="rect">
            <a:avLst/>
          </a:prstGeom>
          <a:noFill/>
          <a:ln/>
        </p:spPr>
        <p:txBody>
          <a:bodyPr wrap="square" rtlCol="0" anchor="ctr"/>
          <a:lstStyle/>
          <a:p>
            <a:pPr marL="0" indent="0" algn="ctr">
              <a:buNone/>
            </a:pPr>
            <a:r>
              <a:rPr lang="en-US" sz="1100" dirty="0">
                <a:solidFill>
                  <a:srgbClr val="6E6E6E"/>
                </a:solidFill>
                <a:latin typeface="Calibri" pitchFamily="34" charset="0"/>
                <a:ea typeface="Calibri" pitchFamily="34" charset="-122"/>
                <a:cs typeface="Calibri" pitchFamily="34" charset="-120"/>
              </a:rPr>
              <a:t>Difference across seasons</a:t>
            </a:r>
            <a:endParaRPr lang="en-US" sz="1100" dirty="0"/>
          </a:p>
        </p:txBody>
      </p:sp>
      <p:sp>
        <p:nvSpPr>
          <p:cNvPr id="20" name="Shape 18"/>
          <p:cNvSpPr/>
          <p:nvPr/>
        </p:nvSpPr>
        <p:spPr>
          <a:xfrm>
            <a:off x="502920" y="3200400"/>
            <a:ext cx="5440680" cy="2606040"/>
          </a:xfrm>
          <a:prstGeom prst="roundRect">
            <a:avLst>
              <a:gd name="adj" fmla="val 2807"/>
            </a:avLst>
          </a:prstGeom>
          <a:solidFill>
            <a:srgbClr val="F5F5F5"/>
          </a:solidFill>
          <a:ln/>
        </p:spPr>
        <p:txBody>
          <a:bodyPr/>
          <a:lstStyle/>
          <a:p>
            <a:endParaRPr lang="en-JO"/>
          </a:p>
        </p:txBody>
      </p:sp>
      <p:sp>
        <p:nvSpPr>
          <p:cNvPr id="21" name="Text 19"/>
          <p:cNvSpPr/>
          <p:nvPr/>
        </p:nvSpPr>
        <p:spPr>
          <a:xfrm>
            <a:off x="777240" y="3383280"/>
            <a:ext cx="4937760" cy="274320"/>
          </a:xfrm>
          <a:prstGeom prst="rect">
            <a:avLst/>
          </a:prstGeom>
          <a:noFill/>
          <a:ln/>
        </p:spPr>
        <p:txBody>
          <a:bodyPr wrap="square" rtlCol="0" anchor="ctr"/>
          <a:lstStyle/>
          <a:p>
            <a:pPr marL="0" indent="0">
              <a:buNone/>
            </a:pPr>
            <a:r>
              <a:rPr lang="en-US" sz="1200" b="1" dirty="0">
                <a:solidFill>
                  <a:srgbClr val="CA8F24"/>
                </a:solidFill>
                <a:latin typeface="Calibri" pitchFamily="34" charset="0"/>
                <a:ea typeface="Calibri" pitchFamily="34" charset="-122"/>
                <a:cs typeface="Calibri" pitchFamily="34" charset="-120"/>
              </a:rPr>
              <a:t>FOR A HOUSEHOLD</a:t>
            </a:r>
            <a:endParaRPr lang="en-US" sz="1200" dirty="0"/>
          </a:p>
        </p:txBody>
      </p:sp>
      <p:sp>
        <p:nvSpPr>
          <p:cNvPr id="22" name="Text 20"/>
          <p:cNvSpPr/>
          <p:nvPr/>
        </p:nvSpPr>
        <p:spPr>
          <a:xfrm>
            <a:off x="777240" y="3703320"/>
            <a:ext cx="4892040" cy="1965960"/>
          </a:xfrm>
          <a:prstGeom prst="rect">
            <a:avLst/>
          </a:prstGeom>
          <a:noFill/>
          <a:ln/>
        </p:spPr>
        <p:txBody>
          <a:bodyPr wrap="square" rtlCol="0" anchor="t"/>
          <a:lstStyle/>
          <a:p>
            <a:pPr marL="0" indent="0">
              <a:buNone/>
            </a:pPr>
            <a:r>
              <a:rPr lang="en-US" sz="1250" dirty="0">
                <a:solidFill>
                  <a:srgbClr val="414141"/>
                </a:solidFill>
                <a:latin typeface="Calibri" pitchFamily="34" charset="0"/>
                <a:ea typeface="Calibri" pitchFamily="34" charset="-122"/>
                <a:cs typeface="Calibri" pitchFamily="34" charset="-120"/>
              </a:rPr>
              <a:t>Your location inside Jordan is not the deciding factor. What matters is how much electricity you use, and in which months you use it. System size and consumption dominate the result.</a:t>
            </a:r>
            <a:endParaRPr lang="en-US" sz="1250" dirty="0"/>
          </a:p>
        </p:txBody>
      </p:sp>
      <p:sp>
        <p:nvSpPr>
          <p:cNvPr id="23" name="Shape 21"/>
          <p:cNvSpPr/>
          <p:nvPr/>
        </p:nvSpPr>
        <p:spPr>
          <a:xfrm>
            <a:off x="6245352" y="3200400"/>
            <a:ext cx="5440680" cy="2606040"/>
          </a:xfrm>
          <a:prstGeom prst="roundRect">
            <a:avLst>
              <a:gd name="adj" fmla="val 2807"/>
            </a:avLst>
          </a:prstGeom>
          <a:solidFill>
            <a:srgbClr val="F5F5F5"/>
          </a:solidFill>
          <a:ln/>
        </p:spPr>
        <p:txBody>
          <a:bodyPr/>
          <a:lstStyle/>
          <a:p>
            <a:endParaRPr lang="en-JO"/>
          </a:p>
        </p:txBody>
      </p:sp>
      <p:sp>
        <p:nvSpPr>
          <p:cNvPr id="24" name="Text 22"/>
          <p:cNvSpPr/>
          <p:nvPr/>
        </p:nvSpPr>
        <p:spPr>
          <a:xfrm>
            <a:off x="6519672" y="3383280"/>
            <a:ext cx="4937760" cy="274320"/>
          </a:xfrm>
          <a:prstGeom prst="rect">
            <a:avLst/>
          </a:prstGeom>
          <a:noFill/>
          <a:ln/>
        </p:spPr>
        <p:txBody>
          <a:bodyPr wrap="square" rtlCol="0" anchor="ctr"/>
          <a:lstStyle/>
          <a:p>
            <a:pPr marL="0" indent="0">
              <a:buNone/>
            </a:pPr>
            <a:r>
              <a:rPr lang="en-US" sz="1200" b="1" dirty="0">
                <a:solidFill>
                  <a:srgbClr val="CA8F24"/>
                </a:solidFill>
                <a:latin typeface="Calibri" pitchFamily="34" charset="0"/>
                <a:ea typeface="Calibri" pitchFamily="34" charset="-122"/>
                <a:cs typeface="Calibri" pitchFamily="34" charset="-120"/>
              </a:rPr>
              <a:t>FOR AN INVESTOR</a:t>
            </a:r>
            <a:endParaRPr lang="en-US" sz="1200" dirty="0"/>
          </a:p>
        </p:txBody>
      </p:sp>
      <p:sp>
        <p:nvSpPr>
          <p:cNvPr id="25" name="Text 23"/>
          <p:cNvSpPr/>
          <p:nvPr/>
        </p:nvSpPr>
        <p:spPr>
          <a:xfrm>
            <a:off x="6519672" y="3703320"/>
            <a:ext cx="4892040" cy="1965960"/>
          </a:xfrm>
          <a:prstGeom prst="rect">
            <a:avLst/>
          </a:prstGeom>
          <a:noFill/>
          <a:ln/>
        </p:spPr>
        <p:txBody>
          <a:bodyPr wrap="square" rtlCol="0" anchor="t"/>
          <a:lstStyle/>
          <a:p>
            <a:pPr marL="0" indent="0">
              <a:buNone/>
            </a:pPr>
            <a:r>
              <a:rPr lang="en-US" sz="1250" dirty="0">
                <a:solidFill>
                  <a:srgbClr val="414141"/>
                </a:solidFill>
                <a:latin typeface="Calibri" pitchFamily="34" charset="0"/>
                <a:ea typeface="Calibri" pitchFamily="34" charset="-122"/>
                <a:cs typeface="Calibri" pitchFamily="34" charset="-120"/>
              </a:rPr>
              <a:t>13% is worth having on a large project — but land price and grid access usually differ by more. The map ranks sites; it does not pick one — use it to shortlist, then decide on cost and grid connection.</a:t>
            </a:r>
            <a:endParaRPr lang="en-US" sz="1250" dirty="0"/>
          </a:p>
        </p:txBody>
      </p:sp>
      <p:sp>
        <p:nvSpPr>
          <p:cNvPr id="26" name="Text 24"/>
          <p:cNvSpPr/>
          <p:nvPr/>
        </p:nvSpPr>
        <p:spPr>
          <a:xfrm>
            <a:off x="502920" y="5989320"/>
            <a:ext cx="11155680" cy="365760"/>
          </a:xfrm>
          <a:prstGeom prst="rect">
            <a:avLst/>
          </a:prstGeom>
          <a:noFill/>
          <a:ln/>
        </p:spPr>
        <p:txBody>
          <a:bodyPr wrap="square" rtlCol="0" anchor="ctr"/>
          <a:lstStyle/>
          <a:p>
            <a:pPr marL="0" indent="0">
              <a:buNone/>
            </a:pPr>
            <a:r>
              <a:rPr lang="en-US" sz="1050" i="1" dirty="0">
                <a:solidFill>
                  <a:srgbClr val="6E6E6E"/>
                </a:solidFill>
                <a:latin typeface="Calibri" pitchFamily="34" charset="0"/>
                <a:ea typeface="Calibri" pitchFamily="34" charset="-122"/>
                <a:cs typeface="Calibri" pitchFamily="34" charset="-120"/>
              </a:rPr>
              <a:t>Figures are per grid location. The dashboard aggregates to district level, which narrows the range to 1,557–1,733.</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06 · THE AI PART</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We Compared Three Models</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15</a:t>
            </a:r>
            <a:endParaRPr lang="en-US" sz="1000" dirty="0"/>
          </a:p>
        </p:txBody>
      </p:sp>
      <p:sp>
        <p:nvSpPr>
          <p:cNvPr id="7" name="Text 5"/>
          <p:cNvSpPr/>
          <p:nvPr/>
        </p:nvSpPr>
        <p:spPr>
          <a:xfrm>
            <a:off x="502920" y="1298448"/>
            <a:ext cx="10515600" cy="365760"/>
          </a:xfrm>
          <a:prstGeom prst="rect">
            <a:avLst/>
          </a:prstGeom>
          <a:noFill/>
          <a:ln/>
        </p:spPr>
        <p:txBody>
          <a:bodyPr wrap="square"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Same features, same split, same test set — only the algorithm changes.</a:t>
            </a:r>
            <a:endParaRPr lang="en-US" sz="1300" dirty="0"/>
          </a:p>
        </p:txBody>
      </p:sp>
      <p:sp>
        <p:nvSpPr>
          <p:cNvPr id="8" name="Shape 6"/>
          <p:cNvSpPr/>
          <p:nvPr/>
        </p:nvSpPr>
        <p:spPr>
          <a:xfrm>
            <a:off x="502920" y="1828800"/>
            <a:ext cx="2514600" cy="594360"/>
          </a:xfrm>
          <a:prstGeom prst="roundRect">
            <a:avLst>
              <a:gd name="adj" fmla="val 53846"/>
            </a:avLst>
          </a:prstGeom>
          <a:solidFill>
            <a:srgbClr val="EBEBEB"/>
          </a:solidFill>
          <a:ln/>
        </p:spPr>
        <p:txBody>
          <a:bodyPr/>
          <a:lstStyle/>
          <a:p>
            <a:endParaRPr lang="en-JO"/>
          </a:p>
        </p:txBody>
      </p:sp>
      <p:sp>
        <p:nvSpPr>
          <p:cNvPr id="9" name="Text 7"/>
          <p:cNvSpPr/>
          <p:nvPr/>
        </p:nvSpPr>
        <p:spPr>
          <a:xfrm>
            <a:off x="502920" y="1828800"/>
            <a:ext cx="2514600" cy="594360"/>
          </a:xfrm>
          <a:prstGeom prst="rect">
            <a:avLst/>
          </a:prstGeom>
          <a:noFill/>
          <a:ln/>
        </p:spPr>
        <p:txBody>
          <a:bodyPr wrap="square" rtlCol="0" anchor="ctr"/>
          <a:lstStyle/>
          <a:p>
            <a:pPr marL="0" indent="0" algn="ctr">
              <a:buNone/>
            </a:pPr>
            <a:r>
              <a:rPr lang="en-US" sz="1200" b="1" dirty="0">
                <a:solidFill>
                  <a:srgbClr val="143148"/>
                </a:solidFill>
                <a:latin typeface="Calibri" pitchFamily="34" charset="0"/>
                <a:ea typeface="Calibri" pitchFamily="34" charset="-122"/>
                <a:cs typeface="Calibri" pitchFamily="34" charset="-120"/>
              </a:rPr>
              <a:t>Weather Inputs</a:t>
            </a:r>
            <a:endParaRPr lang="en-US" sz="1200" dirty="0"/>
          </a:p>
        </p:txBody>
      </p:sp>
      <p:sp>
        <p:nvSpPr>
          <p:cNvPr id="10" name="Text 8"/>
          <p:cNvSpPr/>
          <p:nvPr/>
        </p:nvSpPr>
        <p:spPr>
          <a:xfrm>
            <a:off x="3017520" y="1828800"/>
            <a:ext cx="292608" cy="594360"/>
          </a:xfrm>
          <a:prstGeom prst="rect">
            <a:avLst/>
          </a:prstGeom>
          <a:noFill/>
          <a:ln/>
        </p:spPr>
        <p:txBody>
          <a:bodyPr wrap="square" rtlCol="0" anchor="ctr"/>
          <a:lstStyle/>
          <a:p>
            <a:pPr marL="0" indent="0" algn="ctr">
              <a:buNone/>
            </a:pPr>
            <a:r>
              <a:rPr lang="en-US" sz="1600" b="1" dirty="0">
                <a:solidFill>
                  <a:srgbClr val="CA8F24"/>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3310128" y="1828800"/>
            <a:ext cx="2514600" cy="594360"/>
          </a:xfrm>
          <a:prstGeom prst="roundRect">
            <a:avLst>
              <a:gd name="adj" fmla="val 53846"/>
            </a:avLst>
          </a:prstGeom>
          <a:solidFill>
            <a:srgbClr val="EBEBEB"/>
          </a:solidFill>
          <a:ln/>
        </p:spPr>
        <p:txBody>
          <a:bodyPr/>
          <a:lstStyle/>
          <a:p>
            <a:endParaRPr lang="en-JO"/>
          </a:p>
        </p:txBody>
      </p:sp>
      <p:sp>
        <p:nvSpPr>
          <p:cNvPr id="12" name="Text 10"/>
          <p:cNvSpPr/>
          <p:nvPr/>
        </p:nvSpPr>
        <p:spPr>
          <a:xfrm>
            <a:off x="3310128" y="1828800"/>
            <a:ext cx="2514600" cy="594360"/>
          </a:xfrm>
          <a:prstGeom prst="rect">
            <a:avLst/>
          </a:prstGeom>
          <a:noFill/>
          <a:ln/>
        </p:spPr>
        <p:txBody>
          <a:bodyPr wrap="square" rtlCol="0" anchor="ctr"/>
          <a:lstStyle/>
          <a:p>
            <a:pPr marL="0" indent="0" algn="ctr">
              <a:buNone/>
            </a:pPr>
            <a:r>
              <a:rPr lang="en-US" sz="1200" b="1" dirty="0">
                <a:solidFill>
                  <a:srgbClr val="143148"/>
                </a:solidFill>
                <a:latin typeface="Calibri" pitchFamily="34" charset="0"/>
                <a:ea typeface="Calibri" pitchFamily="34" charset="-122"/>
                <a:cs typeface="Calibri" pitchFamily="34" charset="-120"/>
              </a:rPr>
              <a:t>Prediction Model</a:t>
            </a:r>
            <a:endParaRPr lang="en-US" sz="1200" dirty="0"/>
          </a:p>
        </p:txBody>
      </p:sp>
      <p:sp>
        <p:nvSpPr>
          <p:cNvPr id="13" name="Text 11"/>
          <p:cNvSpPr/>
          <p:nvPr/>
        </p:nvSpPr>
        <p:spPr>
          <a:xfrm>
            <a:off x="5824728" y="1828800"/>
            <a:ext cx="292608" cy="594360"/>
          </a:xfrm>
          <a:prstGeom prst="rect">
            <a:avLst/>
          </a:prstGeom>
          <a:noFill/>
          <a:ln/>
        </p:spPr>
        <p:txBody>
          <a:bodyPr wrap="square" rtlCol="0" anchor="ctr"/>
          <a:lstStyle/>
          <a:p>
            <a:pPr marL="0" indent="0" algn="ctr">
              <a:buNone/>
            </a:pPr>
            <a:r>
              <a:rPr lang="en-US" sz="1600" b="1" dirty="0">
                <a:solidFill>
                  <a:srgbClr val="CA8F24"/>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6117336" y="1828800"/>
            <a:ext cx="2514600" cy="594360"/>
          </a:xfrm>
          <a:prstGeom prst="roundRect">
            <a:avLst>
              <a:gd name="adj" fmla="val 53846"/>
            </a:avLst>
          </a:prstGeom>
          <a:solidFill>
            <a:srgbClr val="EBEBEB"/>
          </a:solidFill>
          <a:ln/>
        </p:spPr>
        <p:txBody>
          <a:bodyPr/>
          <a:lstStyle/>
          <a:p>
            <a:endParaRPr lang="en-JO"/>
          </a:p>
        </p:txBody>
      </p:sp>
      <p:sp>
        <p:nvSpPr>
          <p:cNvPr id="15" name="Text 13"/>
          <p:cNvSpPr/>
          <p:nvPr/>
        </p:nvSpPr>
        <p:spPr>
          <a:xfrm>
            <a:off x="6117336" y="1828800"/>
            <a:ext cx="2514600" cy="594360"/>
          </a:xfrm>
          <a:prstGeom prst="rect">
            <a:avLst/>
          </a:prstGeom>
          <a:noFill/>
          <a:ln/>
        </p:spPr>
        <p:txBody>
          <a:bodyPr wrap="square" rtlCol="0" anchor="ctr"/>
          <a:lstStyle/>
          <a:p>
            <a:pPr marL="0" indent="0" algn="ctr">
              <a:buNone/>
            </a:pPr>
            <a:r>
              <a:rPr lang="en-US" sz="1200" b="1" dirty="0">
                <a:solidFill>
                  <a:srgbClr val="143148"/>
                </a:solidFill>
                <a:latin typeface="Calibri" pitchFamily="34" charset="0"/>
                <a:ea typeface="Calibri" pitchFamily="34" charset="-122"/>
                <a:cs typeface="Calibri" pitchFamily="34" charset="-120"/>
              </a:rPr>
              <a:t>Solar Output</a:t>
            </a:r>
            <a:endParaRPr lang="en-US" sz="1200" dirty="0"/>
          </a:p>
        </p:txBody>
      </p:sp>
      <p:sp>
        <p:nvSpPr>
          <p:cNvPr id="16" name="Text 14"/>
          <p:cNvSpPr/>
          <p:nvPr/>
        </p:nvSpPr>
        <p:spPr>
          <a:xfrm>
            <a:off x="8631936" y="1828800"/>
            <a:ext cx="292608" cy="594360"/>
          </a:xfrm>
          <a:prstGeom prst="rect">
            <a:avLst/>
          </a:prstGeom>
          <a:noFill/>
          <a:ln/>
        </p:spPr>
        <p:txBody>
          <a:bodyPr wrap="square" rtlCol="0" anchor="ctr"/>
          <a:lstStyle/>
          <a:p>
            <a:pPr marL="0" indent="0" algn="ctr">
              <a:buNone/>
            </a:pPr>
            <a:r>
              <a:rPr lang="en-US" sz="1600" b="1" dirty="0">
                <a:solidFill>
                  <a:srgbClr val="CA8F24"/>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8924544" y="1828800"/>
            <a:ext cx="2514600" cy="594360"/>
          </a:xfrm>
          <a:prstGeom prst="roundRect">
            <a:avLst>
              <a:gd name="adj" fmla="val 53846"/>
            </a:avLst>
          </a:prstGeom>
          <a:solidFill>
            <a:srgbClr val="EBEBEB"/>
          </a:solidFill>
          <a:ln/>
        </p:spPr>
        <p:txBody>
          <a:bodyPr/>
          <a:lstStyle/>
          <a:p>
            <a:endParaRPr lang="en-JO"/>
          </a:p>
        </p:txBody>
      </p:sp>
      <p:sp>
        <p:nvSpPr>
          <p:cNvPr id="18" name="Text 16"/>
          <p:cNvSpPr/>
          <p:nvPr/>
        </p:nvSpPr>
        <p:spPr>
          <a:xfrm>
            <a:off x="8924544" y="1828800"/>
            <a:ext cx="2514600" cy="594360"/>
          </a:xfrm>
          <a:prstGeom prst="rect">
            <a:avLst/>
          </a:prstGeom>
          <a:noFill/>
          <a:ln/>
        </p:spPr>
        <p:txBody>
          <a:bodyPr wrap="square" rtlCol="0" anchor="ctr"/>
          <a:lstStyle/>
          <a:p>
            <a:pPr marL="0" indent="0" algn="ctr">
              <a:buNone/>
            </a:pPr>
            <a:r>
              <a:rPr lang="en-US" sz="1200" b="1" dirty="0">
                <a:solidFill>
                  <a:srgbClr val="143148"/>
                </a:solidFill>
                <a:latin typeface="Calibri" pitchFamily="34" charset="0"/>
                <a:ea typeface="Calibri" pitchFamily="34" charset="-122"/>
                <a:cs typeface="Calibri" pitchFamily="34" charset="-120"/>
              </a:rPr>
              <a:t>Validation</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2697480"/>
          <a:ext cx="5577840" cy="1554480"/>
        </p:xfrm>
        <a:graphic>
          <a:graphicData uri="http://schemas.openxmlformats.org/drawingml/2006/table">
            <a:tbl>
              <a:tblPr/>
              <a:tblGrid>
                <a:gridCol w="2286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8862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143148"/>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RMSE</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143148"/>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MAE</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143148"/>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R²</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143148"/>
                    </a:solidFill>
                  </a:tcPr>
                </a:tc>
                <a:extLst>
                  <a:ext uri="{0D108BD9-81ED-4DB2-BD59-A6C34878D82A}">
                    <a16:rowId xmlns:a16="http://schemas.microsoft.com/office/drawing/2014/main" val="10000"/>
                  </a:ext>
                </a:extLst>
              </a:tr>
              <a:tr h="388620">
                <a:tc>
                  <a:txBody>
                    <a:bodyPr/>
                    <a:lstStyle/>
                    <a:p>
                      <a:pPr marL="0" indent="0" algn="l">
                        <a:buNone/>
                      </a:pPr>
                      <a:r>
                        <a:rPr lang="en-US" sz="1250" dirty="0">
                          <a:solidFill>
                            <a:srgbClr val="414141"/>
                          </a:solidFill>
                          <a:latin typeface="Calibri" pitchFamily="34" charset="0"/>
                          <a:ea typeface="Calibri" pitchFamily="34" charset="-122"/>
                          <a:cs typeface="Calibri" pitchFamily="34" charset="-120"/>
                        </a:rPr>
                        <a:t>Linear Regression</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14141"/>
                          </a:solidFill>
                          <a:latin typeface="Calibri" pitchFamily="34" charset="0"/>
                          <a:ea typeface="Calibri" pitchFamily="34" charset="-122"/>
                          <a:cs typeface="Calibri" pitchFamily="34" charset="-120"/>
                        </a:rPr>
                        <a:t>0.2273</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14141"/>
                          </a:solidFill>
                          <a:latin typeface="Calibri" pitchFamily="34" charset="0"/>
                          <a:ea typeface="Calibri" pitchFamily="34" charset="-122"/>
                          <a:cs typeface="Calibri" pitchFamily="34" charset="-120"/>
                        </a:rPr>
                        <a:t>0.152</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14141"/>
                          </a:solidFill>
                          <a:latin typeface="Calibri" pitchFamily="34" charset="0"/>
                          <a:ea typeface="Calibri" pitchFamily="34" charset="-122"/>
                          <a:cs typeface="Calibri" pitchFamily="34" charset="-120"/>
                        </a:rPr>
                        <a:t>0.971</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8620">
                <a:tc>
                  <a:txBody>
                    <a:bodyPr/>
                    <a:lstStyle/>
                    <a:p>
                      <a:pPr marL="0" indent="0" algn="l">
                        <a:buNone/>
                      </a:pPr>
                      <a:r>
                        <a:rPr lang="en-US" sz="1250" dirty="0">
                          <a:solidFill>
                            <a:srgbClr val="414141"/>
                          </a:solidFill>
                          <a:latin typeface="Calibri" pitchFamily="34" charset="0"/>
                          <a:ea typeface="Calibri" pitchFamily="34" charset="-122"/>
                          <a:cs typeface="Calibri" pitchFamily="34" charset="-120"/>
                        </a:rPr>
                        <a:t>Random Forest</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14141"/>
                          </a:solidFill>
                          <a:latin typeface="Calibri" pitchFamily="34" charset="0"/>
                          <a:ea typeface="Calibri" pitchFamily="34" charset="-122"/>
                          <a:cs typeface="Calibri" pitchFamily="34" charset="-120"/>
                        </a:rPr>
                        <a:t>0.1942</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14141"/>
                          </a:solidFill>
                          <a:latin typeface="Calibri" pitchFamily="34" charset="0"/>
                          <a:ea typeface="Calibri" pitchFamily="34" charset="-122"/>
                          <a:cs typeface="Calibri" pitchFamily="34" charset="-120"/>
                        </a:rPr>
                        <a:t>0.100</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14141"/>
                          </a:solidFill>
                          <a:latin typeface="Calibri" pitchFamily="34" charset="0"/>
                          <a:ea typeface="Calibri" pitchFamily="34" charset="-122"/>
                          <a:cs typeface="Calibri" pitchFamily="34" charset="-120"/>
                        </a:rPr>
                        <a:t>0.979</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8620">
                <a:tc>
                  <a:txBody>
                    <a:bodyPr/>
                    <a:lstStyle/>
                    <a:p>
                      <a:pPr marL="0" indent="0">
                        <a:buNone/>
                      </a:pPr>
                      <a:r>
                        <a:rPr lang="en-US" sz="1250" b="1" dirty="0">
                          <a:solidFill>
                            <a:srgbClr val="143148"/>
                          </a:solidFill>
                          <a:latin typeface="Calibri" pitchFamily="34" charset="0"/>
                          <a:ea typeface="Calibri" pitchFamily="34" charset="-122"/>
                          <a:cs typeface="Calibri" pitchFamily="34" charset="-120"/>
                        </a:rPr>
                        <a:t>★ XGBoost</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250" b="1" dirty="0">
                          <a:solidFill>
                            <a:srgbClr val="000000"/>
                          </a:solidFill>
                          <a:latin typeface="Calibri" pitchFamily="34" charset="0"/>
                          <a:ea typeface="Calibri" pitchFamily="34" charset="-122"/>
                          <a:cs typeface="Calibri" pitchFamily="34" charset="-120"/>
                        </a:rPr>
                        <a:t>0.1781</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250" b="1" dirty="0">
                          <a:solidFill>
                            <a:srgbClr val="000000"/>
                          </a:solidFill>
                          <a:latin typeface="Calibri" pitchFamily="34" charset="0"/>
                          <a:ea typeface="Calibri" pitchFamily="34" charset="-122"/>
                          <a:cs typeface="Calibri" pitchFamily="34" charset="-120"/>
                        </a:rPr>
                        <a:t>0.097</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250" b="1" dirty="0">
                          <a:solidFill>
                            <a:srgbClr val="000000"/>
                          </a:solidFill>
                          <a:latin typeface="Calibri" pitchFamily="34" charset="0"/>
                          <a:ea typeface="Calibri" pitchFamily="34" charset="-122"/>
                          <a:cs typeface="Calibri" pitchFamily="34" charset="-120"/>
                        </a:rPr>
                        <a:t>0.982</a:t>
                      </a:r>
                      <a:endParaRPr lang="en-US" sz="1250" dirty="0">
                        <a:latin typeface="Calibri" charset="0"/>
                        <a:ea typeface="Calibri" charset="0"/>
                        <a:cs typeface="Calibri" charset="0"/>
                      </a:endParaRPr>
                    </a:p>
                  </a:txBody>
                  <a:tcPr anchor="ctr">
                    <a:lnL w="12700" cap="flat" cmpd="sng" algn="ctr">
                      <a:solidFill>
                        <a:srgbClr val="E1E1E1"/>
                      </a:solidFill>
                      <a:prstDash val="solid"/>
                      <a:round/>
                      <a:headEnd type="none" w="med" len="med"/>
                      <a:tailEnd type="none" w="med" len="med"/>
                    </a:lnL>
                    <a:lnR w="12700" cap="flat" cmpd="sng" algn="ctr">
                      <a:solidFill>
                        <a:srgbClr val="E1E1E1"/>
                      </a:solidFill>
                      <a:prstDash val="solid"/>
                      <a:round/>
                      <a:headEnd type="none" w="med" len="med"/>
                      <a:tailEnd type="none" w="med" len="med"/>
                    </a:lnR>
                    <a:lnT w="12700" cap="flat" cmpd="sng" algn="ctr">
                      <a:solidFill>
                        <a:srgbClr val="E1E1E1"/>
                      </a:solidFill>
                      <a:prstDash val="solid"/>
                      <a:round/>
                      <a:headEnd type="none" w="med" len="med"/>
                      <a:tailEnd type="none" w="med" len="med"/>
                    </a:lnT>
                    <a:lnB w="1270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0" name="Shape 17"/>
          <p:cNvSpPr/>
          <p:nvPr/>
        </p:nvSpPr>
        <p:spPr>
          <a:xfrm>
            <a:off x="6309360" y="2697480"/>
            <a:ext cx="5376672" cy="1554480"/>
          </a:xfrm>
          <a:prstGeom prst="roundRect">
            <a:avLst>
              <a:gd name="adj" fmla="val 4706"/>
            </a:avLst>
          </a:prstGeom>
          <a:solidFill>
            <a:srgbClr val="F5F5F5"/>
          </a:solidFill>
          <a:ln/>
        </p:spPr>
        <p:txBody>
          <a:bodyPr/>
          <a:lstStyle/>
          <a:p>
            <a:endParaRPr lang="en-JO"/>
          </a:p>
        </p:txBody>
      </p:sp>
      <p:sp>
        <p:nvSpPr>
          <p:cNvPr id="21" name="Text 18"/>
          <p:cNvSpPr/>
          <p:nvPr/>
        </p:nvSpPr>
        <p:spPr>
          <a:xfrm>
            <a:off x="6537960" y="2834640"/>
            <a:ext cx="4937760" cy="1280160"/>
          </a:xfrm>
          <a:prstGeom prst="rect">
            <a:avLst/>
          </a:prstGeom>
          <a:noFill/>
          <a:ln/>
        </p:spPr>
        <p:txBody>
          <a:bodyPr wrap="square" rtlCol="0" anchor="t"/>
          <a:lstStyle/>
          <a:p>
            <a:pPr marL="0" indent="0">
              <a:buNone/>
            </a:pPr>
            <a:r>
              <a:rPr lang="en-US" sz="1200" dirty="0">
                <a:solidFill>
                  <a:srgbClr val="414141"/>
                </a:solidFill>
                <a:latin typeface="Calibri" pitchFamily="34" charset="0"/>
                <a:ea typeface="Calibri" pitchFamily="34" charset="-122"/>
                <a:cs typeface="Calibri" pitchFamily="34" charset="-120"/>
              </a:rPr>
              <a:t>Heat helps on cloudy days and hurts on sunny days. A straight line cannot describe an effect that changes direction — trees can.</a:t>
            </a:r>
            <a:endParaRPr lang="en-US" sz="1200" dirty="0"/>
          </a:p>
        </p:txBody>
      </p:sp>
      <p:sp>
        <p:nvSpPr>
          <p:cNvPr id="22" name="Shape 19"/>
          <p:cNvSpPr/>
          <p:nvPr/>
        </p:nvSpPr>
        <p:spPr>
          <a:xfrm>
            <a:off x="502920" y="4480560"/>
            <a:ext cx="11183112" cy="1051560"/>
          </a:xfrm>
          <a:prstGeom prst="roundRect">
            <a:avLst>
              <a:gd name="adj" fmla="val 5217"/>
            </a:avLst>
          </a:prstGeom>
          <a:solidFill>
            <a:srgbClr val="143148"/>
          </a:solidFill>
          <a:ln/>
        </p:spPr>
        <p:txBody>
          <a:bodyPr/>
          <a:lstStyle/>
          <a:p>
            <a:endParaRPr lang="en-JO"/>
          </a:p>
        </p:txBody>
      </p:sp>
      <p:sp>
        <p:nvSpPr>
          <p:cNvPr id="23" name="Text 20"/>
          <p:cNvSpPr/>
          <p:nvPr/>
        </p:nvSpPr>
        <p:spPr>
          <a:xfrm>
            <a:off x="777240" y="4480560"/>
            <a:ext cx="10607040" cy="10515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We did not choose XGBoost because it is popular.  </a:t>
            </a:r>
            <a:r>
              <a:rPr lang="en-US" sz="1300" dirty="0">
                <a:solidFill>
                  <a:srgbClr val="C8D2DC"/>
                </a:solidFill>
                <a:latin typeface="Calibri" pitchFamily="34" charset="0"/>
                <a:ea typeface="Calibri" pitchFamily="34" charset="-122"/>
                <a:cs typeface="Calibri" pitchFamily="34" charset="-120"/>
              </a:rPr>
              <a:t>We chose it because the relationship is not a straight line — it reduced error by 36% compared with the linear model.</a:t>
            </a:r>
            <a:endParaRPr lang="en-US" sz="1300" dirty="0"/>
          </a:p>
        </p:txBody>
      </p:sp>
      <p:sp>
        <p:nvSpPr>
          <p:cNvPr id="24" name="Text 21"/>
          <p:cNvSpPr/>
          <p:nvPr/>
        </p:nvSpPr>
        <p:spPr>
          <a:xfrm>
            <a:off x="502920" y="5669280"/>
            <a:ext cx="11155680" cy="365760"/>
          </a:xfrm>
          <a:prstGeom prst="rect">
            <a:avLst/>
          </a:prstGeom>
          <a:noFill/>
          <a:ln/>
        </p:spPr>
        <p:txBody>
          <a:bodyPr wrap="square" rtlCol="0" anchor="ctr"/>
          <a:lstStyle/>
          <a:p>
            <a:pPr marL="0" indent="0">
              <a:buNone/>
            </a:pPr>
            <a:r>
              <a:rPr lang="en-US" sz="1000" i="1" dirty="0">
                <a:solidFill>
                  <a:srgbClr val="6E6E6E"/>
                </a:solidFill>
                <a:latin typeface="Calibri" pitchFamily="34" charset="0"/>
                <a:ea typeface="Calibri" pitchFamily="34" charset="-122"/>
                <a:cs typeface="Calibri" pitchFamily="34" charset="-120"/>
              </a:rPr>
              <a:t>MAE is the average size of the mistake, in kWh/kWp/day. R² is the share of the variation the model reproduces — 1.0 would be perfect.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06 · THE AI PART</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How We Tested It — Does It Generalize?</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16</a:t>
            </a:r>
            <a:endParaRPr lang="en-US" sz="1000" dirty="0"/>
          </a:p>
        </p:txBody>
      </p:sp>
      <p:sp>
        <p:nvSpPr>
          <p:cNvPr id="7" name="Text 5"/>
          <p:cNvSpPr/>
          <p:nvPr/>
        </p:nvSpPr>
        <p:spPr>
          <a:xfrm>
            <a:off x="502920" y="1298448"/>
            <a:ext cx="10515600" cy="365760"/>
          </a:xfrm>
          <a:prstGeom prst="rect">
            <a:avLst/>
          </a:prstGeom>
          <a:noFill/>
          <a:ln/>
        </p:spPr>
        <p:txBody>
          <a:bodyPr wrap="square"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Two separate questions, answered with two separate held-out sets.</a:t>
            </a:r>
            <a:endParaRPr lang="en-US" sz="1300" dirty="0"/>
          </a:p>
        </p:txBody>
      </p:sp>
      <p:sp>
        <p:nvSpPr>
          <p:cNvPr id="8" name="Shape 6"/>
          <p:cNvSpPr/>
          <p:nvPr/>
        </p:nvSpPr>
        <p:spPr>
          <a:xfrm>
            <a:off x="502920" y="1828800"/>
            <a:ext cx="5440680" cy="3566160"/>
          </a:xfrm>
          <a:prstGeom prst="roundRect">
            <a:avLst>
              <a:gd name="adj" fmla="val 2051"/>
            </a:avLst>
          </a:prstGeom>
          <a:solidFill>
            <a:srgbClr val="F5F5F5"/>
          </a:solidFill>
          <a:ln/>
        </p:spPr>
        <p:txBody>
          <a:bodyPr/>
          <a:lstStyle/>
          <a:p>
            <a:endParaRPr lang="en-JO"/>
          </a:p>
        </p:txBody>
      </p:sp>
      <p:sp>
        <p:nvSpPr>
          <p:cNvPr id="9" name="Text 7"/>
          <p:cNvSpPr/>
          <p:nvPr/>
        </p:nvSpPr>
        <p:spPr>
          <a:xfrm>
            <a:off x="777240" y="2011680"/>
            <a:ext cx="4937760" cy="274320"/>
          </a:xfrm>
          <a:prstGeom prst="rect">
            <a:avLst/>
          </a:prstGeom>
          <a:noFill/>
          <a:ln/>
        </p:spPr>
        <p:txBody>
          <a:bodyPr wrap="square" rtlCol="0" anchor="ctr"/>
          <a:lstStyle/>
          <a:p>
            <a:pPr marL="0" indent="0">
              <a:buNone/>
            </a:pPr>
            <a:r>
              <a:rPr lang="en-US" sz="1200" b="1" dirty="0">
                <a:solidFill>
                  <a:srgbClr val="CA8F24"/>
                </a:solidFill>
                <a:latin typeface="Calibri" pitchFamily="34" charset="0"/>
                <a:ea typeface="Calibri" pitchFamily="34" charset="-122"/>
                <a:cs typeface="Calibri" pitchFamily="34" charset="-120"/>
              </a:rPr>
              <a:t>CAN IT PREDICT A FUTURE YEAR?</a:t>
            </a:r>
            <a:endParaRPr lang="en-US" sz="1200" dirty="0"/>
          </a:p>
        </p:txBody>
      </p:sp>
      <p:sp>
        <p:nvSpPr>
          <p:cNvPr id="10" name="Shape 8"/>
          <p:cNvSpPr/>
          <p:nvPr/>
        </p:nvSpPr>
        <p:spPr>
          <a:xfrm>
            <a:off x="777240" y="2423160"/>
            <a:ext cx="4892040" cy="594360"/>
          </a:xfrm>
          <a:prstGeom prst="roundRect">
            <a:avLst>
              <a:gd name="adj" fmla="val 7692"/>
            </a:avLst>
          </a:prstGeom>
          <a:solidFill>
            <a:srgbClr val="FFFFFF"/>
          </a:solidFill>
          <a:ln/>
        </p:spPr>
        <p:txBody>
          <a:bodyPr/>
          <a:lstStyle/>
          <a:p>
            <a:endParaRPr lang="en-JO"/>
          </a:p>
        </p:txBody>
      </p:sp>
      <p:sp>
        <p:nvSpPr>
          <p:cNvPr id="11" name="Text 9"/>
          <p:cNvSpPr/>
          <p:nvPr/>
        </p:nvSpPr>
        <p:spPr>
          <a:xfrm>
            <a:off x="914400" y="2423160"/>
            <a:ext cx="1280160" cy="594360"/>
          </a:xfrm>
          <a:prstGeom prst="rect">
            <a:avLst/>
          </a:prstGeom>
          <a:noFill/>
          <a:ln/>
        </p:spPr>
        <p:txBody>
          <a:bodyPr wrap="square" rtlCol="0" anchor="ctr"/>
          <a:lstStyle/>
          <a:p>
            <a:pPr marL="0" indent="0">
              <a:buNone/>
            </a:pPr>
            <a:r>
              <a:rPr lang="en-US" sz="1400" b="1" dirty="0">
                <a:solidFill>
                  <a:srgbClr val="143148"/>
                </a:solidFill>
                <a:latin typeface="Cambria" pitchFamily="34" charset="0"/>
                <a:ea typeface="Cambria" pitchFamily="34" charset="-122"/>
                <a:cs typeface="Cambria" pitchFamily="34" charset="-120"/>
              </a:rPr>
              <a:t>2020 – 2023</a:t>
            </a:r>
            <a:endParaRPr lang="en-US" sz="1400" dirty="0"/>
          </a:p>
        </p:txBody>
      </p:sp>
      <p:sp>
        <p:nvSpPr>
          <p:cNvPr id="12" name="Text 10"/>
          <p:cNvSpPr/>
          <p:nvPr/>
        </p:nvSpPr>
        <p:spPr>
          <a:xfrm>
            <a:off x="2194560" y="2423160"/>
            <a:ext cx="3383280" cy="594360"/>
          </a:xfrm>
          <a:prstGeom prst="rect">
            <a:avLst/>
          </a:prstGeom>
          <a:noFill/>
          <a:ln/>
        </p:spPr>
        <p:txBody>
          <a:bodyPr wrap="square" rtlCol="0" anchor="ctr"/>
          <a:lstStyle/>
          <a:p>
            <a:pPr marL="0" indent="0">
              <a:buNone/>
            </a:pPr>
            <a:r>
              <a:rPr lang="en-US" sz="1150" dirty="0">
                <a:solidFill>
                  <a:srgbClr val="414141"/>
                </a:solidFill>
                <a:latin typeface="Calibri" pitchFamily="34" charset="0"/>
                <a:ea typeface="Calibri" pitchFamily="34" charset="-122"/>
                <a:cs typeface="Calibri" pitchFamily="34" charset="-120"/>
              </a:rPr>
              <a:t>Training</a:t>
            </a:r>
            <a:endParaRPr lang="en-US" sz="1150" dirty="0"/>
          </a:p>
        </p:txBody>
      </p:sp>
      <p:sp>
        <p:nvSpPr>
          <p:cNvPr id="13" name="Shape 11"/>
          <p:cNvSpPr/>
          <p:nvPr/>
        </p:nvSpPr>
        <p:spPr>
          <a:xfrm>
            <a:off x="777240" y="3136392"/>
            <a:ext cx="4892040" cy="594360"/>
          </a:xfrm>
          <a:prstGeom prst="roundRect">
            <a:avLst>
              <a:gd name="adj" fmla="val 7692"/>
            </a:avLst>
          </a:prstGeom>
          <a:solidFill>
            <a:srgbClr val="FFFFFF"/>
          </a:solidFill>
          <a:ln/>
        </p:spPr>
        <p:txBody>
          <a:bodyPr/>
          <a:lstStyle/>
          <a:p>
            <a:endParaRPr lang="en-JO"/>
          </a:p>
        </p:txBody>
      </p:sp>
      <p:sp>
        <p:nvSpPr>
          <p:cNvPr id="14" name="Text 12"/>
          <p:cNvSpPr/>
          <p:nvPr/>
        </p:nvSpPr>
        <p:spPr>
          <a:xfrm>
            <a:off x="914400" y="3136392"/>
            <a:ext cx="1280160" cy="594360"/>
          </a:xfrm>
          <a:prstGeom prst="rect">
            <a:avLst/>
          </a:prstGeom>
          <a:noFill/>
          <a:ln/>
        </p:spPr>
        <p:txBody>
          <a:bodyPr wrap="square" rtlCol="0" anchor="ctr"/>
          <a:lstStyle/>
          <a:p>
            <a:pPr marL="0" indent="0">
              <a:buNone/>
            </a:pPr>
            <a:r>
              <a:rPr lang="en-US" sz="1400" b="1" dirty="0">
                <a:solidFill>
                  <a:srgbClr val="143148"/>
                </a:solidFill>
                <a:latin typeface="Cambria" pitchFamily="34" charset="0"/>
                <a:ea typeface="Cambria" pitchFamily="34" charset="-122"/>
                <a:cs typeface="Cambria" pitchFamily="34" charset="-120"/>
              </a:rPr>
              <a:t>2024</a:t>
            </a:r>
            <a:endParaRPr lang="en-US" sz="1400" dirty="0"/>
          </a:p>
        </p:txBody>
      </p:sp>
      <p:sp>
        <p:nvSpPr>
          <p:cNvPr id="15" name="Text 13"/>
          <p:cNvSpPr/>
          <p:nvPr/>
        </p:nvSpPr>
        <p:spPr>
          <a:xfrm>
            <a:off x="2194560" y="3136392"/>
            <a:ext cx="3383280" cy="594360"/>
          </a:xfrm>
          <a:prstGeom prst="rect">
            <a:avLst/>
          </a:prstGeom>
          <a:noFill/>
          <a:ln/>
        </p:spPr>
        <p:txBody>
          <a:bodyPr wrap="square" rtlCol="0" anchor="ctr"/>
          <a:lstStyle/>
          <a:p>
            <a:pPr marL="0" indent="0">
              <a:buNone/>
            </a:pPr>
            <a:r>
              <a:rPr lang="en-US" sz="1150" dirty="0">
                <a:solidFill>
                  <a:srgbClr val="414141"/>
                </a:solidFill>
                <a:latin typeface="Calibri" pitchFamily="34" charset="0"/>
                <a:ea typeface="Calibri" pitchFamily="34" charset="-122"/>
                <a:cs typeface="Calibri" pitchFamily="34" charset="-120"/>
              </a:rPr>
              <a:t>Validation — choosing the model</a:t>
            </a:r>
            <a:endParaRPr lang="en-US" sz="1150" dirty="0"/>
          </a:p>
        </p:txBody>
      </p:sp>
      <p:sp>
        <p:nvSpPr>
          <p:cNvPr id="16" name="Shape 14"/>
          <p:cNvSpPr/>
          <p:nvPr/>
        </p:nvSpPr>
        <p:spPr>
          <a:xfrm>
            <a:off x="777240" y="3849624"/>
            <a:ext cx="4892040" cy="594360"/>
          </a:xfrm>
          <a:prstGeom prst="roundRect">
            <a:avLst>
              <a:gd name="adj" fmla="val 7692"/>
            </a:avLst>
          </a:prstGeom>
          <a:solidFill>
            <a:srgbClr val="FFFFFF"/>
          </a:solidFill>
          <a:ln/>
        </p:spPr>
        <p:txBody>
          <a:bodyPr/>
          <a:lstStyle/>
          <a:p>
            <a:endParaRPr lang="en-JO"/>
          </a:p>
        </p:txBody>
      </p:sp>
      <p:sp>
        <p:nvSpPr>
          <p:cNvPr id="17" name="Text 15"/>
          <p:cNvSpPr/>
          <p:nvPr/>
        </p:nvSpPr>
        <p:spPr>
          <a:xfrm>
            <a:off x="914400" y="3849624"/>
            <a:ext cx="1280160" cy="594360"/>
          </a:xfrm>
          <a:prstGeom prst="rect">
            <a:avLst/>
          </a:prstGeom>
          <a:noFill/>
          <a:ln/>
        </p:spPr>
        <p:txBody>
          <a:bodyPr wrap="square" rtlCol="0" anchor="ctr"/>
          <a:lstStyle/>
          <a:p>
            <a:pPr marL="0" indent="0">
              <a:buNone/>
            </a:pPr>
            <a:r>
              <a:rPr lang="en-US" sz="1400" b="1" dirty="0">
                <a:solidFill>
                  <a:srgbClr val="143148"/>
                </a:solidFill>
                <a:latin typeface="Cambria" pitchFamily="34" charset="0"/>
                <a:ea typeface="Cambria" pitchFamily="34" charset="-122"/>
                <a:cs typeface="Cambria" pitchFamily="34" charset="-120"/>
              </a:rPr>
              <a:t>2025</a:t>
            </a:r>
            <a:endParaRPr lang="en-US" sz="1400" dirty="0"/>
          </a:p>
        </p:txBody>
      </p:sp>
      <p:sp>
        <p:nvSpPr>
          <p:cNvPr id="18" name="Text 16"/>
          <p:cNvSpPr/>
          <p:nvPr/>
        </p:nvSpPr>
        <p:spPr>
          <a:xfrm>
            <a:off x="2194560" y="3849624"/>
            <a:ext cx="3383280" cy="594360"/>
          </a:xfrm>
          <a:prstGeom prst="rect">
            <a:avLst/>
          </a:prstGeom>
          <a:noFill/>
          <a:ln/>
        </p:spPr>
        <p:txBody>
          <a:bodyPr wrap="square" rtlCol="0" anchor="ctr"/>
          <a:lstStyle/>
          <a:p>
            <a:pPr marL="0" indent="0">
              <a:buNone/>
            </a:pPr>
            <a:r>
              <a:rPr lang="en-US" sz="1150" dirty="0">
                <a:solidFill>
                  <a:srgbClr val="414141"/>
                </a:solidFill>
                <a:latin typeface="Calibri" pitchFamily="34" charset="0"/>
                <a:ea typeface="Calibri" pitchFamily="34" charset="-122"/>
                <a:cs typeface="Calibri" pitchFamily="34" charset="-120"/>
              </a:rPr>
              <a:t>Final test — used once, at the end</a:t>
            </a:r>
            <a:endParaRPr lang="en-US" sz="1150" dirty="0"/>
          </a:p>
        </p:txBody>
      </p:sp>
      <p:sp>
        <p:nvSpPr>
          <p:cNvPr id="19" name="Text 17"/>
          <p:cNvSpPr/>
          <p:nvPr/>
        </p:nvSpPr>
        <p:spPr>
          <a:xfrm>
            <a:off x="777240" y="4608576"/>
            <a:ext cx="4892040" cy="685800"/>
          </a:xfrm>
          <a:prstGeom prst="rect">
            <a:avLst/>
          </a:prstGeom>
          <a:noFill/>
          <a:ln/>
        </p:spPr>
        <p:txBody>
          <a:bodyPr wrap="square" rtlCol="0" anchor="t"/>
          <a:lstStyle/>
          <a:p>
            <a:pPr marL="0" indent="0">
              <a:buNone/>
            </a:pPr>
            <a:r>
              <a:rPr lang="en-US" sz="1100" i="1" dirty="0">
                <a:solidFill>
                  <a:srgbClr val="6E6E6E"/>
                </a:solidFill>
                <a:latin typeface="Calibri" pitchFamily="34" charset="0"/>
                <a:ea typeface="Calibri" pitchFamily="34" charset="-122"/>
                <a:cs typeface="Calibri" pitchFamily="34" charset="-120"/>
              </a:rPr>
              <a:t>2025 was opened only once, after every decision had already been made — that is what makes the final number honest.</a:t>
            </a:r>
            <a:endParaRPr lang="en-US" sz="1100" dirty="0"/>
          </a:p>
        </p:txBody>
      </p:sp>
      <p:sp>
        <p:nvSpPr>
          <p:cNvPr id="20" name="Shape 18"/>
          <p:cNvSpPr/>
          <p:nvPr/>
        </p:nvSpPr>
        <p:spPr>
          <a:xfrm>
            <a:off x="6245352" y="1828800"/>
            <a:ext cx="5440680" cy="3566160"/>
          </a:xfrm>
          <a:prstGeom prst="roundRect">
            <a:avLst>
              <a:gd name="adj" fmla="val 2051"/>
            </a:avLst>
          </a:prstGeom>
          <a:solidFill>
            <a:srgbClr val="F5F5F5"/>
          </a:solidFill>
          <a:ln/>
        </p:spPr>
        <p:txBody>
          <a:bodyPr/>
          <a:lstStyle/>
          <a:p>
            <a:endParaRPr lang="en-JO"/>
          </a:p>
        </p:txBody>
      </p:sp>
      <p:sp>
        <p:nvSpPr>
          <p:cNvPr id="21" name="Text 19"/>
          <p:cNvSpPr/>
          <p:nvPr/>
        </p:nvSpPr>
        <p:spPr>
          <a:xfrm>
            <a:off x="6519672" y="2011680"/>
            <a:ext cx="4937760" cy="274320"/>
          </a:xfrm>
          <a:prstGeom prst="rect">
            <a:avLst/>
          </a:prstGeom>
          <a:noFill/>
          <a:ln/>
        </p:spPr>
        <p:txBody>
          <a:bodyPr wrap="square" rtlCol="0" anchor="ctr"/>
          <a:lstStyle/>
          <a:p>
            <a:pPr marL="0" indent="0">
              <a:buNone/>
            </a:pPr>
            <a:r>
              <a:rPr lang="en-US" sz="1200" b="1" dirty="0">
                <a:solidFill>
                  <a:srgbClr val="CA8F24"/>
                </a:solidFill>
                <a:latin typeface="Calibri" pitchFamily="34" charset="0"/>
                <a:ea typeface="Calibri" pitchFamily="34" charset="-122"/>
                <a:cs typeface="Calibri" pitchFamily="34" charset="-120"/>
              </a:rPr>
              <a:t>CAN IT PREDICT A NEW PLACE?</a:t>
            </a:r>
            <a:endParaRPr lang="en-US" sz="1200" dirty="0"/>
          </a:p>
        </p:txBody>
      </p:sp>
      <p:sp>
        <p:nvSpPr>
          <p:cNvPr id="22" name="Text 20"/>
          <p:cNvSpPr/>
          <p:nvPr/>
        </p:nvSpPr>
        <p:spPr>
          <a:xfrm>
            <a:off x="6519672" y="2377440"/>
            <a:ext cx="4892040" cy="1097280"/>
          </a:xfrm>
          <a:prstGeom prst="rect">
            <a:avLst/>
          </a:prstGeom>
          <a:noFill/>
          <a:ln/>
        </p:spPr>
        <p:txBody>
          <a:bodyPr wrap="square" rtlCol="0" anchor="t"/>
          <a:lstStyle/>
          <a:p>
            <a:pPr marL="0" indent="0">
              <a:buNone/>
            </a:pPr>
            <a:r>
              <a:rPr lang="en-US" sz="1300" dirty="0">
                <a:solidFill>
                  <a:srgbClr val="414141"/>
                </a:solidFill>
                <a:latin typeface="Calibri" pitchFamily="34" charset="0"/>
                <a:ea typeface="Calibri" pitchFamily="34" charset="-122"/>
                <a:cs typeface="Calibri" pitchFamily="34" charset="-120"/>
              </a:rPr>
              <a:t>One location was removed from the dataset completely — the model never saw a single record from it during training.</a:t>
            </a:r>
            <a:endParaRPr lang="en-US" sz="1300" dirty="0"/>
          </a:p>
        </p:txBody>
      </p:sp>
      <p:sp>
        <p:nvSpPr>
          <p:cNvPr id="23" name="Text 21"/>
          <p:cNvSpPr/>
          <p:nvPr/>
        </p:nvSpPr>
        <p:spPr>
          <a:xfrm>
            <a:off x="6519672" y="3520440"/>
            <a:ext cx="4892040" cy="822960"/>
          </a:xfrm>
          <a:prstGeom prst="rect">
            <a:avLst/>
          </a:prstGeom>
          <a:noFill/>
          <a:ln/>
        </p:spPr>
        <p:txBody>
          <a:bodyPr wrap="square" rtlCol="0" anchor="ctr"/>
          <a:lstStyle/>
          <a:p>
            <a:pPr marL="0" indent="0" algn="ctr">
              <a:buNone/>
            </a:pPr>
            <a:r>
              <a:rPr lang="en-US" sz="4200" b="1" dirty="0">
                <a:solidFill>
                  <a:srgbClr val="CA8F24"/>
                </a:solidFill>
                <a:latin typeface="Cambria" pitchFamily="34" charset="0"/>
                <a:ea typeface="Cambria" pitchFamily="34" charset="-122"/>
                <a:cs typeface="Cambria" pitchFamily="34" charset="-120"/>
              </a:rPr>
              <a:t>0.9912</a:t>
            </a:r>
            <a:endParaRPr lang="en-US" sz="4200" dirty="0"/>
          </a:p>
        </p:txBody>
      </p:sp>
      <p:sp>
        <p:nvSpPr>
          <p:cNvPr id="24" name="Text 22"/>
          <p:cNvSpPr/>
          <p:nvPr/>
        </p:nvSpPr>
        <p:spPr>
          <a:xfrm>
            <a:off x="6519672" y="4343400"/>
            <a:ext cx="4892040" cy="320040"/>
          </a:xfrm>
          <a:prstGeom prst="rect">
            <a:avLst/>
          </a:prstGeom>
          <a:noFill/>
          <a:ln/>
        </p:spPr>
        <p:txBody>
          <a:bodyPr wrap="square" rtlCol="0" anchor="ctr"/>
          <a:lstStyle/>
          <a:p>
            <a:pPr marL="0" indent="0" algn="ctr">
              <a:buNone/>
            </a:pPr>
            <a:r>
              <a:rPr lang="en-US" sz="1200" dirty="0">
                <a:solidFill>
                  <a:srgbClr val="6E6E6E"/>
                </a:solidFill>
                <a:latin typeface="Calibri" pitchFamily="34" charset="0"/>
                <a:ea typeface="Calibri" pitchFamily="34" charset="-122"/>
                <a:cs typeface="Calibri" pitchFamily="34" charset="-120"/>
              </a:rPr>
              <a:t>R² at the unseen location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06 · THE AI PART</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Performance Measurements</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17</a:t>
            </a:r>
            <a:endParaRPr lang="en-US" sz="1000" dirty="0"/>
          </a:p>
        </p:txBody>
      </p:sp>
      <p:sp>
        <p:nvSpPr>
          <p:cNvPr id="7" name="Text 5"/>
          <p:cNvSpPr/>
          <p:nvPr/>
        </p:nvSpPr>
        <p:spPr>
          <a:xfrm>
            <a:off x="502920" y="1298448"/>
            <a:ext cx="10515600" cy="365760"/>
          </a:xfrm>
          <a:prstGeom prst="rect">
            <a:avLst/>
          </a:prstGeom>
          <a:noFill/>
          <a:ln/>
        </p:spPr>
        <p:txBody>
          <a:bodyPr wrap="square"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Results on the final test year, 2025.</a:t>
            </a:r>
            <a:endParaRPr lang="en-US" sz="1300" dirty="0"/>
          </a:p>
        </p:txBody>
      </p:sp>
      <p:sp>
        <p:nvSpPr>
          <p:cNvPr id="8" name="Shape 6"/>
          <p:cNvSpPr/>
          <p:nvPr/>
        </p:nvSpPr>
        <p:spPr>
          <a:xfrm>
            <a:off x="502920" y="1828800"/>
            <a:ext cx="2590038" cy="1463040"/>
          </a:xfrm>
          <a:prstGeom prst="roundRect">
            <a:avLst>
              <a:gd name="adj" fmla="val 5000"/>
            </a:avLst>
          </a:prstGeom>
          <a:solidFill>
            <a:srgbClr val="143148"/>
          </a:solidFill>
          <a:ln/>
        </p:spPr>
        <p:txBody>
          <a:bodyPr/>
          <a:lstStyle/>
          <a:p>
            <a:endParaRPr lang="en-JO"/>
          </a:p>
        </p:txBody>
      </p:sp>
      <p:sp>
        <p:nvSpPr>
          <p:cNvPr id="9" name="Text 7"/>
          <p:cNvSpPr/>
          <p:nvPr/>
        </p:nvSpPr>
        <p:spPr>
          <a:xfrm>
            <a:off x="502920" y="2057400"/>
            <a:ext cx="2590038" cy="640080"/>
          </a:xfrm>
          <a:prstGeom prst="rect">
            <a:avLst/>
          </a:prstGeom>
          <a:noFill/>
          <a:ln/>
        </p:spPr>
        <p:txBody>
          <a:bodyPr wrap="square" rtlCol="0" anchor="ctr"/>
          <a:lstStyle/>
          <a:p>
            <a:pPr marL="0" indent="0" algn="ctr">
              <a:buNone/>
            </a:pPr>
            <a:r>
              <a:rPr lang="en-US" sz="2600" b="1" dirty="0">
                <a:solidFill>
                  <a:srgbClr val="EEBE51"/>
                </a:solidFill>
                <a:latin typeface="Cambria" pitchFamily="34" charset="0"/>
                <a:ea typeface="Cambria" pitchFamily="34" charset="-122"/>
                <a:cs typeface="Cambria" pitchFamily="34" charset="-120"/>
              </a:rPr>
              <a:t>0.9829</a:t>
            </a:r>
            <a:endParaRPr lang="en-US" sz="2600" dirty="0"/>
          </a:p>
        </p:txBody>
      </p:sp>
      <p:sp>
        <p:nvSpPr>
          <p:cNvPr id="10" name="Text 8"/>
          <p:cNvSpPr/>
          <p:nvPr/>
        </p:nvSpPr>
        <p:spPr>
          <a:xfrm>
            <a:off x="640080" y="2697480"/>
            <a:ext cx="2315718" cy="502920"/>
          </a:xfrm>
          <a:prstGeom prst="rect">
            <a:avLst/>
          </a:prstGeom>
          <a:noFill/>
          <a:ln/>
        </p:spPr>
        <p:txBody>
          <a:bodyPr wrap="square" rtlCol="0" anchor="ctr"/>
          <a:lstStyle/>
          <a:p>
            <a:pPr marL="0" indent="0" algn="ctr">
              <a:buNone/>
            </a:pPr>
            <a:r>
              <a:rPr lang="en-US" sz="1050" dirty="0">
                <a:solidFill>
                  <a:srgbClr val="C8D2DC"/>
                </a:solidFill>
                <a:latin typeface="Calibri" pitchFamily="34" charset="0"/>
                <a:ea typeface="Calibri" pitchFamily="34" charset="-122"/>
                <a:cs typeface="Calibri" pitchFamily="34" charset="-120"/>
              </a:rPr>
              <a:t>R² — accuracy of fit</a:t>
            </a:r>
            <a:endParaRPr lang="en-US" sz="1050" dirty="0"/>
          </a:p>
        </p:txBody>
      </p:sp>
      <p:sp>
        <p:nvSpPr>
          <p:cNvPr id="11" name="Shape 9"/>
          <p:cNvSpPr/>
          <p:nvPr/>
        </p:nvSpPr>
        <p:spPr>
          <a:xfrm>
            <a:off x="3367278" y="1828800"/>
            <a:ext cx="2590038" cy="1463040"/>
          </a:xfrm>
          <a:prstGeom prst="roundRect">
            <a:avLst>
              <a:gd name="adj" fmla="val 5000"/>
            </a:avLst>
          </a:prstGeom>
          <a:solidFill>
            <a:srgbClr val="143148"/>
          </a:solidFill>
          <a:ln/>
        </p:spPr>
        <p:txBody>
          <a:bodyPr/>
          <a:lstStyle/>
          <a:p>
            <a:endParaRPr lang="en-JO"/>
          </a:p>
        </p:txBody>
      </p:sp>
      <p:sp>
        <p:nvSpPr>
          <p:cNvPr id="12" name="Text 10"/>
          <p:cNvSpPr/>
          <p:nvPr/>
        </p:nvSpPr>
        <p:spPr>
          <a:xfrm>
            <a:off x="3367278" y="2057400"/>
            <a:ext cx="2590038" cy="640080"/>
          </a:xfrm>
          <a:prstGeom prst="rect">
            <a:avLst/>
          </a:prstGeom>
          <a:noFill/>
          <a:ln/>
        </p:spPr>
        <p:txBody>
          <a:bodyPr wrap="square" rtlCol="0" anchor="ctr"/>
          <a:lstStyle/>
          <a:p>
            <a:pPr marL="0" indent="0" algn="ctr">
              <a:buNone/>
            </a:pPr>
            <a:r>
              <a:rPr lang="en-US" sz="2600" b="1" dirty="0">
                <a:solidFill>
                  <a:srgbClr val="EEBE51"/>
                </a:solidFill>
                <a:latin typeface="Cambria" pitchFamily="34" charset="0"/>
                <a:ea typeface="Cambria" pitchFamily="34" charset="-122"/>
                <a:cs typeface="Cambria" pitchFamily="34" charset="-120"/>
              </a:rPr>
              <a:t>2.1%</a:t>
            </a:r>
            <a:endParaRPr lang="en-US" sz="2600" dirty="0"/>
          </a:p>
        </p:txBody>
      </p:sp>
      <p:sp>
        <p:nvSpPr>
          <p:cNvPr id="13" name="Text 11"/>
          <p:cNvSpPr/>
          <p:nvPr/>
        </p:nvSpPr>
        <p:spPr>
          <a:xfrm>
            <a:off x="3504438" y="2697480"/>
            <a:ext cx="2315718" cy="502920"/>
          </a:xfrm>
          <a:prstGeom prst="rect">
            <a:avLst/>
          </a:prstGeom>
          <a:noFill/>
          <a:ln/>
        </p:spPr>
        <p:txBody>
          <a:bodyPr wrap="square" rtlCol="0" anchor="ctr"/>
          <a:lstStyle/>
          <a:p>
            <a:pPr marL="0" indent="0" algn="ctr">
              <a:buNone/>
            </a:pPr>
            <a:r>
              <a:rPr lang="en-US" sz="1050" dirty="0">
                <a:solidFill>
                  <a:srgbClr val="C8D2DC"/>
                </a:solidFill>
                <a:latin typeface="Calibri" pitchFamily="34" charset="0"/>
                <a:ea typeface="Calibri" pitchFamily="34" charset="-122"/>
                <a:cs typeface="Calibri" pitchFamily="34" charset="-120"/>
              </a:rPr>
              <a:t>Average error</a:t>
            </a:r>
            <a:endParaRPr lang="en-US" sz="1050" dirty="0"/>
          </a:p>
        </p:txBody>
      </p:sp>
      <p:sp>
        <p:nvSpPr>
          <p:cNvPr id="14" name="Shape 12"/>
          <p:cNvSpPr/>
          <p:nvPr/>
        </p:nvSpPr>
        <p:spPr>
          <a:xfrm>
            <a:off x="6231636" y="1828800"/>
            <a:ext cx="2590038" cy="1463040"/>
          </a:xfrm>
          <a:prstGeom prst="roundRect">
            <a:avLst>
              <a:gd name="adj" fmla="val 5000"/>
            </a:avLst>
          </a:prstGeom>
          <a:solidFill>
            <a:srgbClr val="143148"/>
          </a:solidFill>
          <a:ln/>
        </p:spPr>
        <p:txBody>
          <a:bodyPr/>
          <a:lstStyle/>
          <a:p>
            <a:endParaRPr lang="en-JO"/>
          </a:p>
        </p:txBody>
      </p:sp>
      <p:sp>
        <p:nvSpPr>
          <p:cNvPr id="15" name="Text 13"/>
          <p:cNvSpPr/>
          <p:nvPr/>
        </p:nvSpPr>
        <p:spPr>
          <a:xfrm>
            <a:off x="6231636" y="2057400"/>
            <a:ext cx="2590038" cy="640080"/>
          </a:xfrm>
          <a:prstGeom prst="rect">
            <a:avLst/>
          </a:prstGeom>
          <a:noFill/>
          <a:ln/>
        </p:spPr>
        <p:txBody>
          <a:bodyPr wrap="square" rtlCol="0" anchor="ctr"/>
          <a:lstStyle/>
          <a:p>
            <a:pPr marL="0" indent="0" algn="ctr">
              <a:buNone/>
            </a:pPr>
            <a:r>
              <a:rPr lang="en-US" sz="2600" b="1" dirty="0">
                <a:solidFill>
                  <a:srgbClr val="EEBE51"/>
                </a:solidFill>
                <a:latin typeface="Cambria" pitchFamily="34" charset="0"/>
                <a:ea typeface="Cambria" pitchFamily="34" charset="-122"/>
                <a:cs typeface="Cambria" pitchFamily="34" charset="-120"/>
              </a:rPr>
              <a:t>0.9912</a:t>
            </a:r>
            <a:endParaRPr lang="en-US" sz="2600" dirty="0"/>
          </a:p>
        </p:txBody>
      </p:sp>
      <p:sp>
        <p:nvSpPr>
          <p:cNvPr id="16" name="Text 14"/>
          <p:cNvSpPr/>
          <p:nvPr/>
        </p:nvSpPr>
        <p:spPr>
          <a:xfrm>
            <a:off x="6368796" y="2697480"/>
            <a:ext cx="2315718" cy="502920"/>
          </a:xfrm>
          <a:prstGeom prst="rect">
            <a:avLst/>
          </a:prstGeom>
          <a:noFill/>
          <a:ln/>
        </p:spPr>
        <p:txBody>
          <a:bodyPr wrap="square" rtlCol="0" anchor="ctr"/>
          <a:lstStyle/>
          <a:p>
            <a:pPr marL="0" indent="0" algn="ctr">
              <a:buNone/>
            </a:pPr>
            <a:r>
              <a:rPr lang="en-US" sz="1050" dirty="0">
                <a:solidFill>
                  <a:srgbClr val="C8D2DC"/>
                </a:solidFill>
                <a:latin typeface="Calibri" pitchFamily="34" charset="0"/>
                <a:ea typeface="Calibri" pitchFamily="34" charset="-122"/>
                <a:cs typeface="Calibri" pitchFamily="34" charset="-120"/>
              </a:rPr>
              <a:t>R² at a new location</a:t>
            </a:r>
            <a:endParaRPr lang="en-US" sz="1050" dirty="0"/>
          </a:p>
        </p:txBody>
      </p:sp>
      <p:sp>
        <p:nvSpPr>
          <p:cNvPr id="17" name="Shape 15"/>
          <p:cNvSpPr/>
          <p:nvPr/>
        </p:nvSpPr>
        <p:spPr>
          <a:xfrm>
            <a:off x="9095994" y="1828800"/>
            <a:ext cx="2590038" cy="1463040"/>
          </a:xfrm>
          <a:prstGeom prst="roundRect">
            <a:avLst>
              <a:gd name="adj" fmla="val 5000"/>
            </a:avLst>
          </a:prstGeom>
          <a:solidFill>
            <a:srgbClr val="143148"/>
          </a:solidFill>
          <a:ln/>
        </p:spPr>
        <p:txBody>
          <a:bodyPr/>
          <a:lstStyle/>
          <a:p>
            <a:endParaRPr lang="en-JO"/>
          </a:p>
        </p:txBody>
      </p:sp>
      <p:sp>
        <p:nvSpPr>
          <p:cNvPr id="18" name="Text 16"/>
          <p:cNvSpPr/>
          <p:nvPr/>
        </p:nvSpPr>
        <p:spPr>
          <a:xfrm>
            <a:off x="9095994" y="2057400"/>
            <a:ext cx="2590038" cy="640080"/>
          </a:xfrm>
          <a:prstGeom prst="rect">
            <a:avLst/>
          </a:prstGeom>
          <a:noFill/>
          <a:ln/>
        </p:spPr>
        <p:txBody>
          <a:bodyPr wrap="square" rtlCol="0" anchor="ctr"/>
          <a:lstStyle/>
          <a:p>
            <a:pPr marL="0" indent="0" algn="ctr">
              <a:buNone/>
            </a:pPr>
            <a:r>
              <a:rPr lang="en-US" sz="2600" b="1" dirty="0">
                <a:solidFill>
                  <a:srgbClr val="EEBE51"/>
                </a:solidFill>
                <a:latin typeface="Cambria" pitchFamily="34" charset="0"/>
                <a:ea typeface="Cambria" pitchFamily="34" charset="-122"/>
                <a:cs typeface="Cambria" pitchFamily="34" charset="-120"/>
              </a:rPr>
              <a:t>0.9892</a:t>
            </a:r>
            <a:endParaRPr lang="en-US" sz="2600" dirty="0"/>
          </a:p>
        </p:txBody>
      </p:sp>
      <p:sp>
        <p:nvSpPr>
          <p:cNvPr id="19" name="Text 17"/>
          <p:cNvSpPr/>
          <p:nvPr/>
        </p:nvSpPr>
        <p:spPr>
          <a:xfrm>
            <a:off x="9233154" y="2697480"/>
            <a:ext cx="2315718" cy="502920"/>
          </a:xfrm>
          <a:prstGeom prst="rect">
            <a:avLst/>
          </a:prstGeom>
          <a:noFill/>
          <a:ln/>
        </p:spPr>
        <p:txBody>
          <a:bodyPr wrap="square" rtlCol="0" anchor="ctr"/>
          <a:lstStyle/>
          <a:p>
            <a:pPr marL="0" indent="0" algn="ctr">
              <a:buNone/>
            </a:pPr>
            <a:r>
              <a:rPr lang="en-US" sz="1050" dirty="0">
                <a:solidFill>
                  <a:srgbClr val="C8D2DC"/>
                </a:solidFill>
                <a:latin typeface="Calibri" pitchFamily="34" charset="0"/>
                <a:ea typeface="Calibri" pitchFamily="34" charset="-122"/>
                <a:cs typeface="Calibri" pitchFamily="34" charset="-120"/>
              </a:rPr>
              <a:t>R², new location + new year</a:t>
            </a:r>
            <a:endParaRPr lang="en-US" sz="1050" dirty="0"/>
          </a:p>
        </p:txBody>
      </p:sp>
      <p:sp>
        <p:nvSpPr>
          <p:cNvPr id="20" name="Shape 18"/>
          <p:cNvSpPr/>
          <p:nvPr/>
        </p:nvSpPr>
        <p:spPr>
          <a:xfrm>
            <a:off x="502920" y="3566160"/>
            <a:ext cx="5440680" cy="2194560"/>
          </a:xfrm>
          <a:prstGeom prst="roundRect">
            <a:avLst>
              <a:gd name="adj" fmla="val 3333"/>
            </a:avLst>
          </a:prstGeom>
          <a:solidFill>
            <a:srgbClr val="E8F1E9"/>
          </a:solidFill>
          <a:ln/>
        </p:spPr>
        <p:txBody>
          <a:bodyPr/>
          <a:lstStyle/>
          <a:p>
            <a:endParaRPr lang="en-JO"/>
          </a:p>
        </p:txBody>
      </p:sp>
      <p:sp>
        <p:nvSpPr>
          <p:cNvPr id="21" name="Text 19"/>
          <p:cNvSpPr/>
          <p:nvPr/>
        </p:nvSpPr>
        <p:spPr>
          <a:xfrm>
            <a:off x="777240" y="3749040"/>
            <a:ext cx="4937760" cy="274320"/>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NO OVERFITTING</a:t>
            </a:r>
            <a:endParaRPr lang="en-US" sz="1200" dirty="0"/>
          </a:p>
        </p:txBody>
      </p:sp>
      <p:sp>
        <p:nvSpPr>
          <p:cNvPr id="22" name="Text 20"/>
          <p:cNvSpPr/>
          <p:nvPr/>
        </p:nvSpPr>
        <p:spPr>
          <a:xfrm>
            <a:off x="777240" y="4114800"/>
            <a:ext cx="4892040" cy="1463040"/>
          </a:xfrm>
          <a:prstGeom prst="rect">
            <a:avLst/>
          </a:prstGeom>
          <a:noFill/>
          <a:ln/>
        </p:spPr>
        <p:txBody>
          <a:bodyPr wrap="square" rtlCol="0" anchor="t"/>
          <a:lstStyle/>
          <a:p>
            <a:pPr marL="0" indent="0">
              <a:buNone/>
            </a:pPr>
            <a:r>
              <a:rPr lang="en-US" sz="1200" dirty="0">
                <a:solidFill>
                  <a:srgbClr val="414141"/>
                </a:solidFill>
                <a:latin typeface="Calibri" pitchFamily="34" charset="0"/>
                <a:ea typeface="Calibri" pitchFamily="34" charset="-122"/>
                <a:cs typeface="Calibri" pitchFamily="34" charset="-120"/>
              </a:rPr>
              <a:t>An overfitted model scores well on the data it was tuned on and badly on anything new. Our validation and test scores are effectively identical — so the model learned the pattern, not the examples.</a:t>
            </a:r>
            <a:endParaRPr lang="en-US" sz="1200" dirty="0"/>
          </a:p>
        </p:txBody>
      </p:sp>
      <p:sp>
        <p:nvSpPr>
          <p:cNvPr id="23" name="Shape 21"/>
          <p:cNvSpPr/>
          <p:nvPr/>
        </p:nvSpPr>
        <p:spPr>
          <a:xfrm>
            <a:off x="6245352" y="3566160"/>
            <a:ext cx="5440680" cy="2194560"/>
          </a:xfrm>
          <a:prstGeom prst="roundRect">
            <a:avLst>
              <a:gd name="adj" fmla="val 3333"/>
            </a:avLst>
          </a:prstGeom>
          <a:solidFill>
            <a:srgbClr val="F5F5F5"/>
          </a:solidFill>
          <a:ln/>
        </p:spPr>
        <p:txBody>
          <a:bodyPr/>
          <a:lstStyle/>
          <a:p>
            <a:endParaRPr lang="en-JO"/>
          </a:p>
        </p:txBody>
      </p:sp>
      <p:sp>
        <p:nvSpPr>
          <p:cNvPr id="24" name="Text 22"/>
          <p:cNvSpPr/>
          <p:nvPr/>
        </p:nvSpPr>
        <p:spPr>
          <a:xfrm>
            <a:off x="6519672" y="3749040"/>
            <a:ext cx="4937760" cy="274320"/>
          </a:xfrm>
          <a:prstGeom prst="rect">
            <a:avLst/>
          </a:prstGeom>
          <a:noFill/>
          <a:ln/>
        </p:spPr>
        <p:txBody>
          <a:bodyPr wrap="square" rtlCol="0" anchor="ctr"/>
          <a:lstStyle/>
          <a:p>
            <a:pPr marL="0" indent="0">
              <a:buNone/>
            </a:pPr>
            <a:r>
              <a:rPr lang="en-US" sz="1200" b="1" dirty="0">
                <a:solidFill>
                  <a:srgbClr val="CA8F24"/>
                </a:solidFill>
                <a:latin typeface="Calibri" pitchFamily="34" charset="0"/>
                <a:ea typeface="Calibri" pitchFamily="34" charset="-122"/>
                <a:cs typeface="Calibri" pitchFamily="34" charset="-120"/>
              </a:rPr>
              <a:t>WHY THESE METRICS?</a:t>
            </a:r>
            <a:endParaRPr lang="en-US" sz="1200" dirty="0"/>
          </a:p>
        </p:txBody>
      </p:sp>
      <p:sp>
        <p:nvSpPr>
          <p:cNvPr id="25" name="Text 23"/>
          <p:cNvSpPr/>
          <p:nvPr/>
        </p:nvSpPr>
        <p:spPr>
          <a:xfrm>
            <a:off x="6519672" y="4114800"/>
            <a:ext cx="4892040" cy="822960"/>
          </a:xfrm>
          <a:prstGeom prst="rect">
            <a:avLst/>
          </a:prstGeom>
          <a:noFill/>
          <a:ln/>
        </p:spPr>
        <p:txBody>
          <a:bodyPr wrap="square" rtlCol="0" anchor="t"/>
          <a:lstStyle/>
          <a:p>
            <a:pPr marL="0" indent="0">
              <a:buNone/>
            </a:pPr>
            <a:r>
              <a:rPr lang="en-US" sz="1200" dirty="0">
                <a:solidFill>
                  <a:srgbClr val="414141"/>
                </a:solidFill>
                <a:latin typeface="Calibri" pitchFamily="34" charset="0"/>
                <a:ea typeface="Calibri" pitchFamily="34" charset="-122"/>
                <a:cs typeface="Calibri" pitchFamily="34" charset="-120"/>
              </a:rPr>
              <a:t>The answer is a number, not a category — so R² and mean error replace accuracy, precision and F1.</a:t>
            </a:r>
            <a:endParaRPr lang="en-US" sz="1200" dirty="0"/>
          </a:p>
        </p:txBody>
      </p:sp>
      <p:sp>
        <p:nvSpPr>
          <p:cNvPr id="26" name="Text 24"/>
          <p:cNvSpPr/>
          <p:nvPr/>
        </p:nvSpPr>
        <p:spPr>
          <a:xfrm>
            <a:off x="6519672" y="5029200"/>
            <a:ext cx="4892040" cy="548640"/>
          </a:xfrm>
          <a:prstGeom prst="rect">
            <a:avLst/>
          </a:prstGeom>
          <a:noFill/>
          <a:ln/>
        </p:spPr>
        <p:txBody>
          <a:bodyPr wrap="square" rtlCol="0" anchor="ctr"/>
          <a:lstStyle/>
          <a:p>
            <a:pPr marL="0" indent="0">
              <a:buNone/>
            </a:pPr>
            <a:r>
              <a:rPr lang="en-US" sz="1100" b="1" dirty="0">
                <a:solidFill>
                  <a:srgbClr val="143148"/>
                </a:solidFill>
                <a:latin typeface="Calibri" pitchFamily="34" charset="0"/>
                <a:ea typeface="Calibri" pitchFamily="34" charset="-122"/>
                <a:cs typeface="Calibri" pitchFamily="34" charset="-120"/>
              </a:rPr>
              <a:t>Validation year 2024:  0.9821          Test year 2025:  0.9829</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07 · THE APP</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The App — From Question to Answer</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19</a:t>
            </a:r>
            <a:endParaRPr lang="en-US" sz="1000" dirty="0"/>
          </a:p>
        </p:txBody>
      </p:sp>
      <p:sp>
        <p:nvSpPr>
          <p:cNvPr id="7" name="Text 5"/>
          <p:cNvSpPr/>
          <p:nvPr/>
        </p:nvSpPr>
        <p:spPr>
          <a:xfrm>
            <a:off x="502920" y="1298448"/>
            <a:ext cx="10515600" cy="365760"/>
          </a:xfrm>
          <a:prstGeom prst="rect">
            <a:avLst/>
          </a:prstGeom>
          <a:noFill/>
          <a:ln/>
        </p:spPr>
        <p:txBody>
          <a:bodyPr wrap="square"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One page for a household: three things in, one verdict out.</a:t>
            </a:r>
            <a:endParaRPr lang="en-US" sz="1300" dirty="0"/>
          </a:p>
        </p:txBody>
      </p:sp>
      <p:sp>
        <p:nvSpPr>
          <p:cNvPr id="8" name="Shape 6"/>
          <p:cNvSpPr/>
          <p:nvPr/>
        </p:nvSpPr>
        <p:spPr>
          <a:xfrm>
            <a:off x="502920" y="1874520"/>
            <a:ext cx="3566160" cy="3520440"/>
          </a:xfrm>
          <a:prstGeom prst="roundRect">
            <a:avLst>
              <a:gd name="adj" fmla="val 2078"/>
            </a:avLst>
          </a:prstGeom>
          <a:solidFill>
            <a:srgbClr val="F5F5F5"/>
          </a:solidFill>
          <a:ln/>
        </p:spPr>
        <p:txBody>
          <a:bodyPr/>
          <a:lstStyle/>
          <a:p>
            <a:endParaRPr lang="en-JO"/>
          </a:p>
        </p:txBody>
      </p:sp>
      <p:sp>
        <p:nvSpPr>
          <p:cNvPr id="9" name="Shape 7"/>
          <p:cNvSpPr/>
          <p:nvPr/>
        </p:nvSpPr>
        <p:spPr>
          <a:xfrm>
            <a:off x="777240" y="2130552"/>
            <a:ext cx="502920" cy="502920"/>
          </a:xfrm>
          <a:prstGeom prst="ellipse">
            <a:avLst/>
          </a:prstGeom>
          <a:solidFill>
            <a:srgbClr val="143148"/>
          </a:solidFill>
          <a:ln/>
        </p:spPr>
        <p:txBody>
          <a:bodyPr/>
          <a:lstStyle/>
          <a:p>
            <a:endParaRPr lang="en-JO"/>
          </a:p>
        </p:txBody>
      </p:sp>
      <p:sp>
        <p:nvSpPr>
          <p:cNvPr id="10" name="Text 8"/>
          <p:cNvSpPr/>
          <p:nvPr/>
        </p:nvSpPr>
        <p:spPr>
          <a:xfrm>
            <a:off x="777240" y="2130552"/>
            <a:ext cx="5029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9"/>
          <p:cNvSpPr/>
          <p:nvPr/>
        </p:nvSpPr>
        <p:spPr>
          <a:xfrm>
            <a:off x="777240" y="2788920"/>
            <a:ext cx="3017520" cy="502920"/>
          </a:xfrm>
          <a:prstGeom prst="rect">
            <a:avLst/>
          </a:prstGeom>
          <a:noFill/>
          <a:ln/>
        </p:spPr>
        <p:txBody>
          <a:bodyPr wrap="square" rtlCol="0" anchor="ctr"/>
          <a:lstStyle/>
          <a:p>
            <a:pPr marL="0" indent="0">
              <a:buNone/>
            </a:pPr>
            <a:r>
              <a:rPr lang="en-US" sz="1500" b="1" dirty="0">
                <a:solidFill>
                  <a:srgbClr val="143148"/>
                </a:solidFill>
                <a:latin typeface="Cambria" pitchFamily="34" charset="0"/>
                <a:ea typeface="Cambria" pitchFamily="34" charset="-122"/>
                <a:cs typeface="Cambria" pitchFamily="34" charset="-120"/>
              </a:rPr>
              <a:t>You give three things</a:t>
            </a:r>
            <a:endParaRPr lang="en-US" sz="1500" dirty="0"/>
          </a:p>
        </p:txBody>
      </p:sp>
      <p:sp>
        <p:nvSpPr>
          <p:cNvPr id="12" name="Text 10"/>
          <p:cNvSpPr/>
          <p:nvPr/>
        </p:nvSpPr>
        <p:spPr>
          <a:xfrm>
            <a:off x="777240" y="3337560"/>
            <a:ext cx="3017520" cy="1463040"/>
          </a:xfrm>
          <a:prstGeom prst="rect">
            <a:avLst/>
          </a:prstGeom>
          <a:noFill/>
          <a:ln/>
        </p:spPr>
        <p:txBody>
          <a:bodyPr wrap="square" rtlCol="0" anchor="t"/>
          <a:lstStyle/>
          <a:p>
            <a:pPr marL="0" indent="0">
              <a:buNone/>
            </a:pPr>
            <a:r>
              <a:rPr lang="en-US" sz="1150" dirty="0">
                <a:solidFill>
                  <a:srgbClr val="414141"/>
                </a:solidFill>
                <a:latin typeface="Calibri" pitchFamily="34" charset="0"/>
                <a:ea typeface="Calibri" pitchFamily="34" charset="-122"/>
                <a:cs typeface="Calibri" pitchFamily="34" charset="-120"/>
              </a:rPr>
              <a:t>Location — address, map tap, or GPS. Electricity bill — average monthly JOD. System size — installed kWp.</a:t>
            </a:r>
            <a:endParaRPr lang="en-US" sz="1150" dirty="0"/>
          </a:p>
        </p:txBody>
      </p:sp>
      <p:sp>
        <p:nvSpPr>
          <p:cNvPr id="13" name="Text 11"/>
          <p:cNvSpPr/>
          <p:nvPr/>
        </p:nvSpPr>
        <p:spPr>
          <a:xfrm>
            <a:off x="777240" y="4846320"/>
            <a:ext cx="3017520" cy="411480"/>
          </a:xfrm>
          <a:prstGeom prst="rect">
            <a:avLst/>
          </a:prstGeom>
          <a:noFill/>
          <a:ln/>
        </p:spPr>
        <p:txBody>
          <a:bodyPr wrap="square" rtlCol="0" anchor="t"/>
          <a:lstStyle/>
          <a:p>
            <a:pPr marL="0" indent="0">
              <a:buNone/>
            </a:pPr>
            <a:r>
              <a:rPr lang="en-US" sz="1000" b="1" dirty="0">
                <a:solidFill>
                  <a:srgbClr val="CA8F24"/>
                </a:solidFill>
                <a:latin typeface="Calibri" pitchFamily="34" charset="0"/>
                <a:ea typeface="Calibri" pitchFamily="34" charset="-122"/>
                <a:cs typeface="Calibri" pitchFamily="34" charset="-120"/>
              </a:rPr>
              <a:t>NASA POWER</a:t>
            </a:r>
            <a:endParaRPr lang="en-US" sz="1000" dirty="0"/>
          </a:p>
        </p:txBody>
      </p:sp>
      <p:sp>
        <p:nvSpPr>
          <p:cNvPr id="14" name="Text 12"/>
          <p:cNvSpPr/>
          <p:nvPr/>
        </p:nvSpPr>
        <p:spPr>
          <a:xfrm>
            <a:off x="4050792" y="3451860"/>
            <a:ext cx="256032" cy="365760"/>
          </a:xfrm>
          <a:prstGeom prst="rect">
            <a:avLst/>
          </a:prstGeom>
          <a:noFill/>
          <a:ln/>
        </p:spPr>
        <p:txBody>
          <a:bodyPr wrap="square" rtlCol="0" anchor="ctr"/>
          <a:lstStyle/>
          <a:p>
            <a:pPr marL="0" indent="0" algn="ctr">
              <a:buNone/>
            </a:pPr>
            <a:r>
              <a:rPr lang="en-US" sz="1600" b="1" dirty="0">
                <a:solidFill>
                  <a:srgbClr val="CA8F24"/>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4288536" y="1874520"/>
            <a:ext cx="3566160" cy="3520440"/>
          </a:xfrm>
          <a:prstGeom prst="roundRect">
            <a:avLst>
              <a:gd name="adj" fmla="val 2078"/>
            </a:avLst>
          </a:prstGeom>
          <a:solidFill>
            <a:srgbClr val="F5F5F5"/>
          </a:solidFill>
          <a:ln/>
        </p:spPr>
        <p:txBody>
          <a:bodyPr/>
          <a:lstStyle/>
          <a:p>
            <a:endParaRPr lang="en-JO"/>
          </a:p>
        </p:txBody>
      </p:sp>
      <p:sp>
        <p:nvSpPr>
          <p:cNvPr id="16" name="Shape 14"/>
          <p:cNvSpPr/>
          <p:nvPr/>
        </p:nvSpPr>
        <p:spPr>
          <a:xfrm>
            <a:off x="4562856" y="2130552"/>
            <a:ext cx="502920" cy="502920"/>
          </a:xfrm>
          <a:prstGeom prst="ellipse">
            <a:avLst/>
          </a:prstGeom>
          <a:solidFill>
            <a:srgbClr val="143148"/>
          </a:solidFill>
          <a:ln/>
        </p:spPr>
        <p:txBody>
          <a:bodyPr/>
          <a:lstStyle/>
          <a:p>
            <a:endParaRPr lang="en-JO"/>
          </a:p>
        </p:txBody>
      </p:sp>
      <p:sp>
        <p:nvSpPr>
          <p:cNvPr id="17" name="Text 15"/>
          <p:cNvSpPr/>
          <p:nvPr/>
        </p:nvSpPr>
        <p:spPr>
          <a:xfrm>
            <a:off x="4562856" y="2130552"/>
            <a:ext cx="5029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8" name="Text 16"/>
          <p:cNvSpPr/>
          <p:nvPr/>
        </p:nvSpPr>
        <p:spPr>
          <a:xfrm>
            <a:off x="4562856" y="2788920"/>
            <a:ext cx="3017520" cy="502920"/>
          </a:xfrm>
          <a:prstGeom prst="rect">
            <a:avLst/>
          </a:prstGeom>
          <a:noFill/>
          <a:ln/>
        </p:spPr>
        <p:txBody>
          <a:bodyPr wrap="square" rtlCol="0" anchor="ctr"/>
          <a:lstStyle/>
          <a:p>
            <a:pPr marL="0" indent="0">
              <a:buNone/>
            </a:pPr>
            <a:r>
              <a:rPr lang="en-US" sz="1500" b="1" dirty="0">
                <a:solidFill>
                  <a:srgbClr val="143148"/>
                </a:solidFill>
                <a:latin typeface="Cambria" pitchFamily="34" charset="0"/>
                <a:ea typeface="Cambria" pitchFamily="34" charset="-122"/>
                <a:cs typeface="Cambria" pitchFamily="34" charset="-120"/>
              </a:rPr>
              <a:t>The model answers</a:t>
            </a:r>
            <a:endParaRPr lang="en-US" sz="1500" dirty="0"/>
          </a:p>
        </p:txBody>
      </p:sp>
      <p:sp>
        <p:nvSpPr>
          <p:cNvPr id="19" name="Text 17"/>
          <p:cNvSpPr/>
          <p:nvPr/>
        </p:nvSpPr>
        <p:spPr>
          <a:xfrm>
            <a:off x="4562856" y="3337560"/>
            <a:ext cx="3017520" cy="1463040"/>
          </a:xfrm>
          <a:prstGeom prst="rect">
            <a:avLst/>
          </a:prstGeom>
          <a:noFill/>
          <a:ln/>
        </p:spPr>
        <p:txBody>
          <a:bodyPr wrap="square" rtlCol="0" anchor="t"/>
          <a:lstStyle/>
          <a:p>
            <a:pPr marL="0" indent="0">
              <a:buNone/>
            </a:pPr>
            <a:r>
              <a:rPr lang="en-US" sz="1150" dirty="0">
                <a:solidFill>
                  <a:srgbClr val="414141"/>
                </a:solidFill>
                <a:latin typeface="Calibri" pitchFamily="34" charset="0"/>
                <a:ea typeface="Calibri" pitchFamily="34" charset="-122"/>
                <a:cs typeface="Calibri" pitchFamily="34" charset="-120"/>
              </a:rPr>
              <a:t>NASA POWER supplies the weather for that coordinate. XGBoost predicts generation, month by month.</a:t>
            </a:r>
            <a:endParaRPr lang="en-US" sz="1150" dirty="0"/>
          </a:p>
        </p:txBody>
      </p:sp>
      <p:sp>
        <p:nvSpPr>
          <p:cNvPr id="20" name="Text 18"/>
          <p:cNvSpPr/>
          <p:nvPr/>
        </p:nvSpPr>
        <p:spPr>
          <a:xfrm>
            <a:off x="4562856" y="4846320"/>
            <a:ext cx="3017520" cy="411480"/>
          </a:xfrm>
          <a:prstGeom prst="rect">
            <a:avLst/>
          </a:prstGeom>
          <a:noFill/>
          <a:ln/>
        </p:spPr>
        <p:txBody>
          <a:bodyPr wrap="square" rtlCol="0" anchor="t"/>
          <a:lstStyle/>
          <a:p>
            <a:pPr marL="0" indent="0">
              <a:buNone/>
            </a:pPr>
            <a:r>
              <a:rPr lang="en-US" sz="1000" b="1" dirty="0">
                <a:solidFill>
                  <a:srgbClr val="CA8F24"/>
                </a:solidFill>
                <a:latin typeface="Calibri" pitchFamily="34" charset="0"/>
                <a:ea typeface="Calibri" pitchFamily="34" charset="-122"/>
                <a:cs typeface="Calibri" pitchFamily="34" charset="-120"/>
              </a:rPr>
              <a:t>XGBoost</a:t>
            </a:r>
            <a:endParaRPr lang="en-US" sz="1000" dirty="0"/>
          </a:p>
        </p:txBody>
      </p:sp>
      <p:sp>
        <p:nvSpPr>
          <p:cNvPr id="21" name="Text 19"/>
          <p:cNvSpPr/>
          <p:nvPr/>
        </p:nvSpPr>
        <p:spPr>
          <a:xfrm>
            <a:off x="7836408" y="3451860"/>
            <a:ext cx="256032" cy="365760"/>
          </a:xfrm>
          <a:prstGeom prst="rect">
            <a:avLst/>
          </a:prstGeom>
          <a:noFill/>
          <a:ln/>
        </p:spPr>
        <p:txBody>
          <a:bodyPr wrap="square" rtlCol="0" anchor="ctr"/>
          <a:lstStyle/>
          <a:p>
            <a:pPr marL="0" indent="0" algn="ctr">
              <a:buNone/>
            </a:pPr>
            <a:r>
              <a:rPr lang="en-US" sz="1600" b="1" dirty="0">
                <a:solidFill>
                  <a:srgbClr val="CA8F24"/>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8074152" y="1874520"/>
            <a:ext cx="3566160" cy="3520440"/>
          </a:xfrm>
          <a:prstGeom prst="roundRect">
            <a:avLst>
              <a:gd name="adj" fmla="val 2078"/>
            </a:avLst>
          </a:prstGeom>
          <a:solidFill>
            <a:srgbClr val="F5F5F5"/>
          </a:solidFill>
          <a:ln/>
        </p:spPr>
        <p:txBody>
          <a:bodyPr/>
          <a:lstStyle/>
          <a:p>
            <a:endParaRPr lang="en-JO"/>
          </a:p>
        </p:txBody>
      </p:sp>
      <p:sp>
        <p:nvSpPr>
          <p:cNvPr id="23" name="Shape 21"/>
          <p:cNvSpPr/>
          <p:nvPr/>
        </p:nvSpPr>
        <p:spPr>
          <a:xfrm>
            <a:off x="8348472" y="2130552"/>
            <a:ext cx="502920" cy="502920"/>
          </a:xfrm>
          <a:prstGeom prst="ellipse">
            <a:avLst/>
          </a:prstGeom>
          <a:solidFill>
            <a:srgbClr val="143148"/>
          </a:solidFill>
          <a:ln/>
        </p:spPr>
        <p:txBody>
          <a:bodyPr/>
          <a:lstStyle/>
          <a:p>
            <a:endParaRPr lang="en-JO"/>
          </a:p>
        </p:txBody>
      </p:sp>
      <p:sp>
        <p:nvSpPr>
          <p:cNvPr id="24" name="Text 22"/>
          <p:cNvSpPr/>
          <p:nvPr/>
        </p:nvSpPr>
        <p:spPr>
          <a:xfrm>
            <a:off x="8348472" y="2130552"/>
            <a:ext cx="502920" cy="50292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5" name="Text 23"/>
          <p:cNvSpPr/>
          <p:nvPr/>
        </p:nvSpPr>
        <p:spPr>
          <a:xfrm>
            <a:off x="8348472" y="2788920"/>
            <a:ext cx="3017520" cy="502920"/>
          </a:xfrm>
          <a:prstGeom prst="rect">
            <a:avLst/>
          </a:prstGeom>
          <a:noFill/>
          <a:ln/>
        </p:spPr>
        <p:txBody>
          <a:bodyPr wrap="square" rtlCol="0" anchor="ctr"/>
          <a:lstStyle/>
          <a:p>
            <a:pPr marL="0" indent="0">
              <a:buNone/>
            </a:pPr>
            <a:r>
              <a:rPr lang="en-US" sz="1500" b="1" dirty="0">
                <a:solidFill>
                  <a:srgbClr val="143148"/>
                </a:solidFill>
                <a:latin typeface="Cambria" pitchFamily="34" charset="0"/>
                <a:ea typeface="Cambria" pitchFamily="34" charset="-122"/>
                <a:cs typeface="Cambria" pitchFamily="34" charset="-120"/>
              </a:rPr>
              <a:t>You get a decision</a:t>
            </a:r>
            <a:endParaRPr lang="en-US" sz="1500" dirty="0"/>
          </a:p>
        </p:txBody>
      </p:sp>
      <p:sp>
        <p:nvSpPr>
          <p:cNvPr id="26" name="Text 24"/>
          <p:cNvSpPr/>
          <p:nvPr/>
        </p:nvSpPr>
        <p:spPr>
          <a:xfrm>
            <a:off x="8348472" y="3337560"/>
            <a:ext cx="3017520" cy="1463040"/>
          </a:xfrm>
          <a:prstGeom prst="rect">
            <a:avLst/>
          </a:prstGeom>
          <a:noFill/>
          <a:ln/>
        </p:spPr>
        <p:txBody>
          <a:bodyPr wrap="square" rtlCol="0" anchor="t"/>
          <a:lstStyle/>
          <a:p>
            <a:pPr marL="0" indent="0">
              <a:buNone/>
            </a:pPr>
            <a:r>
              <a:rPr lang="en-US" sz="1150" dirty="0">
                <a:solidFill>
                  <a:srgbClr val="414141"/>
                </a:solidFill>
                <a:latin typeface="Calibri" pitchFamily="34" charset="0"/>
                <a:ea typeface="Calibri" pitchFamily="34" charset="-122"/>
                <a:cs typeface="Calibri" pitchFamily="34" charset="-120"/>
              </a:rPr>
              <a:t>Monthly generation set against usage. Share of the year covered, saving in dinars, and a final verdict.</a:t>
            </a:r>
            <a:endParaRPr lang="en-US" sz="1150" dirty="0"/>
          </a:p>
        </p:txBody>
      </p:sp>
      <p:sp>
        <p:nvSpPr>
          <p:cNvPr id="27" name="Text 25"/>
          <p:cNvSpPr/>
          <p:nvPr/>
        </p:nvSpPr>
        <p:spPr>
          <a:xfrm>
            <a:off x="8348472" y="4846320"/>
            <a:ext cx="3017520" cy="411480"/>
          </a:xfrm>
          <a:prstGeom prst="rect">
            <a:avLst/>
          </a:prstGeom>
          <a:noFill/>
          <a:ln/>
        </p:spPr>
        <p:txBody>
          <a:bodyPr wrap="square" rtlCol="0" anchor="t"/>
          <a:lstStyle/>
          <a:p>
            <a:pPr marL="0" indent="0">
              <a:buNone/>
            </a:pPr>
            <a:r>
              <a:rPr lang="en-US" sz="1000" b="1" dirty="0">
                <a:solidFill>
                  <a:srgbClr val="CA8F24"/>
                </a:solidFill>
                <a:latin typeface="Calibri" pitchFamily="34" charset="0"/>
                <a:ea typeface="Calibri" pitchFamily="34" charset="-122"/>
                <a:cs typeface="Calibri" pitchFamily="34" charset="-120"/>
              </a:rPr>
              <a:t>Worth it · Partially · Not enough</a:t>
            </a:r>
            <a:endParaRPr lang="en-US" sz="1000" dirty="0"/>
          </a:p>
        </p:txBody>
      </p:sp>
      <p:sp>
        <p:nvSpPr>
          <p:cNvPr id="28" name="Text 26"/>
          <p:cNvSpPr/>
          <p:nvPr/>
        </p:nvSpPr>
        <p:spPr>
          <a:xfrm>
            <a:off x="502920" y="5577840"/>
            <a:ext cx="11155680" cy="548640"/>
          </a:xfrm>
          <a:prstGeom prst="rect">
            <a:avLst/>
          </a:prstGeom>
          <a:noFill/>
          <a:ln/>
        </p:spPr>
        <p:txBody>
          <a:bodyPr wrap="square" rtlCol="0" anchor="ctr"/>
          <a:lstStyle/>
          <a:p>
            <a:pPr marL="0" indent="0">
              <a:buNone/>
            </a:pPr>
            <a:r>
              <a:rPr lang="en-US" sz="1050" i="1" dirty="0">
                <a:solidFill>
                  <a:srgbClr val="6E6E6E"/>
                </a:solidFill>
                <a:latin typeface="Calibri" pitchFamily="34" charset="0"/>
                <a:ea typeface="Calibri" pitchFamily="34" charset="-122"/>
                <a:cs typeface="Calibri" pitchFamily="34" charset="-120"/>
              </a:rPr>
              <a:t>Nothing technical is asked for. Three ways to give a location — type an address, tap a point on the map, or let the browser detect where you are. All three end in one coordinate, checked against Jordan's border before anything is predicted.</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07 · THE APP</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The App — What the Verdict Means</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20</a:t>
            </a:r>
            <a:endParaRPr lang="en-US" sz="1000" dirty="0"/>
          </a:p>
        </p:txBody>
      </p:sp>
      <p:sp>
        <p:nvSpPr>
          <p:cNvPr id="7" name="Text 5"/>
          <p:cNvSpPr/>
          <p:nvPr/>
        </p:nvSpPr>
        <p:spPr>
          <a:xfrm>
            <a:off x="502920" y="1298448"/>
            <a:ext cx="10515600" cy="365760"/>
          </a:xfrm>
          <a:prstGeom prst="rect">
            <a:avLst/>
          </a:prstGeom>
          <a:noFill/>
          <a:ln/>
        </p:spPr>
        <p:txBody>
          <a:bodyPr wrap="square"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The same model, three households, three different answers.</a:t>
            </a:r>
            <a:endParaRPr lang="en-US" sz="1300" dirty="0"/>
          </a:p>
        </p:txBody>
      </p:sp>
      <p:sp>
        <p:nvSpPr>
          <p:cNvPr id="8" name="Shape 6"/>
          <p:cNvSpPr/>
          <p:nvPr/>
        </p:nvSpPr>
        <p:spPr>
          <a:xfrm>
            <a:off x="502920" y="1828800"/>
            <a:ext cx="3514344" cy="3200400"/>
          </a:xfrm>
          <a:prstGeom prst="roundRect">
            <a:avLst>
              <a:gd name="adj" fmla="val 2286"/>
            </a:avLst>
          </a:prstGeom>
          <a:solidFill>
            <a:srgbClr val="E8F1E9"/>
          </a:solidFill>
          <a:ln/>
        </p:spPr>
        <p:txBody>
          <a:bodyPr/>
          <a:lstStyle/>
          <a:p>
            <a:endParaRPr lang="en-JO"/>
          </a:p>
        </p:txBody>
      </p:sp>
      <p:sp>
        <p:nvSpPr>
          <p:cNvPr id="9" name="Text 7"/>
          <p:cNvSpPr/>
          <p:nvPr/>
        </p:nvSpPr>
        <p:spPr>
          <a:xfrm>
            <a:off x="777240" y="2057400"/>
            <a:ext cx="2965704" cy="365760"/>
          </a:xfrm>
          <a:prstGeom prst="rect">
            <a:avLst/>
          </a:prstGeom>
          <a:noFill/>
          <a:ln/>
        </p:spPr>
        <p:txBody>
          <a:bodyPr wrap="square" rtlCol="0" anchor="ctr"/>
          <a:lstStyle/>
          <a:p>
            <a:pPr marL="0" indent="0">
              <a:buNone/>
            </a:pPr>
            <a:r>
              <a:rPr lang="en-US" sz="1200" b="1" dirty="0">
                <a:solidFill>
                  <a:srgbClr val="6E6E6E"/>
                </a:solidFill>
                <a:latin typeface="Calibri" pitchFamily="34" charset="0"/>
                <a:ea typeface="Calibri" pitchFamily="34" charset="-122"/>
                <a:cs typeface="Calibri" pitchFamily="34" charset="-120"/>
              </a:rPr>
              <a:t>Aqaba</a:t>
            </a:r>
            <a:endParaRPr lang="en-US" sz="1200" dirty="0"/>
          </a:p>
        </p:txBody>
      </p:sp>
      <p:sp>
        <p:nvSpPr>
          <p:cNvPr id="10" name="Text 8"/>
          <p:cNvSpPr/>
          <p:nvPr/>
        </p:nvSpPr>
        <p:spPr>
          <a:xfrm>
            <a:off x="777240" y="2395728"/>
            <a:ext cx="2965704" cy="502920"/>
          </a:xfrm>
          <a:prstGeom prst="rect">
            <a:avLst/>
          </a:prstGeom>
          <a:noFill/>
          <a:ln/>
        </p:spPr>
        <p:txBody>
          <a:bodyPr wrap="square" rtlCol="0" anchor="ctr"/>
          <a:lstStyle/>
          <a:p>
            <a:pPr marL="0" indent="0">
              <a:buNone/>
            </a:pPr>
            <a:r>
              <a:rPr lang="en-US" sz="1900" b="1" dirty="0">
                <a:solidFill>
                  <a:srgbClr val="2E7D32"/>
                </a:solidFill>
                <a:latin typeface="Cambria" pitchFamily="34" charset="0"/>
                <a:ea typeface="Cambria" pitchFamily="34" charset="-122"/>
                <a:cs typeface="Cambria" pitchFamily="34" charset="-120"/>
              </a:rPr>
              <a:t>Worth it</a:t>
            </a:r>
            <a:endParaRPr lang="en-US" sz="1900" dirty="0"/>
          </a:p>
        </p:txBody>
      </p:sp>
      <p:sp>
        <p:nvSpPr>
          <p:cNvPr id="11" name="Text 9"/>
          <p:cNvSpPr/>
          <p:nvPr/>
        </p:nvSpPr>
        <p:spPr>
          <a:xfrm>
            <a:off x="777240" y="3063240"/>
            <a:ext cx="2965704" cy="1828800"/>
          </a:xfrm>
          <a:prstGeom prst="rect">
            <a:avLst/>
          </a:prstGeom>
          <a:noFill/>
          <a:ln/>
        </p:spPr>
        <p:txBody>
          <a:bodyPr wrap="square" rtlCol="0" anchor="t"/>
          <a:lstStyle/>
          <a:p>
            <a:pPr marL="0" indent="0">
              <a:buNone/>
            </a:pPr>
            <a:r>
              <a:rPr lang="en-US" sz="1200" dirty="0">
                <a:solidFill>
                  <a:srgbClr val="414141"/>
                </a:solidFill>
                <a:latin typeface="Calibri" pitchFamily="34" charset="0"/>
                <a:ea typeface="Calibri" pitchFamily="34" charset="-122"/>
                <a:cs typeface="Calibri" pitchFamily="34" charset="-120"/>
              </a:rPr>
              <a:t>Generation covers what the household uses across the year.</a:t>
            </a:r>
            <a:endParaRPr lang="en-US" sz="1200" dirty="0"/>
          </a:p>
        </p:txBody>
      </p:sp>
      <p:sp>
        <p:nvSpPr>
          <p:cNvPr id="12" name="Shape 10"/>
          <p:cNvSpPr/>
          <p:nvPr/>
        </p:nvSpPr>
        <p:spPr>
          <a:xfrm>
            <a:off x="4337304" y="1828800"/>
            <a:ext cx="3514344" cy="3200400"/>
          </a:xfrm>
          <a:prstGeom prst="roundRect">
            <a:avLst>
              <a:gd name="adj" fmla="val 2286"/>
            </a:avLst>
          </a:prstGeom>
          <a:solidFill>
            <a:srgbClr val="FBF1DC"/>
          </a:solidFill>
          <a:ln/>
        </p:spPr>
        <p:txBody>
          <a:bodyPr/>
          <a:lstStyle/>
          <a:p>
            <a:endParaRPr lang="en-JO"/>
          </a:p>
        </p:txBody>
      </p:sp>
      <p:sp>
        <p:nvSpPr>
          <p:cNvPr id="13" name="Text 11"/>
          <p:cNvSpPr/>
          <p:nvPr/>
        </p:nvSpPr>
        <p:spPr>
          <a:xfrm>
            <a:off x="4611624" y="2057400"/>
            <a:ext cx="2965704" cy="365760"/>
          </a:xfrm>
          <a:prstGeom prst="rect">
            <a:avLst/>
          </a:prstGeom>
          <a:noFill/>
          <a:ln/>
        </p:spPr>
        <p:txBody>
          <a:bodyPr wrap="square" rtlCol="0" anchor="ctr"/>
          <a:lstStyle/>
          <a:p>
            <a:pPr marL="0" indent="0">
              <a:buNone/>
            </a:pPr>
            <a:r>
              <a:rPr lang="en-US" sz="1200" b="1" dirty="0">
                <a:solidFill>
                  <a:srgbClr val="6E6E6E"/>
                </a:solidFill>
                <a:latin typeface="Calibri" pitchFamily="34" charset="0"/>
                <a:ea typeface="Calibri" pitchFamily="34" charset="-122"/>
                <a:cs typeface="Calibri" pitchFamily="34" charset="-120"/>
              </a:rPr>
              <a:t>Irbid</a:t>
            </a:r>
            <a:endParaRPr lang="en-US" sz="1200" dirty="0"/>
          </a:p>
        </p:txBody>
      </p:sp>
      <p:sp>
        <p:nvSpPr>
          <p:cNvPr id="14" name="Text 12"/>
          <p:cNvSpPr/>
          <p:nvPr/>
        </p:nvSpPr>
        <p:spPr>
          <a:xfrm>
            <a:off x="4611624" y="2395728"/>
            <a:ext cx="2965704" cy="502920"/>
          </a:xfrm>
          <a:prstGeom prst="rect">
            <a:avLst/>
          </a:prstGeom>
          <a:noFill/>
          <a:ln/>
        </p:spPr>
        <p:txBody>
          <a:bodyPr wrap="square" rtlCol="0" anchor="ctr"/>
          <a:lstStyle/>
          <a:p>
            <a:pPr marL="0" indent="0">
              <a:buNone/>
            </a:pPr>
            <a:r>
              <a:rPr lang="en-US" sz="1900" b="1" dirty="0">
                <a:solidFill>
                  <a:srgbClr val="CA8F24"/>
                </a:solidFill>
                <a:latin typeface="Cambria" pitchFamily="34" charset="0"/>
                <a:ea typeface="Cambria" pitchFamily="34" charset="-122"/>
                <a:cs typeface="Cambria" pitchFamily="34" charset="-120"/>
              </a:rPr>
              <a:t>Partially worth it</a:t>
            </a:r>
            <a:endParaRPr lang="en-US" sz="1900" dirty="0"/>
          </a:p>
        </p:txBody>
      </p:sp>
      <p:sp>
        <p:nvSpPr>
          <p:cNvPr id="15" name="Text 13"/>
          <p:cNvSpPr/>
          <p:nvPr/>
        </p:nvSpPr>
        <p:spPr>
          <a:xfrm>
            <a:off x="4611624" y="3063240"/>
            <a:ext cx="2965704" cy="1828800"/>
          </a:xfrm>
          <a:prstGeom prst="rect">
            <a:avLst/>
          </a:prstGeom>
          <a:noFill/>
          <a:ln/>
        </p:spPr>
        <p:txBody>
          <a:bodyPr wrap="square" rtlCol="0" anchor="t"/>
          <a:lstStyle/>
          <a:p>
            <a:pPr marL="0" indent="0">
              <a:buNone/>
            </a:pPr>
            <a:r>
              <a:rPr lang="en-US" sz="1200" dirty="0">
                <a:solidFill>
                  <a:srgbClr val="414141"/>
                </a:solidFill>
                <a:latin typeface="Calibri" pitchFamily="34" charset="0"/>
                <a:ea typeface="Calibri" pitchFamily="34" charset="-122"/>
                <a:cs typeface="Calibri" pitchFamily="34" charset="-120"/>
              </a:rPr>
              <a:t>Generation helps and cuts the bill, but the cover is incomplete.</a:t>
            </a:r>
            <a:endParaRPr lang="en-US" sz="1200" dirty="0"/>
          </a:p>
        </p:txBody>
      </p:sp>
      <p:sp>
        <p:nvSpPr>
          <p:cNvPr id="16" name="Shape 14"/>
          <p:cNvSpPr/>
          <p:nvPr/>
        </p:nvSpPr>
        <p:spPr>
          <a:xfrm>
            <a:off x="8171688" y="1828800"/>
            <a:ext cx="3514344" cy="3200400"/>
          </a:xfrm>
          <a:prstGeom prst="roundRect">
            <a:avLst>
              <a:gd name="adj" fmla="val 2286"/>
            </a:avLst>
          </a:prstGeom>
          <a:solidFill>
            <a:srgbClr val="F7E4E2"/>
          </a:solidFill>
          <a:ln/>
        </p:spPr>
        <p:txBody>
          <a:bodyPr/>
          <a:lstStyle/>
          <a:p>
            <a:endParaRPr lang="en-JO"/>
          </a:p>
        </p:txBody>
      </p:sp>
      <p:sp>
        <p:nvSpPr>
          <p:cNvPr id="17" name="Text 15"/>
          <p:cNvSpPr/>
          <p:nvPr/>
        </p:nvSpPr>
        <p:spPr>
          <a:xfrm>
            <a:off x="8446008" y="2057400"/>
            <a:ext cx="2965704" cy="365760"/>
          </a:xfrm>
          <a:prstGeom prst="rect">
            <a:avLst/>
          </a:prstGeom>
          <a:noFill/>
          <a:ln/>
        </p:spPr>
        <p:txBody>
          <a:bodyPr wrap="square" rtlCol="0" anchor="ctr"/>
          <a:lstStyle/>
          <a:p>
            <a:pPr marL="0" indent="0">
              <a:buNone/>
            </a:pPr>
            <a:r>
              <a:rPr lang="en-US" sz="1200" b="1" dirty="0">
                <a:solidFill>
                  <a:srgbClr val="6E6E6E"/>
                </a:solidFill>
                <a:latin typeface="Calibri" pitchFamily="34" charset="0"/>
                <a:ea typeface="Calibri" pitchFamily="34" charset="-122"/>
                <a:cs typeface="Calibri" pitchFamily="34" charset="-120"/>
              </a:rPr>
              <a:t>Ajloun</a:t>
            </a:r>
            <a:endParaRPr lang="en-US" sz="1200" dirty="0"/>
          </a:p>
        </p:txBody>
      </p:sp>
      <p:sp>
        <p:nvSpPr>
          <p:cNvPr id="18" name="Text 16"/>
          <p:cNvSpPr/>
          <p:nvPr/>
        </p:nvSpPr>
        <p:spPr>
          <a:xfrm>
            <a:off x="8446008" y="2395728"/>
            <a:ext cx="2965704" cy="502920"/>
          </a:xfrm>
          <a:prstGeom prst="rect">
            <a:avLst/>
          </a:prstGeom>
          <a:noFill/>
          <a:ln/>
        </p:spPr>
        <p:txBody>
          <a:bodyPr wrap="square" rtlCol="0" anchor="ctr"/>
          <a:lstStyle/>
          <a:p>
            <a:pPr marL="0" indent="0">
              <a:buNone/>
            </a:pPr>
            <a:r>
              <a:rPr lang="en-US" sz="1900" b="1" dirty="0">
                <a:solidFill>
                  <a:srgbClr val="B23A3A"/>
                </a:solidFill>
                <a:latin typeface="Cambria" pitchFamily="34" charset="0"/>
                <a:ea typeface="Cambria" pitchFamily="34" charset="-122"/>
                <a:cs typeface="Cambria" pitchFamily="34" charset="-120"/>
              </a:rPr>
              <a:t>Not enough</a:t>
            </a:r>
            <a:endParaRPr lang="en-US" sz="1900" dirty="0"/>
          </a:p>
        </p:txBody>
      </p:sp>
      <p:sp>
        <p:nvSpPr>
          <p:cNvPr id="19" name="Text 17"/>
          <p:cNvSpPr/>
          <p:nvPr/>
        </p:nvSpPr>
        <p:spPr>
          <a:xfrm>
            <a:off x="8446008" y="3063240"/>
            <a:ext cx="2965704" cy="1828800"/>
          </a:xfrm>
          <a:prstGeom prst="rect">
            <a:avLst/>
          </a:prstGeom>
          <a:noFill/>
          <a:ln/>
        </p:spPr>
        <p:txBody>
          <a:bodyPr wrap="square" rtlCol="0" anchor="t"/>
          <a:lstStyle/>
          <a:p>
            <a:pPr marL="0" indent="0">
              <a:buNone/>
            </a:pPr>
            <a:r>
              <a:rPr lang="en-US" sz="1200" dirty="0">
                <a:solidFill>
                  <a:srgbClr val="414141"/>
                </a:solidFill>
                <a:latin typeface="Calibri" pitchFamily="34" charset="0"/>
                <a:ea typeface="Calibri" pitchFamily="34" charset="-122"/>
                <a:cs typeface="Calibri" pitchFamily="34" charset="-120"/>
              </a:rPr>
              <a:t>Generation is not sufficient for what this household uses.</a:t>
            </a:r>
            <a:endParaRPr lang="en-US" sz="1200" dirty="0"/>
          </a:p>
        </p:txBody>
      </p:sp>
      <p:sp>
        <p:nvSpPr>
          <p:cNvPr id="20" name="Shape 18"/>
          <p:cNvSpPr/>
          <p:nvPr/>
        </p:nvSpPr>
        <p:spPr>
          <a:xfrm>
            <a:off x="502920" y="5257800"/>
            <a:ext cx="11183112" cy="914400"/>
          </a:xfrm>
          <a:prstGeom prst="roundRect">
            <a:avLst>
              <a:gd name="adj" fmla="val 6000"/>
            </a:avLst>
          </a:prstGeom>
          <a:solidFill>
            <a:srgbClr val="143148"/>
          </a:solidFill>
          <a:ln/>
        </p:spPr>
        <p:txBody>
          <a:bodyPr/>
          <a:lstStyle/>
          <a:p>
            <a:endParaRPr lang="en-JO"/>
          </a:p>
        </p:txBody>
      </p:sp>
      <p:sp>
        <p:nvSpPr>
          <p:cNvPr id="21" name="Text 19"/>
          <p:cNvSpPr/>
          <p:nvPr/>
        </p:nvSpPr>
        <p:spPr>
          <a:xfrm>
            <a:off x="777240" y="5257800"/>
            <a:ext cx="10607040" cy="914400"/>
          </a:xfrm>
          <a:prstGeom prst="rect">
            <a:avLst/>
          </a:prstGeom>
          <a:noFill/>
          <a:ln/>
        </p:spPr>
        <p:txBody>
          <a:bodyPr wrap="square" rtlCol="0" anchor="ctr"/>
          <a:lstStyle/>
          <a:p>
            <a:pPr marL="0" indent="0">
              <a:buNone/>
            </a:pPr>
            <a:r>
              <a:rPr lang="en-US" sz="1300" b="1" dirty="0">
                <a:solidFill>
                  <a:srgbClr val="EEBE51"/>
                </a:solidFill>
                <a:latin typeface="Calibri" pitchFamily="34" charset="0"/>
                <a:ea typeface="Calibri" pitchFamily="34" charset="-122"/>
                <a:cs typeface="Calibri" pitchFamily="34" charset="-120"/>
              </a:rPr>
              <a:t>The location is not what decides it — </a:t>
            </a:r>
            <a:r>
              <a:rPr lang="en-US" sz="1300" dirty="0">
                <a:solidFill>
                  <a:srgbClr val="FFFFFF"/>
                </a:solidFill>
                <a:latin typeface="Calibri" pitchFamily="34" charset="0"/>
                <a:ea typeface="Calibri" pitchFamily="34" charset="-122"/>
                <a:cs typeface="Calibri" pitchFamily="34" charset="-120"/>
              </a:rPr>
              <a:t>how much electricity the household uses, and how big the system is, decide the verdict.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65C309C-6AA7-660C-31BE-E68B6E5B323B}"/>
              </a:ext>
            </a:extLst>
          </p:cNvPr>
          <p:cNvSpPr txBox="1"/>
          <p:nvPr/>
        </p:nvSpPr>
        <p:spPr>
          <a:xfrm>
            <a:off x="599090" y="919711"/>
            <a:ext cx="2816669" cy="646331"/>
          </a:xfrm>
          <a:prstGeom prst="rect">
            <a:avLst/>
          </a:prstGeom>
          <a:noFill/>
        </p:spPr>
        <p:txBody>
          <a:bodyPr wrap="none" rtlCol="0">
            <a:spAutoFit/>
          </a:bodyPr>
          <a:lstStyle/>
          <a:p>
            <a:r>
              <a:rPr lang="en-US" b="1" dirty="0">
                <a:solidFill>
                  <a:srgbClr val="143148"/>
                </a:solidFill>
                <a:latin typeface="Cambria" pitchFamily="34" charset="0"/>
                <a:ea typeface="Cambria" pitchFamily="34" charset="-122"/>
                <a:cs typeface="Cambria" pitchFamily="34" charset="-120"/>
              </a:rPr>
              <a:t>Solar Resource Overview</a:t>
            </a:r>
            <a:endParaRPr lang="en-US" dirty="0"/>
          </a:p>
          <a:p>
            <a:endParaRPr lang="en-JO" dirty="0"/>
          </a:p>
        </p:txBody>
      </p:sp>
      <p:pic>
        <p:nvPicPr>
          <p:cNvPr id="6" name="Picture 5">
            <a:extLst>
              <a:ext uri="{FF2B5EF4-FFF2-40B4-BE49-F238E27FC236}">
                <a16:creationId xmlns:a16="http://schemas.microsoft.com/office/drawing/2014/main" id="{6A30C483-337F-D1E4-1E10-ABBC984B0A68}"/>
              </a:ext>
            </a:extLst>
          </p:cNvPr>
          <p:cNvPicPr>
            <a:picLocks noChangeAspect="1"/>
          </p:cNvPicPr>
          <p:nvPr/>
        </p:nvPicPr>
        <p:blipFill>
          <a:blip r:embed="rId2"/>
          <a:stretch>
            <a:fillRect/>
          </a:stretch>
        </p:blipFill>
        <p:spPr>
          <a:xfrm>
            <a:off x="308161" y="1534512"/>
            <a:ext cx="8260105" cy="4634537"/>
          </a:xfrm>
          <a:prstGeom prst="rect">
            <a:avLst/>
          </a:prstGeom>
        </p:spPr>
      </p:pic>
      <p:pic>
        <p:nvPicPr>
          <p:cNvPr id="7" name="Picture 6">
            <a:extLst>
              <a:ext uri="{FF2B5EF4-FFF2-40B4-BE49-F238E27FC236}">
                <a16:creationId xmlns:a16="http://schemas.microsoft.com/office/drawing/2014/main" id="{ED9578FC-A563-CA3B-7DDC-DE59049DB462}"/>
              </a:ext>
            </a:extLst>
          </p:cNvPr>
          <p:cNvPicPr>
            <a:picLocks noChangeAspect="1"/>
          </p:cNvPicPr>
          <p:nvPr/>
        </p:nvPicPr>
        <p:blipFill>
          <a:blip r:embed="rId3"/>
          <a:stretch>
            <a:fillRect/>
          </a:stretch>
        </p:blipFill>
        <p:spPr>
          <a:xfrm>
            <a:off x="8568266" y="1456773"/>
            <a:ext cx="3024643" cy="4520693"/>
          </a:xfrm>
          <a:prstGeom prst="rect">
            <a:avLst/>
          </a:prstGeom>
        </p:spPr>
      </p:pic>
      <p:pic>
        <p:nvPicPr>
          <p:cNvPr id="11" name="Picture 10">
            <a:extLst>
              <a:ext uri="{FF2B5EF4-FFF2-40B4-BE49-F238E27FC236}">
                <a16:creationId xmlns:a16="http://schemas.microsoft.com/office/drawing/2014/main" id="{6FF1B51C-0225-2CBD-329C-1022AAC7FF62}"/>
              </a:ext>
            </a:extLst>
          </p:cNvPr>
          <p:cNvPicPr>
            <a:picLocks noChangeAspect="1"/>
          </p:cNvPicPr>
          <p:nvPr/>
        </p:nvPicPr>
        <p:blipFill>
          <a:blip r:embed="rId4"/>
          <a:stretch>
            <a:fillRect/>
          </a:stretch>
        </p:blipFill>
        <p:spPr>
          <a:xfrm>
            <a:off x="-21021" y="11090"/>
            <a:ext cx="12192000" cy="646331"/>
          </a:xfrm>
          <a:prstGeom prst="rect">
            <a:avLst/>
          </a:prstGeom>
        </p:spPr>
      </p:pic>
      <p:sp>
        <p:nvSpPr>
          <p:cNvPr id="12" name="TextBox 11">
            <a:extLst>
              <a:ext uri="{FF2B5EF4-FFF2-40B4-BE49-F238E27FC236}">
                <a16:creationId xmlns:a16="http://schemas.microsoft.com/office/drawing/2014/main" id="{8830B7FF-46E3-869A-66B4-ACD9115BDC9F}"/>
              </a:ext>
            </a:extLst>
          </p:cNvPr>
          <p:cNvSpPr txBox="1"/>
          <p:nvPr/>
        </p:nvSpPr>
        <p:spPr>
          <a:xfrm>
            <a:off x="735724" y="6589986"/>
            <a:ext cx="184731" cy="369332"/>
          </a:xfrm>
          <a:prstGeom prst="rect">
            <a:avLst/>
          </a:prstGeom>
          <a:noFill/>
        </p:spPr>
        <p:txBody>
          <a:bodyPr wrap="none" rtlCol="0">
            <a:spAutoFit/>
          </a:bodyPr>
          <a:lstStyle/>
          <a:p>
            <a:endParaRPr lang="en-JO" dirty="0"/>
          </a:p>
        </p:txBody>
      </p:sp>
      <p:sp>
        <p:nvSpPr>
          <p:cNvPr id="13" name="TextBox 12">
            <a:extLst>
              <a:ext uri="{FF2B5EF4-FFF2-40B4-BE49-F238E27FC236}">
                <a16:creationId xmlns:a16="http://schemas.microsoft.com/office/drawing/2014/main" id="{13E69B8E-ED15-EB36-19C2-679BF1932B78}"/>
              </a:ext>
            </a:extLst>
          </p:cNvPr>
          <p:cNvSpPr txBox="1"/>
          <p:nvPr/>
        </p:nvSpPr>
        <p:spPr>
          <a:xfrm>
            <a:off x="380082" y="6446608"/>
            <a:ext cx="1080745" cy="523220"/>
          </a:xfrm>
          <a:prstGeom prst="rect">
            <a:avLst/>
          </a:prstGeom>
          <a:noFill/>
        </p:spPr>
        <p:txBody>
          <a:bodyPr wrap="none" rtlCol="0">
            <a:spAutoFit/>
          </a:bodyPr>
          <a:lstStyle/>
          <a:p>
            <a:r>
              <a:rPr lang="en-US" sz="1000" dirty="0" err="1">
                <a:solidFill>
                  <a:srgbClr val="6E6E6E"/>
                </a:solidFill>
                <a:latin typeface="Calibri" pitchFamily="34" charset="0"/>
                <a:ea typeface="Calibri" pitchFamily="34" charset="-122"/>
                <a:cs typeface="Calibri" pitchFamily="34" charset="-120"/>
              </a:rPr>
              <a:t>SolarWise</a:t>
            </a:r>
            <a:r>
              <a:rPr lang="en-US" sz="1000" dirty="0">
                <a:solidFill>
                  <a:srgbClr val="6E6E6E"/>
                </a:solidFill>
                <a:latin typeface="Calibri" pitchFamily="34" charset="0"/>
                <a:ea typeface="Calibri" pitchFamily="34" charset="-122"/>
                <a:cs typeface="Calibri" pitchFamily="34" charset="-120"/>
              </a:rPr>
              <a:t> Jordan</a:t>
            </a:r>
            <a:endParaRPr lang="en-US" sz="1000" dirty="0"/>
          </a:p>
          <a:p>
            <a:endParaRPr lang="en-JO" dirty="0"/>
          </a:p>
        </p:txBody>
      </p:sp>
    </p:spTree>
    <p:extLst>
      <p:ext uri="{BB962C8B-B14F-4D97-AF65-F5344CB8AC3E}">
        <p14:creationId xmlns:p14="http://schemas.microsoft.com/office/powerpoint/2010/main" val="1844204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B7DA65-FEC3-5C36-38C7-7B78A1104036}"/>
              </a:ext>
            </a:extLst>
          </p:cNvPr>
          <p:cNvSpPr txBox="1"/>
          <p:nvPr/>
        </p:nvSpPr>
        <p:spPr>
          <a:xfrm>
            <a:off x="546538" y="935421"/>
            <a:ext cx="3228641" cy="369332"/>
          </a:xfrm>
          <a:prstGeom prst="rect">
            <a:avLst/>
          </a:prstGeom>
          <a:noFill/>
        </p:spPr>
        <p:txBody>
          <a:bodyPr wrap="none" rtlCol="0">
            <a:spAutoFit/>
          </a:bodyPr>
          <a:lstStyle/>
          <a:p>
            <a:r>
              <a:rPr lang="en-US" b="1" dirty="0">
                <a:solidFill>
                  <a:srgbClr val="143148"/>
                </a:solidFill>
                <a:latin typeface="Cambria" pitchFamily="34" charset="0"/>
                <a:ea typeface="Cambria" pitchFamily="34" charset="-122"/>
                <a:cs typeface="Cambria" pitchFamily="34" charset="-120"/>
              </a:rPr>
              <a:t>Seasonal &amp; Weather Analysis</a:t>
            </a:r>
            <a:endParaRPr lang="en-US" dirty="0"/>
          </a:p>
        </p:txBody>
      </p:sp>
      <p:pic>
        <p:nvPicPr>
          <p:cNvPr id="6" name="Picture 5">
            <a:extLst>
              <a:ext uri="{FF2B5EF4-FFF2-40B4-BE49-F238E27FC236}">
                <a16:creationId xmlns:a16="http://schemas.microsoft.com/office/drawing/2014/main" id="{EABEAD73-BCF1-6668-2772-204E75C589ED}"/>
              </a:ext>
            </a:extLst>
          </p:cNvPr>
          <p:cNvPicPr>
            <a:picLocks noChangeAspect="1"/>
          </p:cNvPicPr>
          <p:nvPr/>
        </p:nvPicPr>
        <p:blipFill>
          <a:blip r:embed="rId2"/>
          <a:stretch>
            <a:fillRect/>
          </a:stretch>
        </p:blipFill>
        <p:spPr>
          <a:xfrm>
            <a:off x="389933" y="1694114"/>
            <a:ext cx="8031733" cy="4401886"/>
          </a:xfrm>
          <a:prstGeom prst="rect">
            <a:avLst/>
          </a:prstGeom>
        </p:spPr>
      </p:pic>
      <p:pic>
        <p:nvPicPr>
          <p:cNvPr id="8" name="Picture 7">
            <a:extLst>
              <a:ext uri="{FF2B5EF4-FFF2-40B4-BE49-F238E27FC236}">
                <a16:creationId xmlns:a16="http://schemas.microsoft.com/office/drawing/2014/main" id="{84D1A3FE-8EB7-48D8-B948-A24D1E106077}"/>
              </a:ext>
            </a:extLst>
          </p:cNvPr>
          <p:cNvPicPr>
            <a:picLocks noChangeAspect="1"/>
          </p:cNvPicPr>
          <p:nvPr/>
        </p:nvPicPr>
        <p:blipFill>
          <a:blip r:embed="rId3"/>
          <a:stretch>
            <a:fillRect/>
          </a:stretch>
        </p:blipFill>
        <p:spPr>
          <a:xfrm>
            <a:off x="8957733" y="1694113"/>
            <a:ext cx="2844334" cy="4063219"/>
          </a:xfrm>
          <a:prstGeom prst="rect">
            <a:avLst/>
          </a:prstGeom>
        </p:spPr>
      </p:pic>
      <p:pic>
        <p:nvPicPr>
          <p:cNvPr id="10" name="Picture 9">
            <a:extLst>
              <a:ext uri="{FF2B5EF4-FFF2-40B4-BE49-F238E27FC236}">
                <a16:creationId xmlns:a16="http://schemas.microsoft.com/office/drawing/2014/main" id="{FB67230D-D433-1AB2-7CC8-49F4676B1FAF}"/>
              </a:ext>
            </a:extLst>
          </p:cNvPr>
          <p:cNvPicPr>
            <a:picLocks noChangeAspect="1"/>
          </p:cNvPicPr>
          <p:nvPr/>
        </p:nvPicPr>
        <p:blipFill>
          <a:blip r:embed="rId4"/>
          <a:stretch>
            <a:fillRect/>
          </a:stretch>
        </p:blipFill>
        <p:spPr>
          <a:xfrm>
            <a:off x="-3132" y="0"/>
            <a:ext cx="12195131" cy="735246"/>
          </a:xfrm>
          <a:prstGeom prst="rect">
            <a:avLst/>
          </a:prstGeom>
        </p:spPr>
      </p:pic>
      <p:sp>
        <p:nvSpPr>
          <p:cNvPr id="12" name="TextBox 11">
            <a:extLst>
              <a:ext uri="{FF2B5EF4-FFF2-40B4-BE49-F238E27FC236}">
                <a16:creationId xmlns:a16="http://schemas.microsoft.com/office/drawing/2014/main" id="{35DACB3B-C6A2-87D3-CBF6-5F3423C0065D}"/>
              </a:ext>
            </a:extLst>
          </p:cNvPr>
          <p:cNvSpPr txBox="1"/>
          <p:nvPr/>
        </p:nvSpPr>
        <p:spPr>
          <a:xfrm>
            <a:off x="389933" y="6334780"/>
            <a:ext cx="1080745" cy="523220"/>
          </a:xfrm>
          <a:prstGeom prst="rect">
            <a:avLst/>
          </a:prstGeom>
          <a:noFill/>
        </p:spPr>
        <p:txBody>
          <a:bodyPr wrap="none" rtlCol="0">
            <a:spAutoFit/>
          </a:bodyPr>
          <a:lstStyle/>
          <a:p>
            <a:r>
              <a:rPr lang="en-US" sz="1000" dirty="0" err="1">
                <a:solidFill>
                  <a:srgbClr val="6E6E6E"/>
                </a:solidFill>
                <a:latin typeface="Calibri" pitchFamily="34" charset="0"/>
                <a:ea typeface="Calibri" pitchFamily="34" charset="-122"/>
                <a:cs typeface="Calibri" pitchFamily="34" charset="-120"/>
              </a:rPr>
              <a:t>SolarWise</a:t>
            </a:r>
            <a:r>
              <a:rPr lang="en-US" sz="1000" dirty="0">
                <a:solidFill>
                  <a:srgbClr val="6E6E6E"/>
                </a:solidFill>
                <a:latin typeface="Calibri" pitchFamily="34" charset="0"/>
                <a:ea typeface="Calibri" pitchFamily="34" charset="-122"/>
                <a:cs typeface="Calibri" pitchFamily="34" charset="-120"/>
              </a:rPr>
              <a:t> Jordan</a:t>
            </a:r>
            <a:endParaRPr lang="en-US" sz="1000" dirty="0"/>
          </a:p>
          <a:p>
            <a:endParaRPr lang="en-JO" dirty="0"/>
          </a:p>
        </p:txBody>
      </p:sp>
    </p:spTree>
    <p:extLst>
      <p:ext uri="{BB962C8B-B14F-4D97-AF65-F5344CB8AC3E}">
        <p14:creationId xmlns:p14="http://schemas.microsoft.com/office/powerpoint/2010/main" val="1946323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CA8F24"/>
          </a:solidFill>
          <a:ln/>
        </p:spPr>
        <p:txBody>
          <a:bodyPr/>
          <a:lstStyle/>
          <a:p>
            <a:endParaRPr lang="en-JO"/>
          </a:p>
        </p:txBody>
      </p:sp>
      <p:sp>
        <p:nvSpPr>
          <p:cNvPr id="3" name="Text 1"/>
          <p:cNvSpPr/>
          <p:nvPr/>
        </p:nvSpPr>
        <p:spPr>
          <a:xfrm>
            <a:off x="502920" y="347472"/>
            <a:ext cx="8229600" cy="274320"/>
          </a:xfrm>
          <a:prstGeom prst="rect">
            <a:avLst/>
          </a:prstGeom>
          <a:noFill/>
          <a:ln/>
        </p:spPr>
        <p:txBody>
          <a:bodyPr wrap="square" rtlCol="0" anchor="ctr"/>
          <a:lstStyle/>
          <a:p>
            <a:pPr marL="0" indent="0">
              <a:buNone/>
            </a:pPr>
            <a:r>
              <a:rPr lang="en-US" sz="1200" b="1" kern="0" spc="150" dirty="0">
                <a:solidFill>
                  <a:srgbClr val="CA8F24"/>
                </a:solidFill>
                <a:latin typeface="Calibri" pitchFamily="34" charset="0"/>
                <a:ea typeface="Calibri" pitchFamily="34" charset="-122"/>
                <a:cs typeface="Calibri" pitchFamily="34" charset="-120"/>
              </a:rPr>
              <a:t>9 · CONCLUSION</a:t>
            </a:r>
            <a:endParaRPr lang="en-US" sz="1200" dirty="0"/>
          </a:p>
        </p:txBody>
      </p:sp>
      <p:sp>
        <p:nvSpPr>
          <p:cNvPr id="4" name="Text 2"/>
          <p:cNvSpPr/>
          <p:nvPr/>
        </p:nvSpPr>
        <p:spPr>
          <a:xfrm>
            <a:off x="502920" y="621792"/>
            <a:ext cx="11155680" cy="658368"/>
          </a:xfrm>
          <a:prstGeom prst="rect">
            <a:avLst/>
          </a:prstGeom>
          <a:noFill/>
          <a:ln/>
        </p:spPr>
        <p:txBody>
          <a:bodyPr wrap="square" rtlCol="0" anchor="ctr"/>
          <a:lstStyle/>
          <a:p>
            <a:pPr marL="0" indent="0">
              <a:buNone/>
            </a:pPr>
            <a:r>
              <a:rPr lang="en-US" sz="2800" b="1" dirty="0">
                <a:solidFill>
                  <a:srgbClr val="143148"/>
                </a:solidFill>
                <a:latin typeface="Cambria" pitchFamily="34" charset="0"/>
                <a:ea typeface="Cambria" pitchFamily="34" charset="-122"/>
                <a:cs typeface="Cambria" pitchFamily="34" charset="-120"/>
              </a:rPr>
              <a:t>Conclusion</a:t>
            </a:r>
            <a:endParaRPr lang="en-US" sz="2800" dirty="0"/>
          </a:p>
        </p:txBody>
      </p:sp>
      <p:sp>
        <p:nvSpPr>
          <p:cNvPr id="5" name="Text 3"/>
          <p:cNvSpPr/>
          <p:nvPr/>
        </p:nvSpPr>
        <p:spPr>
          <a:xfrm>
            <a:off x="502920" y="6473952"/>
            <a:ext cx="3200400" cy="274320"/>
          </a:xfrm>
          <a:prstGeom prst="rect">
            <a:avLst/>
          </a:prstGeom>
          <a:noFill/>
          <a:ln/>
        </p:spPr>
        <p:txBody>
          <a:bodyPr wrap="square" rtlCol="0" anchor="ctr"/>
          <a:lstStyle/>
          <a:p>
            <a:pPr marL="0" indent="0">
              <a:buNone/>
            </a:pPr>
            <a:r>
              <a:rPr lang="en-US" sz="1000" dirty="0">
                <a:solidFill>
                  <a:srgbClr val="6E6E6E"/>
                </a:solidFill>
                <a:latin typeface="Calibri" pitchFamily="34" charset="0"/>
                <a:ea typeface="Calibri" pitchFamily="34" charset="-122"/>
                <a:cs typeface="Calibri" pitchFamily="34" charset="-120"/>
              </a:rPr>
              <a:t>SolarWise Jordan</a:t>
            </a:r>
            <a:endParaRPr lang="en-US" sz="1000" dirty="0"/>
          </a:p>
        </p:txBody>
      </p:sp>
      <p:sp>
        <p:nvSpPr>
          <p:cNvPr id="6" name="Text 4"/>
          <p:cNvSpPr/>
          <p:nvPr/>
        </p:nvSpPr>
        <p:spPr>
          <a:xfrm>
            <a:off x="11231575" y="6473952"/>
            <a:ext cx="457200" cy="274320"/>
          </a:xfrm>
          <a:prstGeom prst="rect">
            <a:avLst/>
          </a:prstGeom>
          <a:noFill/>
          <a:ln/>
        </p:spPr>
        <p:txBody>
          <a:bodyPr wrap="square"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25</a:t>
            </a:r>
            <a:endParaRPr lang="en-US" sz="1000" dirty="0"/>
          </a:p>
        </p:txBody>
      </p:sp>
      <p:sp>
        <p:nvSpPr>
          <p:cNvPr id="7" name="Text 5"/>
          <p:cNvSpPr/>
          <p:nvPr/>
        </p:nvSpPr>
        <p:spPr>
          <a:xfrm>
            <a:off x="502920" y="1298448"/>
            <a:ext cx="10515600" cy="365760"/>
          </a:xfrm>
          <a:prstGeom prst="rect">
            <a:avLst/>
          </a:prstGeom>
          <a:noFill/>
          <a:ln/>
        </p:spPr>
        <p:txBody>
          <a:bodyPr wrap="square" rtlCol="0" anchor="ctr"/>
          <a:lstStyle/>
          <a:p>
            <a:pPr marL="0" indent="0">
              <a:buNone/>
            </a:pPr>
            <a:r>
              <a:rPr lang="en-US" sz="1300" i="1" dirty="0">
                <a:solidFill>
                  <a:srgbClr val="6E6E6E"/>
                </a:solidFill>
                <a:latin typeface="Calibri" pitchFamily="34" charset="0"/>
                <a:ea typeface="Calibri" pitchFamily="34" charset="-122"/>
                <a:cs typeface="Calibri" pitchFamily="34" charset="-120"/>
              </a:rPr>
              <a:t>What we built, what it cannot do yet, and where it goes next.</a:t>
            </a:r>
            <a:endParaRPr lang="en-US" sz="1300" dirty="0"/>
          </a:p>
        </p:txBody>
      </p:sp>
      <p:sp>
        <p:nvSpPr>
          <p:cNvPr id="8" name="Shape 6"/>
          <p:cNvSpPr/>
          <p:nvPr/>
        </p:nvSpPr>
        <p:spPr>
          <a:xfrm>
            <a:off x="502920" y="1783080"/>
            <a:ext cx="3514344" cy="3429000"/>
          </a:xfrm>
          <a:prstGeom prst="roundRect">
            <a:avLst>
              <a:gd name="adj" fmla="val 2133"/>
            </a:avLst>
          </a:prstGeom>
          <a:solidFill>
            <a:srgbClr val="F5F5F5"/>
          </a:solidFill>
          <a:ln/>
        </p:spPr>
        <p:txBody>
          <a:bodyPr/>
          <a:lstStyle/>
          <a:p>
            <a:endParaRPr lang="en-JO"/>
          </a:p>
        </p:txBody>
      </p:sp>
      <p:sp>
        <p:nvSpPr>
          <p:cNvPr id="9" name="Shape 7"/>
          <p:cNvSpPr/>
          <p:nvPr/>
        </p:nvSpPr>
        <p:spPr>
          <a:xfrm>
            <a:off x="502920" y="1783080"/>
            <a:ext cx="3514344" cy="502920"/>
          </a:xfrm>
          <a:prstGeom prst="roundRect">
            <a:avLst>
              <a:gd name="adj" fmla="val 10909"/>
            </a:avLst>
          </a:prstGeom>
          <a:solidFill>
            <a:srgbClr val="2E7D32"/>
          </a:solidFill>
          <a:ln/>
        </p:spPr>
        <p:txBody>
          <a:bodyPr/>
          <a:lstStyle/>
          <a:p>
            <a:endParaRPr lang="en-JO"/>
          </a:p>
        </p:txBody>
      </p:sp>
      <p:sp>
        <p:nvSpPr>
          <p:cNvPr id="10" name="Text 8"/>
          <p:cNvSpPr/>
          <p:nvPr/>
        </p:nvSpPr>
        <p:spPr>
          <a:xfrm>
            <a:off x="502920" y="1783080"/>
            <a:ext cx="3514344"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WHAT WE DID</a:t>
            </a:r>
            <a:endParaRPr lang="en-US" sz="1300" dirty="0"/>
          </a:p>
        </p:txBody>
      </p:sp>
      <p:sp>
        <p:nvSpPr>
          <p:cNvPr id="11" name="Text 9"/>
          <p:cNvSpPr/>
          <p:nvPr/>
        </p:nvSpPr>
        <p:spPr>
          <a:xfrm>
            <a:off x="758952" y="2468880"/>
            <a:ext cx="3011424" cy="2743200"/>
          </a:xfrm>
          <a:prstGeom prst="rect">
            <a:avLst/>
          </a:prstGeom>
          <a:noFill/>
          <a:ln/>
        </p:spPr>
        <p:txBody>
          <a:bodyPr wrap="square" rtlCol="0" anchor="t"/>
          <a:lstStyle/>
          <a:p>
            <a:pPr marL="228600" indent="-228600">
              <a:lnSpc>
                <a:spcPts val="1495"/>
              </a:lnSpc>
              <a:spcAft>
                <a:spcPts val="1200"/>
              </a:spcAft>
              <a:buSzPct val="100000"/>
              <a:buChar char="●"/>
            </a:pPr>
            <a:r>
              <a:rPr lang="en-US" sz="1150" dirty="0">
                <a:solidFill>
                  <a:srgbClr val="414141"/>
                </a:solidFill>
                <a:latin typeface="Calibri" pitchFamily="34" charset="0"/>
                <a:ea typeface="Calibri" pitchFamily="34" charset="-122"/>
                <a:cs typeface="Calibri" pitchFamily="34" charset="-120"/>
              </a:rPr>
              <a:t>131 locations and 6 years of data</a:t>
            </a:r>
            <a:endParaRPr lang="en-US" sz="1150" dirty="0"/>
          </a:p>
          <a:p>
            <a:pPr marL="228600" indent="-228600">
              <a:lnSpc>
                <a:spcPts val="1495"/>
              </a:lnSpc>
              <a:spcAft>
                <a:spcPts val="1200"/>
              </a:spcAft>
              <a:buSzPct val="100000"/>
              <a:buChar char="●"/>
            </a:pPr>
            <a:r>
              <a:rPr lang="en-US" sz="1150" dirty="0">
                <a:solidFill>
                  <a:srgbClr val="414141"/>
                </a:solidFill>
                <a:latin typeface="Calibri" pitchFamily="34" charset="0"/>
                <a:ea typeface="Calibri" pitchFamily="34" charset="-122"/>
                <a:cs typeface="Calibri" pitchFamily="34" charset="-120"/>
              </a:rPr>
              <a:t>R² 0.9829 on an untouched test year</a:t>
            </a:r>
            <a:endParaRPr lang="en-US" sz="1150" dirty="0"/>
          </a:p>
          <a:p>
            <a:pPr marL="228600" indent="-228600">
              <a:lnSpc>
                <a:spcPts val="1495"/>
              </a:lnSpc>
              <a:spcAft>
                <a:spcPts val="1200"/>
              </a:spcAft>
              <a:buSzPct val="100000"/>
              <a:buChar char="●"/>
            </a:pPr>
            <a:r>
              <a:rPr lang="en-US" sz="1150" dirty="0">
                <a:solidFill>
                  <a:srgbClr val="414141"/>
                </a:solidFill>
                <a:latin typeface="Calibri" pitchFamily="34" charset="0"/>
                <a:ea typeface="Calibri" pitchFamily="34" charset="-122"/>
                <a:cs typeface="Calibri" pitchFamily="34" charset="-120"/>
              </a:rPr>
              <a:t>Tested on locations it never saw</a:t>
            </a:r>
            <a:endParaRPr lang="en-US" sz="1150" dirty="0"/>
          </a:p>
          <a:p>
            <a:pPr marL="228600" indent="-228600">
              <a:lnSpc>
                <a:spcPts val="1495"/>
              </a:lnSpc>
              <a:spcAft>
                <a:spcPts val="1200"/>
              </a:spcAft>
              <a:buSzPct val="100000"/>
              <a:buChar char="●"/>
            </a:pPr>
            <a:r>
              <a:rPr lang="en-US" sz="1150" dirty="0">
                <a:solidFill>
                  <a:srgbClr val="414141"/>
                </a:solidFill>
                <a:latin typeface="Calibri" pitchFamily="34" charset="0"/>
                <a:ea typeface="Calibri" pitchFamily="34" charset="-122"/>
                <a:cs typeface="Calibri" pitchFamily="34" charset="-120"/>
              </a:rPr>
              <a:t>A verdict in dinars, not a guess</a:t>
            </a:r>
            <a:endParaRPr lang="en-US" sz="1150" dirty="0"/>
          </a:p>
        </p:txBody>
      </p:sp>
      <p:sp>
        <p:nvSpPr>
          <p:cNvPr id="12" name="Shape 10"/>
          <p:cNvSpPr/>
          <p:nvPr/>
        </p:nvSpPr>
        <p:spPr>
          <a:xfrm>
            <a:off x="4337304" y="1783080"/>
            <a:ext cx="3514344" cy="3429000"/>
          </a:xfrm>
          <a:prstGeom prst="roundRect">
            <a:avLst>
              <a:gd name="adj" fmla="val 2133"/>
            </a:avLst>
          </a:prstGeom>
          <a:solidFill>
            <a:srgbClr val="F5F5F5"/>
          </a:solidFill>
          <a:ln/>
        </p:spPr>
        <p:txBody>
          <a:bodyPr/>
          <a:lstStyle/>
          <a:p>
            <a:endParaRPr lang="en-JO"/>
          </a:p>
        </p:txBody>
      </p:sp>
      <p:sp>
        <p:nvSpPr>
          <p:cNvPr id="13" name="Shape 11"/>
          <p:cNvSpPr/>
          <p:nvPr/>
        </p:nvSpPr>
        <p:spPr>
          <a:xfrm>
            <a:off x="4337304" y="1783080"/>
            <a:ext cx="3514344" cy="502920"/>
          </a:xfrm>
          <a:prstGeom prst="roundRect">
            <a:avLst>
              <a:gd name="adj" fmla="val 10909"/>
            </a:avLst>
          </a:prstGeom>
          <a:solidFill>
            <a:srgbClr val="CA8F24"/>
          </a:solidFill>
          <a:ln/>
        </p:spPr>
        <p:txBody>
          <a:bodyPr/>
          <a:lstStyle/>
          <a:p>
            <a:endParaRPr lang="en-JO"/>
          </a:p>
        </p:txBody>
      </p:sp>
      <p:sp>
        <p:nvSpPr>
          <p:cNvPr id="14" name="Text 12"/>
          <p:cNvSpPr/>
          <p:nvPr/>
        </p:nvSpPr>
        <p:spPr>
          <a:xfrm>
            <a:off x="4337304" y="1783080"/>
            <a:ext cx="3514344"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LIMITATIONS</a:t>
            </a:r>
            <a:endParaRPr lang="en-US" sz="1300" dirty="0"/>
          </a:p>
        </p:txBody>
      </p:sp>
      <p:sp>
        <p:nvSpPr>
          <p:cNvPr id="15" name="Text 13"/>
          <p:cNvSpPr/>
          <p:nvPr/>
        </p:nvSpPr>
        <p:spPr>
          <a:xfrm>
            <a:off x="4593336" y="2468880"/>
            <a:ext cx="3011424" cy="2743200"/>
          </a:xfrm>
          <a:prstGeom prst="rect">
            <a:avLst/>
          </a:prstGeom>
          <a:noFill/>
          <a:ln/>
        </p:spPr>
        <p:txBody>
          <a:bodyPr wrap="square" rtlCol="0" anchor="t"/>
          <a:lstStyle/>
          <a:p>
            <a:pPr marL="228600" indent="-228600">
              <a:lnSpc>
                <a:spcPts val="1495"/>
              </a:lnSpc>
              <a:spcAft>
                <a:spcPts val="1200"/>
              </a:spcAft>
              <a:buSzPct val="100000"/>
              <a:buChar char="●"/>
            </a:pPr>
            <a:r>
              <a:rPr lang="en-US" sz="1150" dirty="0">
                <a:solidFill>
                  <a:srgbClr val="414141"/>
                </a:solidFill>
                <a:latin typeface="Calibri" pitchFamily="34" charset="0"/>
                <a:ea typeface="Calibri" pitchFamily="34" charset="-122"/>
                <a:cs typeface="Calibri" pitchFamily="34" charset="-120"/>
              </a:rPr>
              <a:t>Output is modelled, not measured from real panels</a:t>
            </a:r>
            <a:endParaRPr lang="en-US" sz="1150" dirty="0"/>
          </a:p>
          <a:p>
            <a:pPr marL="228600" indent="-228600">
              <a:lnSpc>
                <a:spcPts val="1495"/>
              </a:lnSpc>
              <a:spcAft>
                <a:spcPts val="1200"/>
              </a:spcAft>
              <a:buSzPct val="100000"/>
              <a:buChar char="●"/>
            </a:pPr>
            <a:r>
              <a:rPr lang="en-US" sz="1150" dirty="0">
                <a:solidFill>
                  <a:srgbClr val="414141"/>
                </a:solidFill>
                <a:latin typeface="Calibri" pitchFamily="34" charset="0"/>
                <a:ea typeface="Calibri" pitchFamily="34" charset="-122"/>
                <a:cs typeface="Calibri" pitchFamily="34" charset="-120"/>
              </a:rPr>
              <a:t>Nearby points can share similar weather data</a:t>
            </a:r>
            <a:endParaRPr lang="en-US" sz="1150" dirty="0"/>
          </a:p>
          <a:p>
            <a:pPr marL="228600" indent="-228600">
              <a:lnSpc>
                <a:spcPts val="1495"/>
              </a:lnSpc>
              <a:spcAft>
                <a:spcPts val="1200"/>
              </a:spcAft>
              <a:buSzPct val="100000"/>
              <a:buChar char="●"/>
            </a:pPr>
            <a:r>
              <a:rPr lang="en-US" sz="1150" dirty="0">
                <a:solidFill>
                  <a:srgbClr val="414141"/>
                </a:solidFill>
                <a:latin typeface="Calibri" pitchFamily="34" charset="0"/>
                <a:ea typeface="Calibri" pitchFamily="34" charset="-122"/>
                <a:cs typeface="Calibri" pitchFamily="34" charset="-120"/>
              </a:rPr>
              <a:t>Winter predictions are less certain</a:t>
            </a:r>
            <a:endParaRPr lang="en-US" sz="1150" dirty="0"/>
          </a:p>
          <a:p>
            <a:pPr marL="228600" indent="-228600">
              <a:lnSpc>
                <a:spcPts val="1495"/>
              </a:lnSpc>
              <a:spcAft>
                <a:spcPts val="1200"/>
              </a:spcAft>
              <a:buSzPct val="100000"/>
              <a:buChar char="●"/>
            </a:pPr>
            <a:r>
              <a:rPr lang="en-US" sz="1150" dirty="0">
                <a:solidFill>
                  <a:srgbClr val="414141"/>
                </a:solidFill>
                <a:latin typeface="Calibri" pitchFamily="34" charset="0"/>
                <a:ea typeface="Calibri" pitchFamily="34" charset="-122"/>
                <a:cs typeface="Calibri" pitchFamily="34" charset="-120"/>
              </a:rPr>
              <a:t>Selling surplus is not yet counted</a:t>
            </a:r>
            <a:endParaRPr lang="en-US" sz="1150" dirty="0"/>
          </a:p>
        </p:txBody>
      </p:sp>
      <p:sp>
        <p:nvSpPr>
          <p:cNvPr id="16" name="Shape 14"/>
          <p:cNvSpPr/>
          <p:nvPr/>
        </p:nvSpPr>
        <p:spPr>
          <a:xfrm>
            <a:off x="8171688" y="1783080"/>
            <a:ext cx="3514344" cy="3429000"/>
          </a:xfrm>
          <a:prstGeom prst="roundRect">
            <a:avLst>
              <a:gd name="adj" fmla="val 2133"/>
            </a:avLst>
          </a:prstGeom>
          <a:solidFill>
            <a:srgbClr val="F5F5F5"/>
          </a:solidFill>
          <a:ln/>
        </p:spPr>
        <p:txBody>
          <a:bodyPr/>
          <a:lstStyle/>
          <a:p>
            <a:endParaRPr lang="en-JO"/>
          </a:p>
        </p:txBody>
      </p:sp>
      <p:sp>
        <p:nvSpPr>
          <p:cNvPr id="17" name="Shape 15"/>
          <p:cNvSpPr/>
          <p:nvPr/>
        </p:nvSpPr>
        <p:spPr>
          <a:xfrm>
            <a:off x="8171688" y="1783080"/>
            <a:ext cx="3514344" cy="502920"/>
          </a:xfrm>
          <a:prstGeom prst="roundRect">
            <a:avLst>
              <a:gd name="adj" fmla="val 10909"/>
            </a:avLst>
          </a:prstGeom>
          <a:solidFill>
            <a:srgbClr val="143148"/>
          </a:solidFill>
          <a:ln/>
        </p:spPr>
        <p:txBody>
          <a:bodyPr/>
          <a:lstStyle/>
          <a:p>
            <a:endParaRPr lang="en-JO"/>
          </a:p>
        </p:txBody>
      </p:sp>
      <p:sp>
        <p:nvSpPr>
          <p:cNvPr id="18" name="Text 16"/>
          <p:cNvSpPr/>
          <p:nvPr/>
        </p:nvSpPr>
        <p:spPr>
          <a:xfrm>
            <a:off x="8171688" y="1783080"/>
            <a:ext cx="3514344"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NEXT STEPS</a:t>
            </a:r>
            <a:endParaRPr lang="en-US" sz="1300" dirty="0"/>
          </a:p>
        </p:txBody>
      </p:sp>
      <p:sp>
        <p:nvSpPr>
          <p:cNvPr id="19" name="Text 17"/>
          <p:cNvSpPr/>
          <p:nvPr/>
        </p:nvSpPr>
        <p:spPr>
          <a:xfrm>
            <a:off x="8427720" y="2468880"/>
            <a:ext cx="3011424" cy="2743200"/>
          </a:xfrm>
          <a:prstGeom prst="rect">
            <a:avLst/>
          </a:prstGeom>
          <a:noFill/>
          <a:ln/>
        </p:spPr>
        <p:txBody>
          <a:bodyPr wrap="square" rtlCol="0" anchor="t"/>
          <a:lstStyle/>
          <a:p>
            <a:pPr marL="228600" indent="-228600">
              <a:lnSpc>
                <a:spcPts val="1495"/>
              </a:lnSpc>
              <a:spcAft>
                <a:spcPts val="1200"/>
              </a:spcAft>
              <a:buSzPct val="100000"/>
              <a:buChar char="●"/>
            </a:pPr>
            <a:r>
              <a:rPr lang="en-US" sz="1150" dirty="0">
                <a:solidFill>
                  <a:srgbClr val="414141"/>
                </a:solidFill>
                <a:latin typeface="Calibri" pitchFamily="34" charset="0"/>
                <a:ea typeface="Calibri" pitchFamily="34" charset="-122"/>
                <a:cs typeface="Calibri" pitchFamily="34" charset="-120"/>
              </a:rPr>
              <a:t>Compare against real installed systems</a:t>
            </a:r>
            <a:endParaRPr lang="en-US" sz="1150" dirty="0"/>
          </a:p>
          <a:p>
            <a:pPr marL="228600" indent="-228600">
              <a:lnSpc>
                <a:spcPts val="1495"/>
              </a:lnSpc>
              <a:spcAft>
                <a:spcPts val="1200"/>
              </a:spcAft>
              <a:buSzPct val="100000"/>
              <a:buChar char="●"/>
            </a:pPr>
            <a:r>
              <a:rPr lang="en-US" sz="1150" dirty="0">
                <a:solidFill>
                  <a:srgbClr val="414141"/>
                </a:solidFill>
                <a:latin typeface="Calibri" pitchFamily="34" charset="0"/>
                <a:ea typeface="Calibri" pitchFamily="34" charset="-122"/>
                <a:cs typeface="Calibri" pitchFamily="34" charset="-120"/>
              </a:rPr>
              <a:t>Show a range instead of a single number</a:t>
            </a:r>
            <a:endParaRPr lang="en-US" sz="1150" dirty="0"/>
          </a:p>
          <a:p>
            <a:pPr marL="228600" indent="-228600">
              <a:lnSpc>
                <a:spcPts val="1495"/>
              </a:lnSpc>
              <a:spcAft>
                <a:spcPts val="1200"/>
              </a:spcAft>
              <a:buSzPct val="100000"/>
              <a:buChar char="●"/>
            </a:pPr>
            <a:r>
              <a:rPr lang="en-US" sz="1150" dirty="0">
                <a:solidFill>
                  <a:srgbClr val="414141"/>
                </a:solidFill>
                <a:latin typeface="Calibri" pitchFamily="34" charset="0"/>
                <a:ea typeface="Calibri" pitchFamily="34" charset="-122"/>
                <a:cs typeface="Calibri" pitchFamily="34" charset="-120"/>
              </a:rPr>
              <a:t>Include income from selling surplus</a:t>
            </a:r>
            <a:endParaRPr lang="en-US" sz="1150" dirty="0"/>
          </a:p>
          <a:p>
            <a:pPr marL="228600" indent="-228600">
              <a:lnSpc>
                <a:spcPts val="1495"/>
              </a:lnSpc>
              <a:spcAft>
                <a:spcPts val="1200"/>
              </a:spcAft>
              <a:buSzPct val="100000"/>
              <a:buChar char="●"/>
            </a:pPr>
            <a:r>
              <a:rPr lang="en-US" sz="1150" dirty="0">
                <a:solidFill>
                  <a:srgbClr val="414141"/>
                </a:solidFill>
                <a:latin typeface="Calibri" pitchFamily="34" charset="0"/>
                <a:ea typeface="Calibri" pitchFamily="34" charset="-122"/>
                <a:cs typeface="Calibri" pitchFamily="34" charset="-120"/>
              </a:rPr>
              <a:t>Test on more unseen locations</a:t>
            </a:r>
            <a:endParaRPr lang="en-US" sz="1150" dirty="0"/>
          </a:p>
        </p:txBody>
      </p:sp>
      <p:sp>
        <p:nvSpPr>
          <p:cNvPr id="20" name="Shape 18"/>
          <p:cNvSpPr/>
          <p:nvPr/>
        </p:nvSpPr>
        <p:spPr>
          <a:xfrm>
            <a:off x="502920" y="5394960"/>
            <a:ext cx="11183112" cy="868680"/>
          </a:xfrm>
          <a:prstGeom prst="roundRect">
            <a:avLst>
              <a:gd name="adj" fmla="val 6316"/>
            </a:avLst>
          </a:prstGeom>
          <a:solidFill>
            <a:srgbClr val="143148"/>
          </a:solidFill>
          <a:ln/>
        </p:spPr>
        <p:txBody>
          <a:bodyPr/>
          <a:lstStyle/>
          <a:p>
            <a:endParaRPr lang="en-JO"/>
          </a:p>
        </p:txBody>
      </p:sp>
      <p:sp>
        <p:nvSpPr>
          <p:cNvPr id="21" name="Text 19"/>
          <p:cNvSpPr/>
          <p:nvPr/>
        </p:nvSpPr>
        <p:spPr>
          <a:xfrm>
            <a:off x="777240" y="5394960"/>
            <a:ext cx="10607040" cy="86868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SolarWise turns weather and location data into a practical answer about solar potential in Jordan. Thank you —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452</TotalTime>
  <Words>2190</Words>
  <Application>Microsoft Macintosh PowerPoint</Application>
  <PresentationFormat>Widescreen</PresentationFormat>
  <Paragraphs>331</Paragraphs>
  <Slides>19</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شهد احمد صبري الفراج</cp:lastModifiedBy>
  <cp:revision>3</cp:revision>
  <dcterms:created xsi:type="dcterms:W3CDTF">2026-08-29T10:43:32Z</dcterms:created>
  <dcterms:modified xsi:type="dcterms:W3CDTF">2026-08-29T18:38:24Z</dcterms:modified>
</cp:coreProperties>
</file>