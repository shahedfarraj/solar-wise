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8" r:id="rId16"/>
    <p:sldId id="279" r:id="rId17"/>
    <p:sldId id="272" r:id="rId18"/>
    <p:sldId id="280" r:id="rId19"/>
    <p:sldId id="276"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p:scale>
          <a:sx n="121" d="100"/>
          <a:sy n="121" d="100"/>
        </p:scale>
        <p:origin x="22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Share of variation explained</c:v>
                </c:pt>
              </c:strCache>
            </c:strRef>
          </c:tx>
          <c:spPr>
            <a:solidFill>
              <a:srgbClr val="E09A16"/>
            </a:solidFill>
            <a:effectLst/>
          </c:spPr>
          <c:invertIfNegative val="0"/>
          <c:dLbls>
            <c:numFmt formatCode="0.0&quot;%&quot;" sourceLinked="0"/>
            <c:spPr>
              <a:noFill/>
              <a:ln>
                <a:noFill/>
              </a:ln>
              <a:effectLst/>
            </c:spPr>
            <c:txPr>
              <a:bodyPr/>
              <a:lstStyle/>
              <a:p>
                <a:pPr>
                  <a:defRPr sz="1200" b="0" i="0" u="none" strike="noStrike">
                    <a:solidFill>
                      <a:srgbClr val="1C1917"/>
                    </a:solidFill>
                    <a:latin typeface="Calibri"/>
                  </a:defRPr>
                </a:pPr>
                <a:endParaRPr lang="en-J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Which year</c:v>
                </c:pt>
                <c:pt idx="1">
                  <c:v>Location in Jordan</c:v>
                </c:pt>
                <c:pt idx="2">
                  <c:v>Month of the year</c:v>
                </c:pt>
              </c:strCache>
            </c:strRef>
          </c:cat>
          <c:val>
            <c:numRef>
              <c:f>Sheet1!$B$2:$B$4</c:f>
              <c:numCache>
                <c:formatCode>General</c:formatCode>
                <c:ptCount val="3"/>
                <c:pt idx="0">
                  <c:v>0.16</c:v>
                </c:pt>
                <c:pt idx="1">
                  <c:v>1.34</c:v>
                </c:pt>
                <c:pt idx="2">
                  <c:v>83.09</c:v>
                </c:pt>
              </c:numCache>
            </c:numRef>
          </c:val>
          <c:extLst>
            <c:ext xmlns:c16="http://schemas.microsoft.com/office/drawing/2014/chart" uri="{C3380CC4-5D6E-409C-BE32-E72D297353CC}">
              <c16:uniqueId val="{00000000-F1D3-4341-8A87-789AE6BD76FA}"/>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14C46"/>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12700" cap="flat">
              <a:solidFill>
                <a:srgbClr val="E7E3DC"/>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8C82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Average error (MAE)</c:v>
                </c:pt>
              </c:strCache>
            </c:strRef>
          </c:tx>
          <c:spPr>
            <a:solidFill>
              <a:srgbClr val="E09A16"/>
            </a:solidFill>
            <a:effectLst/>
          </c:spPr>
          <c:invertIfNegative val="0"/>
          <c:dLbls>
            <c:numFmt formatCode="0.000" sourceLinked="0"/>
            <c:spPr>
              <a:noFill/>
              <a:ln>
                <a:noFill/>
              </a:ln>
              <a:effectLst/>
            </c:spPr>
            <c:txPr>
              <a:bodyPr/>
              <a:lstStyle/>
              <a:p>
                <a:pPr>
                  <a:defRPr sz="800" b="0" i="0" u="none" strike="noStrike">
                    <a:solidFill>
                      <a:srgbClr val="514C46"/>
                    </a:solidFill>
                    <a:latin typeface="Calibri"/>
                  </a:defRPr>
                </a:pPr>
                <a:endParaRPr lang="en-J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0.13900000000000001</c:v>
                </c:pt>
                <c:pt idx="1">
                  <c:v>0.192</c:v>
                </c:pt>
                <c:pt idx="2">
                  <c:v>0.16300000000000001</c:v>
                </c:pt>
                <c:pt idx="3">
                  <c:v>0.16700000000000001</c:v>
                </c:pt>
                <c:pt idx="4">
                  <c:v>9.7000000000000003E-2</c:v>
                </c:pt>
                <c:pt idx="5">
                  <c:v>2.9000000000000001E-2</c:v>
                </c:pt>
                <c:pt idx="6">
                  <c:v>2.1999999999999999E-2</c:v>
                </c:pt>
                <c:pt idx="7">
                  <c:v>3.1E-2</c:v>
                </c:pt>
                <c:pt idx="8">
                  <c:v>3.5000000000000003E-2</c:v>
                </c:pt>
                <c:pt idx="9">
                  <c:v>5.1999999999999998E-2</c:v>
                </c:pt>
                <c:pt idx="10">
                  <c:v>0.11899999999999999</c:v>
                </c:pt>
                <c:pt idx="11">
                  <c:v>0.114</c:v>
                </c:pt>
              </c:numCache>
            </c:numRef>
          </c:val>
          <c:extLst>
            <c:ext xmlns:c16="http://schemas.microsoft.com/office/drawing/2014/chart" uri="{C3380CC4-5D6E-409C-BE32-E72D297353CC}">
              <c16:uniqueId val="{00000000-C23E-044A-8E7B-76603FCCAE08}"/>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14C46"/>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7E3D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8C82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625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one question the project answers: if I put solar panels on my roof in Jordan, will I actually save money? Say the deck is in four parts — the problem, the data and the model, the dashboard, and the verdict. 20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why the topic matters nationally, and why the individual decision is currently blind. Land on the bottom line — that is the sentence the whole project exists to answer. 50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once, do not dwell. Point out that objectives 2 and 3 come back later with hard numbers — that is the promise you are making to the examiners now. 35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whole project — everything after this slide is a zoom into one of these four boxes. The line at the bottom is worth saying out loud: the app and the dashboard are two front doors to one model. 45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reason is the second one: the model sees exactly the same variables when it predicts as it did when it learned. There is no variable available in training that a user cannot supply later. 45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is the one worth pausing on. pandas said there were no missing values, because minus nine nine nine looks like a perfectly valid number. Finding those was the difference between a clean model and a quietly broken one. 45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target clearly: kilowatt-hours per kilowatt-peak per day, so the answer does not depend on how big your system is. The sanity check matters because it is an external reference point — our number agrees with published figures for Jordan. 40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number — eighty-three percent — explains most of the design decisions that follow. It is why the app reports month by month rather than a single yearly figure. 45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examiner says "your correlation shows heat helps, but you said heat hurts" — the answer is: compare days that receive the same sunlight and the sign reverses. June versus July is the physical proof. 45 seconds.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number gives two different answers depending on who is asking. Note the small print: the deck quotes location-level extremes, the dashboard shows district averages, which is why the dashboard range looks narrower. 40 seconds.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metrics briefly — the examiners will ask why there is no accuracy or F1 score, and the answer is that this is regression, not classification. 45 seconds.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last line. Model selection happened on 2024; 2025 was untouched until the very end. If you tune on your test set, the test score means nothing. 45 seconds.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regression metrics, which is why there is no accuracy or F1 here. The two nearly-identical scores on the right of the green box are the real evidence against overfitting. 50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where the model is weak is stronger than claiming it is perfect everywhere. It also sets up the limitation on the conclusion slide about showing a range rather than a single number. 35 seconds.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household side of the project. Say the design rule out loud: the app never asks for anything a homeowner does not already know — an address, a bill, and a system size. Everything technical happens behind it. 45 seconds.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households, one model, three answers. Stress the last line: the verdict is driven by consumption and system size, not by which governorate the roof is in — that is Finding 3 again. Note that the app is willing to say “not enough”; that is what makes the other two verdicts trustworthy. 45 seconds.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one filter live if you can — click a district on the map and show the ranking respond. That is the difference between a report and a static image. 45 seconds.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last line, pause, then invite questions. Do not rush past the limitations column — naming them yourself is what makes the rest credible. 45 seconds.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75320" y="1417320"/>
            <a:ext cx="4023360" cy="4023360"/>
          </a:xfrm>
          <a:prstGeom prst="ellipse">
            <a:avLst/>
          </a:prstGeom>
          <a:solidFill>
            <a:srgbClr val="FDF6EA"/>
          </a:solidFill>
          <a:ln w="12700">
            <a:solidFill>
              <a:srgbClr val="FDF6EA"/>
            </a:solidFill>
            <a:prstDash val="solid"/>
          </a:ln>
        </p:spPr>
        <p:txBody>
          <a:bodyPr/>
          <a:lstStyle/>
          <a:p>
            <a:endParaRPr lang="en-JO"/>
          </a:p>
        </p:txBody>
      </p:sp>
      <p:sp>
        <p:nvSpPr>
          <p:cNvPr id="3" name="Shape 1"/>
          <p:cNvSpPr/>
          <p:nvPr/>
        </p:nvSpPr>
        <p:spPr>
          <a:xfrm>
            <a:off x="8915400" y="2057400"/>
            <a:ext cx="2743200" cy="2743200"/>
          </a:xfrm>
          <a:prstGeom prst="ellipse">
            <a:avLst/>
          </a:prstGeom>
          <a:solidFill>
            <a:srgbClr val="FAE7C6"/>
          </a:solidFill>
          <a:ln w="12700">
            <a:solidFill>
              <a:srgbClr val="FAE7C6"/>
            </a:solidFill>
            <a:prstDash val="solid"/>
          </a:ln>
        </p:spPr>
        <p:txBody>
          <a:bodyPr/>
          <a:lstStyle/>
          <a:p>
            <a:endParaRPr lang="en-JO"/>
          </a:p>
        </p:txBody>
      </p:sp>
      <p:sp>
        <p:nvSpPr>
          <p:cNvPr id="4" name="Shape 2"/>
          <p:cNvSpPr/>
          <p:nvPr/>
        </p:nvSpPr>
        <p:spPr>
          <a:xfrm>
            <a:off x="9509760" y="2651760"/>
            <a:ext cx="1554480" cy="1554480"/>
          </a:xfrm>
          <a:prstGeom prst="ellipse">
            <a:avLst/>
          </a:prstGeom>
          <a:solidFill>
            <a:srgbClr val="E09A16"/>
          </a:solidFill>
          <a:ln w="12700">
            <a:solidFill>
              <a:srgbClr val="E09A16"/>
            </a:solidFill>
            <a:prstDash val="solid"/>
          </a:ln>
        </p:spPr>
        <p:txBody>
          <a:bodyPr/>
          <a:lstStyle/>
          <a:p>
            <a:endParaRPr lang="en-JO"/>
          </a:p>
        </p:txBody>
      </p:sp>
      <p:sp>
        <p:nvSpPr>
          <p:cNvPr id="5" name="Text 3"/>
          <p:cNvSpPr/>
          <p:nvPr/>
        </p:nvSpPr>
        <p:spPr>
          <a:xfrm>
            <a:off x="566928" y="1481328"/>
            <a:ext cx="7315200" cy="274320"/>
          </a:xfrm>
          <a:prstGeom prst="rect">
            <a:avLst/>
          </a:prstGeom>
          <a:noFill/>
          <a:ln/>
        </p:spPr>
        <p:txBody>
          <a:bodyPr wrap="square" lIns="0" tIns="0" rIns="0" bIns="0" rtlCol="0" anchor="ctr"/>
          <a:lstStyle/>
          <a:p>
            <a:pPr marL="0" indent="0">
              <a:buNone/>
            </a:pPr>
            <a:r>
              <a:rPr lang="en-US" sz="1150" b="1" kern="0" spc="220" dirty="0">
                <a:solidFill>
                  <a:srgbClr val="A06B08"/>
                </a:solidFill>
                <a:latin typeface="Calibri" pitchFamily="34" charset="0"/>
                <a:ea typeface="Calibri" pitchFamily="34" charset="-122"/>
                <a:cs typeface="Calibri" pitchFamily="34" charset="-120"/>
              </a:rPr>
              <a:t>GRADUATION PROJECT  ·  COURSE 307498</a:t>
            </a:r>
            <a:endParaRPr lang="en-US" sz="1150" dirty="0"/>
          </a:p>
        </p:txBody>
      </p:sp>
      <p:sp>
        <p:nvSpPr>
          <p:cNvPr id="6" name="Text 4"/>
          <p:cNvSpPr/>
          <p:nvPr/>
        </p:nvSpPr>
        <p:spPr>
          <a:xfrm>
            <a:off x="566928" y="1847088"/>
            <a:ext cx="7498080" cy="868680"/>
          </a:xfrm>
          <a:prstGeom prst="rect">
            <a:avLst/>
          </a:prstGeom>
          <a:noFill/>
          <a:ln/>
        </p:spPr>
        <p:txBody>
          <a:bodyPr wrap="square" lIns="0" tIns="0" rIns="0" bIns="0" rtlCol="0" anchor="ctr"/>
          <a:lstStyle/>
          <a:p>
            <a:pPr marL="0" indent="0">
              <a:buNone/>
            </a:pPr>
            <a:r>
              <a:rPr lang="en-US" sz="4800" b="1" dirty="0">
                <a:solidFill>
                  <a:srgbClr val="1C1917"/>
                </a:solidFill>
                <a:latin typeface="Cambria" pitchFamily="34" charset="0"/>
                <a:ea typeface="Cambria" pitchFamily="34" charset="-122"/>
                <a:cs typeface="Cambria" pitchFamily="34" charset="-120"/>
              </a:rPr>
              <a:t>SolarWise Jordan</a:t>
            </a:r>
            <a:endParaRPr lang="en-US" sz="4800" dirty="0"/>
          </a:p>
        </p:txBody>
      </p:sp>
      <p:sp>
        <p:nvSpPr>
          <p:cNvPr id="7" name="Text 5"/>
          <p:cNvSpPr/>
          <p:nvPr/>
        </p:nvSpPr>
        <p:spPr>
          <a:xfrm>
            <a:off x="566928" y="2724912"/>
            <a:ext cx="7498080" cy="457200"/>
          </a:xfrm>
          <a:prstGeom prst="rect">
            <a:avLst/>
          </a:prstGeom>
          <a:noFill/>
          <a:ln/>
        </p:spPr>
        <p:txBody>
          <a:bodyPr wrap="square" lIns="0" tIns="0" rIns="0" bIns="0" rtlCol="0" anchor="ctr"/>
          <a:lstStyle/>
          <a:p>
            <a:pPr marL="0" indent="0">
              <a:buNone/>
            </a:pPr>
            <a:r>
              <a:rPr lang="en-US" sz="2300" i="1" dirty="0">
                <a:solidFill>
                  <a:srgbClr val="A06B08"/>
                </a:solidFill>
                <a:latin typeface="Cambria" pitchFamily="34" charset="0"/>
                <a:ea typeface="Cambria" pitchFamily="34" charset="-122"/>
                <a:cs typeface="Cambria" pitchFamily="34" charset="-120"/>
              </a:rPr>
              <a:t>Is Solar Wise For Me?</a:t>
            </a:r>
            <a:endParaRPr lang="en-US" sz="2300" dirty="0"/>
          </a:p>
        </p:txBody>
      </p:sp>
      <p:sp>
        <p:nvSpPr>
          <p:cNvPr id="8" name="Text 6"/>
          <p:cNvSpPr/>
          <p:nvPr/>
        </p:nvSpPr>
        <p:spPr>
          <a:xfrm>
            <a:off x="566928" y="3310128"/>
            <a:ext cx="6858000" cy="731520"/>
          </a:xfrm>
          <a:prstGeom prst="rect">
            <a:avLst/>
          </a:prstGeom>
          <a:noFill/>
          <a:ln/>
        </p:spPr>
        <p:txBody>
          <a:bodyPr wrap="square" lIns="0" tIns="0" rIns="0" bIns="0" rtlCol="0" anchor="ctr"/>
          <a:lstStyle/>
          <a:p>
            <a:pPr marL="0" indent="0">
              <a:lnSpc>
                <a:spcPts val="2200"/>
              </a:lnSpc>
              <a:buNone/>
            </a:pPr>
            <a:r>
              <a:rPr lang="en-US" sz="1400" dirty="0">
                <a:solidFill>
                  <a:srgbClr val="514C46"/>
                </a:solidFill>
                <a:latin typeface="Calibri" pitchFamily="34" charset="0"/>
                <a:ea typeface="Calibri" pitchFamily="34" charset="-122"/>
                <a:cs typeface="Calibri" pitchFamily="34" charset="-120"/>
              </a:rPr>
              <a:t>Predicting rooftop solar generation anywhere in Jordan from weather alone — and turning it into an answer in dinars.</a:t>
            </a:r>
            <a:endParaRPr lang="en-US" sz="1400" dirty="0"/>
          </a:p>
        </p:txBody>
      </p:sp>
      <p:sp>
        <p:nvSpPr>
          <p:cNvPr id="9" name="Shape 7"/>
          <p:cNvSpPr/>
          <p:nvPr/>
        </p:nvSpPr>
        <p:spPr>
          <a:xfrm>
            <a:off x="566928" y="4261104"/>
            <a:ext cx="2194560" cy="0"/>
          </a:xfrm>
          <a:prstGeom prst="line">
            <a:avLst/>
          </a:prstGeom>
          <a:noFill/>
          <a:ln w="15875">
            <a:solidFill>
              <a:srgbClr val="E7E3DC"/>
            </a:solidFill>
            <a:prstDash val="solid"/>
          </a:ln>
        </p:spPr>
        <p:txBody>
          <a:bodyPr/>
          <a:lstStyle/>
          <a:p>
            <a:endParaRPr lang="en-JO"/>
          </a:p>
        </p:txBody>
      </p:sp>
      <p:sp>
        <p:nvSpPr>
          <p:cNvPr id="10" name="Text 8"/>
          <p:cNvSpPr/>
          <p:nvPr/>
        </p:nvSpPr>
        <p:spPr>
          <a:xfrm>
            <a:off x="566928" y="4407408"/>
            <a:ext cx="5486400" cy="310896"/>
          </a:xfrm>
          <a:prstGeom prst="rect">
            <a:avLst/>
          </a:prstGeom>
          <a:noFill/>
          <a:ln/>
        </p:spPr>
        <p:txBody>
          <a:bodyPr wrap="square" lIns="0" tIns="0" rIns="0" bIns="0" rtlCol="0" anchor="ctr"/>
          <a:lstStyle/>
          <a:p>
            <a:pPr marL="0" indent="0">
              <a:buNone/>
            </a:pPr>
            <a:r>
              <a:rPr lang="en-US" sz="1500" b="1" dirty="0">
                <a:solidFill>
                  <a:srgbClr val="1C1917"/>
                </a:solidFill>
                <a:latin typeface="Calibri" pitchFamily="34" charset="0"/>
                <a:ea typeface="Calibri" pitchFamily="34" charset="-122"/>
                <a:cs typeface="Calibri" pitchFamily="34" charset="-120"/>
              </a:rPr>
              <a:t>Shahed Farraj</a:t>
            </a:r>
            <a:endParaRPr lang="en-US" sz="1500" dirty="0"/>
          </a:p>
        </p:txBody>
      </p:sp>
      <p:sp>
        <p:nvSpPr>
          <p:cNvPr id="11" name="Text 9"/>
          <p:cNvSpPr/>
          <p:nvPr/>
        </p:nvSpPr>
        <p:spPr>
          <a:xfrm>
            <a:off x="566928" y="4736592"/>
            <a:ext cx="5486400" cy="274320"/>
          </a:xfrm>
          <a:prstGeom prst="rect">
            <a:avLst/>
          </a:prstGeom>
          <a:noFill/>
          <a:ln/>
        </p:spPr>
        <p:txBody>
          <a:bodyPr wrap="square" lIns="0" tIns="0" rIns="0" bIns="0" rtlCol="0" anchor="ctr"/>
          <a:lstStyle/>
          <a:p>
            <a:pPr marL="0" indent="0">
              <a:buNone/>
            </a:pPr>
            <a:r>
              <a:rPr lang="en-US" sz="1200" dirty="0">
                <a:solidFill>
                  <a:srgbClr val="8C8279"/>
                </a:solidFill>
                <a:latin typeface="Calibri" pitchFamily="34" charset="0"/>
                <a:ea typeface="Calibri" pitchFamily="34" charset="-122"/>
                <a:cs typeface="Calibri" pitchFamily="34" charset="-120"/>
              </a:rPr>
              <a:t>  Graduation Project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01 · INTRODUCTION</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Why Solar, and What the Problem Is</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A national opportunity, and a decision people currently make blind.</a:t>
            </a:r>
            <a:endParaRPr lang="en-US" sz="1350" dirty="0"/>
          </a:p>
        </p:txBody>
      </p:sp>
      <p:sp>
        <p:nvSpPr>
          <p:cNvPr id="5" name="Shape 3"/>
          <p:cNvSpPr/>
          <p:nvPr/>
        </p:nvSpPr>
        <p:spPr>
          <a:xfrm>
            <a:off x="566928" y="1664208"/>
            <a:ext cx="5358384" cy="2542032"/>
          </a:xfrm>
          <a:prstGeom prst="roundRect">
            <a:avLst>
              <a:gd name="adj" fmla="val 3237"/>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6" name="Text 4"/>
          <p:cNvSpPr/>
          <p:nvPr/>
        </p:nvSpPr>
        <p:spPr>
          <a:xfrm>
            <a:off x="841248" y="1847088"/>
            <a:ext cx="4846320" cy="310896"/>
          </a:xfrm>
          <a:prstGeom prst="rect">
            <a:avLst/>
          </a:prstGeom>
          <a:noFill/>
          <a:ln/>
        </p:spPr>
        <p:txBody>
          <a:bodyPr wrap="square" lIns="0" tIns="0" rIns="0" bIns="0" rtlCol="0" anchor="ctr"/>
          <a:lstStyle/>
          <a:p>
            <a:pPr marL="0" indent="0">
              <a:buNone/>
            </a:pPr>
            <a:r>
              <a:rPr lang="en-US" sz="1700" b="1" dirty="0">
                <a:solidFill>
                  <a:srgbClr val="A06B08"/>
                </a:solidFill>
                <a:latin typeface="Cambria" pitchFamily="34" charset="0"/>
                <a:ea typeface="Cambria" pitchFamily="34" charset="-122"/>
                <a:cs typeface="Cambria" pitchFamily="34" charset="-120"/>
              </a:rPr>
              <a:t>Why solar in Jordan</a:t>
            </a:r>
            <a:endParaRPr lang="en-US" sz="1700" dirty="0"/>
          </a:p>
        </p:txBody>
      </p:sp>
      <p:sp>
        <p:nvSpPr>
          <p:cNvPr id="7" name="Text 5"/>
          <p:cNvSpPr/>
          <p:nvPr/>
        </p:nvSpPr>
        <p:spPr>
          <a:xfrm>
            <a:off x="841248" y="2267712"/>
            <a:ext cx="4828032"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300" dirty="0">
                <a:solidFill>
                  <a:srgbClr val="514C46"/>
                </a:solidFill>
                <a:latin typeface="Calibri" pitchFamily="34" charset="0"/>
                <a:ea typeface="Calibri" pitchFamily="34" charset="-122"/>
                <a:cs typeface="Calibri" pitchFamily="34" charset="-120"/>
              </a:rPr>
              <a:t>Jordan imports the large majority of its energy.</a:t>
            </a:r>
            <a:endParaRPr lang="en-US" sz="1300" dirty="0"/>
          </a:p>
          <a:p>
            <a:pPr marL="342900" indent="-342900">
              <a:lnSpc>
                <a:spcPts val="1700"/>
              </a:lnSpc>
              <a:spcAft>
                <a:spcPts val="700"/>
              </a:spcAft>
              <a:buSzPct val="100000"/>
              <a:buChar char="•"/>
            </a:pPr>
            <a:r>
              <a:rPr lang="en-US" sz="1300" dirty="0">
                <a:solidFill>
                  <a:srgbClr val="514C46"/>
                </a:solidFill>
                <a:latin typeface="Calibri" pitchFamily="34" charset="0"/>
                <a:ea typeface="Calibri" pitchFamily="34" charset="-122"/>
                <a:cs typeface="Calibri" pitchFamily="34" charset="-120"/>
              </a:rPr>
              <a:t>Sunlight is the one resource the country has in abundance.</a:t>
            </a:r>
            <a:endParaRPr lang="en-US" sz="1300" dirty="0"/>
          </a:p>
          <a:p>
            <a:pPr marL="342900" indent="-342900">
              <a:lnSpc>
                <a:spcPts val="1700"/>
              </a:lnSpc>
              <a:spcAft>
                <a:spcPts val="700"/>
              </a:spcAft>
              <a:buSzPct val="100000"/>
              <a:buChar char="•"/>
            </a:pPr>
            <a:r>
              <a:rPr lang="en-US" sz="1300" dirty="0">
                <a:solidFill>
                  <a:srgbClr val="514C46"/>
                </a:solidFill>
                <a:latin typeface="Calibri" pitchFamily="34" charset="0"/>
                <a:ea typeface="Calibri" pitchFamily="34" charset="-122"/>
                <a:cs typeface="Calibri" pitchFamily="34" charset="-120"/>
              </a:rPr>
              <a:t>Rooftop solar is growing fast — and it is expensive to get wrong.</a:t>
            </a:r>
            <a:endParaRPr lang="en-US" sz="1300" dirty="0"/>
          </a:p>
        </p:txBody>
      </p:sp>
      <p:sp>
        <p:nvSpPr>
          <p:cNvPr id="8" name="Shape 6"/>
          <p:cNvSpPr/>
          <p:nvPr/>
        </p:nvSpPr>
        <p:spPr>
          <a:xfrm>
            <a:off x="6263640" y="1664208"/>
            <a:ext cx="5358384" cy="2542032"/>
          </a:xfrm>
          <a:prstGeom prst="roundRect">
            <a:avLst>
              <a:gd name="adj" fmla="val 323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9" name="Text 7"/>
          <p:cNvSpPr/>
          <p:nvPr/>
        </p:nvSpPr>
        <p:spPr>
          <a:xfrm>
            <a:off x="6537960" y="1847088"/>
            <a:ext cx="4846320" cy="310896"/>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The problem</a:t>
            </a:r>
            <a:endParaRPr lang="en-US" sz="1700" dirty="0"/>
          </a:p>
        </p:txBody>
      </p:sp>
      <p:sp>
        <p:nvSpPr>
          <p:cNvPr id="10" name="Text 8"/>
          <p:cNvSpPr/>
          <p:nvPr/>
        </p:nvSpPr>
        <p:spPr>
          <a:xfrm>
            <a:off x="6537960" y="2267712"/>
            <a:ext cx="4828032" cy="18288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300" dirty="0">
                <a:solidFill>
                  <a:srgbClr val="514C46"/>
                </a:solidFill>
                <a:latin typeface="Calibri" pitchFamily="34" charset="0"/>
                <a:ea typeface="Calibri" pitchFamily="34" charset="-122"/>
                <a:cs typeface="Calibri" pitchFamily="34" charset="-120"/>
              </a:rPr>
              <a:t>People decide using a national average — or the seller’s number.</a:t>
            </a:r>
            <a:endParaRPr lang="en-US" sz="1300" dirty="0"/>
          </a:p>
          <a:p>
            <a:pPr marL="342900" indent="-342900">
              <a:lnSpc>
                <a:spcPts val="1700"/>
              </a:lnSpc>
              <a:spcAft>
                <a:spcPts val="700"/>
              </a:spcAft>
              <a:buSzPct val="100000"/>
              <a:buChar char="•"/>
            </a:pPr>
            <a:r>
              <a:rPr lang="en-US" sz="1300" dirty="0">
                <a:solidFill>
                  <a:srgbClr val="514C46"/>
                </a:solidFill>
                <a:latin typeface="Calibri" pitchFamily="34" charset="0"/>
                <a:ea typeface="Calibri" pitchFamily="34" charset="-122"/>
                <a:cs typeface="Calibri" pitchFamily="34" charset="-120"/>
              </a:rPr>
              <a:t>Generation changes across the country and across the year.</a:t>
            </a:r>
            <a:endParaRPr lang="en-US" sz="1300" dirty="0"/>
          </a:p>
          <a:p>
            <a:pPr marL="342900" indent="-342900">
              <a:lnSpc>
                <a:spcPts val="1700"/>
              </a:lnSpc>
              <a:spcAft>
                <a:spcPts val="700"/>
              </a:spcAft>
              <a:buSzPct val="100000"/>
              <a:buChar char="•"/>
            </a:pPr>
            <a:r>
              <a:rPr lang="en-US" sz="1300" dirty="0">
                <a:solidFill>
                  <a:srgbClr val="514C46"/>
                </a:solidFill>
                <a:latin typeface="Calibri" pitchFamily="34" charset="0"/>
                <a:ea typeface="Calibri" pitchFamily="34" charset="-122"/>
                <a:cs typeface="Calibri" pitchFamily="34" charset="-120"/>
              </a:rPr>
              <a:t>Nobody can tell a household what THEIR roof will produce.</a:t>
            </a:r>
            <a:endParaRPr lang="en-US" sz="1300" dirty="0"/>
          </a:p>
        </p:txBody>
      </p:sp>
      <p:sp>
        <p:nvSpPr>
          <p:cNvPr id="11" name="Shape 9"/>
          <p:cNvSpPr/>
          <p:nvPr/>
        </p:nvSpPr>
        <p:spPr>
          <a:xfrm>
            <a:off x="566928" y="4553712"/>
            <a:ext cx="11055096" cy="1325880"/>
          </a:xfrm>
          <a:prstGeom prst="roundRect">
            <a:avLst>
              <a:gd name="adj" fmla="val 6207"/>
            </a:avLst>
          </a:prstGeom>
          <a:solidFill>
            <a:srgbClr val="FFFFFF"/>
          </a:solidFill>
          <a:ln w="12700">
            <a:solidFill>
              <a:srgbClr val="E7E3DC"/>
            </a:solidFill>
            <a:prstDash val="solid"/>
          </a:ln>
          <a:effectLst>
            <a:outerShdw blurRad="127000" dist="12700" dir="5400000" algn="bl" rotWithShape="0">
              <a:srgbClr val="C9C0B4">
                <a:alpha val="30000"/>
              </a:srgbClr>
            </a:outerShdw>
          </a:effectLst>
        </p:spPr>
        <p:txBody>
          <a:bodyPr/>
          <a:lstStyle/>
          <a:p>
            <a:endParaRPr lang="en-JO"/>
          </a:p>
        </p:txBody>
      </p:sp>
      <p:sp>
        <p:nvSpPr>
          <p:cNvPr id="12" name="Text 10"/>
          <p:cNvSpPr/>
          <p:nvPr/>
        </p:nvSpPr>
        <p:spPr>
          <a:xfrm>
            <a:off x="886968" y="4553712"/>
            <a:ext cx="10415016" cy="1325880"/>
          </a:xfrm>
          <a:prstGeom prst="rect">
            <a:avLst/>
          </a:prstGeom>
          <a:noFill/>
          <a:ln/>
        </p:spPr>
        <p:txBody>
          <a:bodyPr wrap="square" lIns="0" tIns="0" rIns="0" bIns="0" rtlCol="0" anchor="ctr"/>
          <a:lstStyle/>
          <a:p>
            <a:pPr marL="0" indent="0">
              <a:buNone/>
            </a:pPr>
            <a:r>
              <a:rPr lang="en-US" sz="1450" b="1" dirty="0">
                <a:solidFill>
                  <a:srgbClr val="1C1917"/>
                </a:solidFill>
                <a:latin typeface="Calibri" pitchFamily="34" charset="0"/>
                <a:ea typeface="Calibri" pitchFamily="34" charset="-122"/>
                <a:cs typeface="Calibri" pitchFamily="34" charset="-120"/>
              </a:rPr>
              <a:t>The question this project answers:  </a:t>
            </a:r>
            <a:r>
              <a:rPr lang="en-US" sz="1450" dirty="0">
                <a:solidFill>
                  <a:srgbClr val="514C46"/>
                </a:solidFill>
                <a:latin typeface="Calibri" pitchFamily="34" charset="0"/>
                <a:ea typeface="Calibri" pitchFamily="34" charset="-122"/>
                <a:cs typeface="Calibri" pitchFamily="34" charset="-120"/>
              </a:rPr>
              <a:t>for this roof, in this month — how much will it generate, and is it worth the money?</a:t>
            </a:r>
            <a:endParaRPr lang="en-US" sz="1450" dirty="0"/>
          </a:p>
        </p:txBody>
      </p:sp>
      <p:sp>
        <p:nvSpPr>
          <p:cNvPr id="13" name="Shape 11"/>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14" name="Text 12"/>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15" name="Text 13"/>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01 · INTRODUCTION</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Objectives</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Four goals, each one tested later in this presentation.</a:t>
            </a:r>
            <a:endParaRPr lang="en-US" sz="1350" dirty="0"/>
          </a:p>
        </p:txBody>
      </p:sp>
      <p:sp>
        <p:nvSpPr>
          <p:cNvPr id="5" name="Shape 3"/>
          <p:cNvSpPr/>
          <p:nvPr/>
        </p:nvSpPr>
        <p:spPr>
          <a:xfrm>
            <a:off x="566928" y="1700784"/>
            <a:ext cx="5335524" cy="1572768"/>
          </a:xfrm>
          <a:prstGeom prst="roundRect">
            <a:avLst>
              <a:gd name="adj" fmla="val 5233"/>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6" name="Shape 4"/>
          <p:cNvSpPr/>
          <p:nvPr/>
        </p:nvSpPr>
        <p:spPr>
          <a:xfrm>
            <a:off x="859536" y="2011680"/>
            <a:ext cx="310896" cy="310896"/>
          </a:xfrm>
          <a:prstGeom prst="ellipse">
            <a:avLst/>
          </a:prstGeom>
          <a:solidFill>
            <a:srgbClr val="E09A16"/>
          </a:solidFill>
          <a:ln w="6350">
            <a:solidFill>
              <a:srgbClr val="E09A16"/>
            </a:solidFill>
            <a:prstDash val="solid"/>
          </a:ln>
        </p:spPr>
        <p:txBody>
          <a:bodyPr/>
          <a:lstStyle/>
          <a:p>
            <a:endParaRPr lang="en-JO"/>
          </a:p>
        </p:txBody>
      </p:sp>
      <p:sp>
        <p:nvSpPr>
          <p:cNvPr id="7" name="Text 5"/>
          <p:cNvSpPr/>
          <p:nvPr/>
        </p:nvSpPr>
        <p:spPr>
          <a:xfrm>
            <a:off x="859536" y="201168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1316736" y="1993392"/>
            <a:ext cx="4311396" cy="347472"/>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Cover all of Jordan</a:t>
            </a:r>
            <a:endParaRPr lang="en-US" sz="1700" dirty="0"/>
          </a:p>
        </p:txBody>
      </p:sp>
      <p:sp>
        <p:nvSpPr>
          <p:cNvPr id="9" name="Text 7"/>
          <p:cNvSpPr/>
          <p:nvPr/>
        </p:nvSpPr>
        <p:spPr>
          <a:xfrm>
            <a:off x="1316736" y="2414016"/>
            <a:ext cx="4293108" cy="658368"/>
          </a:xfrm>
          <a:prstGeom prst="rect">
            <a:avLst/>
          </a:prstGeom>
          <a:noFill/>
          <a:ln/>
        </p:spPr>
        <p:txBody>
          <a:bodyPr wrap="square" lIns="0" tIns="0" rIns="0" bIns="0" rtlCol="0" anchor="ctr"/>
          <a:lstStyle/>
          <a:p>
            <a:pPr marL="0" indent="0">
              <a:lnSpc>
                <a:spcPts val="1700"/>
              </a:lnSpc>
              <a:buNone/>
            </a:pPr>
            <a:r>
              <a:rPr lang="en-US" sz="1250" dirty="0">
                <a:solidFill>
                  <a:srgbClr val="514C46"/>
                </a:solidFill>
                <a:latin typeface="Calibri" pitchFamily="34" charset="0"/>
                <a:ea typeface="Calibri" pitchFamily="34" charset="-122"/>
                <a:cs typeface="Calibri" pitchFamily="34" charset="-120"/>
              </a:rPr>
              <a:t>Build a national grid of weather data — 131 locations, not a handful of cities.</a:t>
            </a:r>
            <a:endParaRPr lang="en-US" sz="1250" dirty="0"/>
          </a:p>
        </p:txBody>
      </p:sp>
      <p:sp>
        <p:nvSpPr>
          <p:cNvPr id="10" name="Shape 8"/>
          <p:cNvSpPr/>
          <p:nvPr/>
        </p:nvSpPr>
        <p:spPr>
          <a:xfrm>
            <a:off x="6286500" y="1700784"/>
            <a:ext cx="5335524" cy="1572768"/>
          </a:xfrm>
          <a:prstGeom prst="roundRect">
            <a:avLst>
              <a:gd name="adj" fmla="val 5233"/>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1" name="Shape 9"/>
          <p:cNvSpPr/>
          <p:nvPr/>
        </p:nvSpPr>
        <p:spPr>
          <a:xfrm>
            <a:off x="6579108" y="2011680"/>
            <a:ext cx="310896" cy="310896"/>
          </a:xfrm>
          <a:prstGeom prst="ellipse">
            <a:avLst/>
          </a:prstGeom>
          <a:solidFill>
            <a:srgbClr val="E09A16"/>
          </a:solidFill>
          <a:ln w="6350">
            <a:solidFill>
              <a:srgbClr val="E09A16"/>
            </a:solidFill>
            <a:prstDash val="solid"/>
          </a:ln>
        </p:spPr>
        <p:txBody>
          <a:bodyPr/>
          <a:lstStyle/>
          <a:p>
            <a:endParaRPr lang="en-JO"/>
          </a:p>
        </p:txBody>
      </p:sp>
      <p:sp>
        <p:nvSpPr>
          <p:cNvPr id="12" name="Text 10"/>
          <p:cNvSpPr/>
          <p:nvPr/>
        </p:nvSpPr>
        <p:spPr>
          <a:xfrm>
            <a:off x="6579108" y="201168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p:nvPr/>
        </p:nvSpPr>
        <p:spPr>
          <a:xfrm>
            <a:off x="7036308" y="1993392"/>
            <a:ext cx="4311396" cy="347472"/>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Predict generation anywhere</a:t>
            </a:r>
            <a:endParaRPr lang="en-US" sz="1700" dirty="0"/>
          </a:p>
        </p:txBody>
      </p:sp>
      <p:sp>
        <p:nvSpPr>
          <p:cNvPr id="14" name="Text 12"/>
          <p:cNvSpPr/>
          <p:nvPr/>
        </p:nvSpPr>
        <p:spPr>
          <a:xfrm>
            <a:off x="7036308" y="2414016"/>
            <a:ext cx="4293108" cy="658368"/>
          </a:xfrm>
          <a:prstGeom prst="rect">
            <a:avLst/>
          </a:prstGeom>
          <a:noFill/>
          <a:ln/>
        </p:spPr>
        <p:txBody>
          <a:bodyPr wrap="square" lIns="0" tIns="0" rIns="0" bIns="0" rtlCol="0" anchor="ctr"/>
          <a:lstStyle/>
          <a:p>
            <a:pPr marL="0" indent="0">
              <a:lnSpc>
                <a:spcPts val="1700"/>
              </a:lnSpc>
              <a:buNone/>
            </a:pPr>
            <a:r>
              <a:rPr lang="en-US" sz="1250" dirty="0">
                <a:solidFill>
                  <a:srgbClr val="514C46"/>
                </a:solidFill>
                <a:latin typeface="Calibri" pitchFamily="34" charset="0"/>
                <a:ea typeface="Calibri" pitchFamily="34" charset="-122"/>
                <a:cs typeface="Calibri" pitchFamily="34" charset="-120"/>
              </a:rPr>
              <a:t>From weather alone, at any coordinate a user can point to on a map.</a:t>
            </a:r>
            <a:endParaRPr lang="en-US" sz="1250" dirty="0"/>
          </a:p>
        </p:txBody>
      </p:sp>
      <p:sp>
        <p:nvSpPr>
          <p:cNvPr id="15" name="Shape 13"/>
          <p:cNvSpPr/>
          <p:nvPr/>
        </p:nvSpPr>
        <p:spPr>
          <a:xfrm>
            <a:off x="566928" y="3621024"/>
            <a:ext cx="5335524" cy="1572768"/>
          </a:xfrm>
          <a:prstGeom prst="roundRect">
            <a:avLst>
              <a:gd name="adj" fmla="val 5233"/>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6" name="Shape 14"/>
          <p:cNvSpPr/>
          <p:nvPr/>
        </p:nvSpPr>
        <p:spPr>
          <a:xfrm>
            <a:off x="859536" y="3931920"/>
            <a:ext cx="310896" cy="310896"/>
          </a:xfrm>
          <a:prstGeom prst="ellipse">
            <a:avLst/>
          </a:prstGeom>
          <a:solidFill>
            <a:srgbClr val="E09A16"/>
          </a:solidFill>
          <a:ln w="6350">
            <a:solidFill>
              <a:srgbClr val="E09A16"/>
            </a:solidFill>
            <a:prstDash val="solid"/>
          </a:ln>
        </p:spPr>
        <p:txBody>
          <a:bodyPr/>
          <a:lstStyle/>
          <a:p>
            <a:endParaRPr lang="en-JO"/>
          </a:p>
        </p:txBody>
      </p:sp>
      <p:sp>
        <p:nvSpPr>
          <p:cNvPr id="17" name="Text 15"/>
          <p:cNvSpPr/>
          <p:nvPr/>
        </p:nvSpPr>
        <p:spPr>
          <a:xfrm>
            <a:off x="859536" y="393192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p:nvPr/>
        </p:nvSpPr>
        <p:spPr>
          <a:xfrm>
            <a:off x="1316736" y="3913632"/>
            <a:ext cx="4311396" cy="347472"/>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Prove it works on new places</a:t>
            </a:r>
            <a:endParaRPr lang="en-US" sz="1700" dirty="0"/>
          </a:p>
        </p:txBody>
      </p:sp>
      <p:sp>
        <p:nvSpPr>
          <p:cNvPr id="19" name="Text 17"/>
          <p:cNvSpPr/>
          <p:nvPr/>
        </p:nvSpPr>
        <p:spPr>
          <a:xfrm>
            <a:off x="1316736" y="4334256"/>
            <a:ext cx="4293108" cy="658368"/>
          </a:xfrm>
          <a:prstGeom prst="rect">
            <a:avLst/>
          </a:prstGeom>
          <a:noFill/>
          <a:ln/>
        </p:spPr>
        <p:txBody>
          <a:bodyPr wrap="square" lIns="0" tIns="0" rIns="0" bIns="0" rtlCol="0" anchor="ctr"/>
          <a:lstStyle/>
          <a:p>
            <a:pPr marL="0" indent="0">
              <a:lnSpc>
                <a:spcPts val="1700"/>
              </a:lnSpc>
              <a:buNone/>
            </a:pPr>
            <a:r>
              <a:rPr lang="en-US" sz="1250" dirty="0">
                <a:solidFill>
                  <a:srgbClr val="514C46"/>
                </a:solidFill>
                <a:latin typeface="Calibri" pitchFamily="34" charset="0"/>
                <a:ea typeface="Calibri" pitchFamily="34" charset="-122"/>
                <a:cs typeface="Calibri" pitchFamily="34" charset="-120"/>
              </a:rPr>
              <a:t>Test on a year and a location the model never saw during training.</a:t>
            </a:r>
            <a:endParaRPr lang="en-US" sz="1250" dirty="0"/>
          </a:p>
        </p:txBody>
      </p:sp>
      <p:sp>
        <p:nvSpPr>
          <p:cNvPr id="20" name="Shape 18"/>
          <p:cNvSpPr/>
          <p:nvPr/>
        </p:nvSpPr>
        <p:spPr>
          <a:xfrm>
            <a:off x="6286500" y="3621024"/>
            <a:ext cx="5335524" cy="1572768"/>
          </a:xfrm>
          <a:prstGeom prst="roundRect">
            <a:avLst>
              <a:gd name="adj" fmla="val 5233"/>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21" name="Shape 19"/>
          <p:cNvSpPr/>
          <p:nvPr/>
        </p:nvSpPr>
        <p:spPr>
          <a:xfrm>
            <a:off x="6579108" y="3931920"/>
            <a:ext cx="310896" cy="310896"/>
          </a:xfrm>
          <a:prstGeom prst="ellipse">
            <a:avLst/>
          </a:prstGeom>
          <a:solidFill>
            <a:srgbClr val="E09A16"/>
          </a:solidFill>
          <a:ln w="6350">
            <a:solidFill>
              <a:srgbClr val="E09A16"/>
            </a:solidFill>
            <a:prstDash val="solid"/>
          </a:ln>
        </p:spPr>
        <p:txBody>
          <a:bodyPr/>
          <a:lstStyle/>
          <a:p>
            <a:endParaRPr lang="en-JO"/>
          </a:p>
        </p:txBody>
      </p:sp>
      <p:sp>
        <p:nvSpPr>
          <p:cNvPr id="22" name="Text 20"/>
          <p:cNvSpPr/>
          <p:nvPr/>
        </p:nvSpPr>
        <p:spPr>
          <a:xfrm>
            <a:off x="6579108" y="393192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p:nvPr/>
        </p:nvSpPr>
        <p:spPr>
          <a:xfrm>
            <a:off x="7036308" y="3913632"/>
            <a:ext cx="4311396" cy="347472"/>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Turn it into a decision</a:t>
            </a:r>
            <a:endParaRPr lang="en-US" sz="1700" dirty="0"/>
          </a:p>
        </p:txBody>
      </p:sp>
      <p:sp>
        <p:nvSpPr>
          <p:cNvPr id="24" name="Text 22"/>
          <p:cNvSpPr/>
          <p:nvPr/>
        </p:nvSpPr>
        <p:spPr>
          <a:xfrm>
            <a:off x="7036308" y="4334256"/>
            <a:ext cx="4293108" cy="658368"/>
          </a:xfrm>
          <a:prstGeom prst="rect">
            <a:avLst/>
          </a:prstGeom>
          <a:noFill/>
          <a:ln/>
        </p:spPr>
        <p:txBody>
          <a:bodyPr wrap="square" lIns="0" tIns="0" rIns="0" bIns="0" rtlCol="0" anchor="ctr"/>
          <a:lstStyle/>
          <a:p>
            <a:pPr marL="0" indent="0">
              <a:lnSpc>
                <a:spcPts val="1700"/>
              </a:lnSpc>
              <a:buNone/>
            </a:pPr>
            <a:r>
              <a:rPr lang="en-US" sz="1250" dirty="0">
                <a:solidFill>
                  <a:srgbClr val="514C46"/>
                </a:solidFill>
                <a:latin typeface="Calibri" pitchFamily="34" charset="0"/>
                <a:ea typeface="Calibri" pitchFamily="34" charset="-122"/>
                <a:cs typeface="Calibri" pitchFamily="34" charset="-120"/>
              </a:rPr>
              <a:t>A verdict in dinars for a household, and a ranked map for an investor.</a:t>
            </a:r>
            <a:endParaRPr lang="en-US" sz="1250" dirty="0"/>
          </a:p>
        </p:txBody>
      </p:sp>
      <p:sp>
        <p:nvSpPr>
          <p:cNvPr id="25" name="Text 23"/>
          <p:cNvSpPr/>
          <p:nvPr/>
        </p:nvSpPr>
        <p:spPr>
          <a:xfrm>
            <a:off x="566928" y="5440680"/>
            <a:ext cx="11055096" cy="274320"/>
          </a:xfrm>
          <a:prstGeom prst="rect">
            <a:avLst/>
          </a:prstGeom>
          <a:noFill/>
          <a:ln/>
        </p:spPr>
        <p:txBody>
          <a:bodyPr wrap="square" lIns="0" tIns="0" rIns="0" bIns="0" rtlCol="0" anchor="ctr"/>
          <a:lstStyle/>
          <a:p>
            <a:pPr marL="0" indent="0">
              <a:buNone/>
            </a:pPr>
            <a:r>
              <a:rPr lang="en-US" sz="1150" i="1" dirty="0">
                <a:solidFill>
                  <a:srgbClr val="8C8279"/>
                </a:solidFill>
                <a:latin typeface="Calibri" pitchFamily="34" charset="0"/>
                <a:ea typeface="Calibri" pitchFamily="34" charset="-122"/>
                <a:cs typeface="Calibri" pitchFamily="34" charset="-120"/>
              </a:rPr>
              <a:t>Objectives 2 and 3 are the ones this deck returns to with numbers.</a:t>
            </a:r>
            <a:endParaRPr lang="en-US" sz="1150" dirty="0"/>
          </a:p>
        </p:txBody>
      </p:sp>
      <p:sp>
        <p:nvSpPr>
          <p:cNvPr id="26" name="Shape 24"/>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27" name="Text 25"/>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28" name="Text 26"/>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02 · THE SYSTEM</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How the System Works</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Four stages, from a satellite record to an answer on a screen.</a:t>
            </a:r>
            <a:endParaRPr lang="en-US" sz="1350" dirty="0"/>
          </a:p>
        </p:txBody>
      </p:sp>
      <p:sp>
        <p:nvSpPr>
          <p:cNvPr id="5" name="Shape 3"/>
          <p:cNvSpPr/>
          <p:nvPr/>
        </p:nvSpPr>
        <p:spPr>
          <a:xfrm>
            <a:off x="566928" y="1700784"/>
            <a:ext cx="2558034" cy="3127248"/>
          </a:xfrm>
          <a:prstGeom prst="roundRect">
            <a:avLst>
              <a:gd name="adj" fmla="val 321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6" name="Shape 4"/>
          <p:cNvSpPr/>
          <p:nvPr/>
        </p:nvSpPr>
        <p:spPr>
          <a:xfrm>
            <a:off x="804672" y="1920240"/>
            <a:ext cx="310896" cy="310896"/>
          </a:xfrm>
          <a:prstGeom prst="ellipse">
            <a:avLst/>
          </a:prstGeom>
          <a:solidFill>
            <a:srgbClr val="E09A16"/>
          </a:solidFill>
          <a:ln w="6350">
            <a:solidFill>
              <a:srgbClr val="E09A16"/>
            </a:solidFill>
            <a:prstDash val="solid"/>
          </a:ln>
        </p:spPr>
        <p:txBody>
          <a:bodyPr/>
          <a:lstStyle/>
          <a:p>
            <a:endParaRPr lang="en-JO"/>
          </a:p>
        </p:txBody>
      </p:sp>
      <p:sp>
        <p:nvSpPr>
          <p:cNvPr id="7" name="Text 5"/>
          <p:cNvSpPr/>
          <p:nvPr/>
        </p:nvSpPr>
        <p:spPr>
          <a:xfrm>
            <a:off x="804672" y="192024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1207008" y="1911096"/>
            <a:ext cx="1735074" cy="329184"/>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Collect</a:t>
            </a:r>
            <a:endParaRPr lang="en-US" sz="1700" dirty="0"/>
          </a:p>
        </p:txBody>
      </p:sp>
      <p:sp>
        <p:nvSpPr>
          <p:cNvPr id="9" name="Text 7"/>
          <p:cNvSpPr/>
          <p:nvPr/>
        </p:nvSpPr>
        <p:spPr>
          <a:xfrm>
            <a:off x="804672" y="2395728"/>
            <a:ext cx="2082546" cy="1691640"/>
          </a:xfrm>
          <a:prstGeom prst="rect">
            <a:avLst/>
          </a:prstGeom>
          <a:noFill/>
          <a:ln/>
        </p:spPr>
        <p:txBody>
          <a:bodyPr wrap="square" lIns="0" tIns="0" rIns="0" bIns="0" rtlCol="0" anchor="t"/>
          <a:lstStyle/>
          <a:p>
            <a:pPr marL="0" indent="0">
              <a:lnSpc>
                <a:spcPts val="1600"/>
              </a:lnSpc>
              <a:buNone/>
            </a:pPr>
            <a:r>
              <a:rPr lang="en-US" sz="1150" dirty="0">
                <a:solidFill>
                  <a:srgbClr val="514C46"/>
                </a:solidFill>
                <a:latin typeface="Calibri" pitchFamily="34" charset="0"/>
                <a:ea typeface="Calibri" pitchFamily="34" charset="-122"/>
                <a:cs typeface="Calibri" pitchFamily="34" charset="-120"/>
              </a:rPr>
              <a:t>NASA POWER daily API pulls 6 years of weather for 131 points across Jordan. Nominatim turns an address into coordinates and checks the point is inside the border.</a:t>
            </a:r>
            <a:endParaRPr lang="en-US" sz="1150" dirty="0"/>
          </a:p>
        </p:txBody>
      </p:sp>
      <p:sp>
        <p:nvSpPr>
          <p:cNvPr id="10" name="Text 8"/>
          <p:cNvSpPr/>
          <p:nvPr/>
        </p:nvSpPr>
        <p:spPr>
          <a:xfrm>
            <a:off x="804672" y="4224528"/>
            <a:ext cx="2082546" cy="457200"/>
          </a:xfrm>
          <a:prstGeom prst="rect">
            <a:avLst/>
          </a:prstGeom>
          <a:noFill/>
          <a:ln/>
        </p:spPr>
        <p:txBody>
          <a:bodyPr wrap="square" lIns="0" tIns="0" rIns="0" bIns="0" rtlCol="0" anchor="ctr"/>
          <a:lstStyle/>
          <a:p>
            <a:pPr marL="0" indent="0">
              <a:lnSpc>
                <a:spcPts val="1300"/>
              </a:lnSpc>
              <a:buNone/>
            </a:pPr>
            <a:r>
              <a:rPr lang="en-US" sz="1000" b="1" dirty="0">
                <a:solidFill>
                  <a:srgbClr val="A06B08"/>
                </a:solidFill>
                <a:latin typeface="Calibri" pitchFamily="34" charset="0"/>
                <a:ea typeface="Calibri" pitchFamily="34" charset="-122"/>
                <a:cs typeface="Calibri" pitchFamily="34" charset="-120"/>
              </a:rPr>
              <a:t>NASA POWER · Nominatim</a:t>
            </a:r>
            <a:endParaRPr lang="en-US" sz="1000" dirty="0"/>
          </a:p>
        </p:txBody>
      </p:sp>
      <p:sp>
        <p:nvSpPr>
          <p:cNvPr id="11" name="Text 9"/>
          <p:cNvSpPr/>
          <p:nvPr/>
        </p:nvSpPr>
        <p:spPr>
          <a:xfrm>
            <a:off x="3143250" y="3063240"/>
            <a:ext cx="237744" cy="274320"/>
          </a:xfrm>
          <a:prstGeom prst="rect">
            <a:avLst/>
          </a:prstGeom>
          <a:noFill/>
          <a:ln/>
        </p:spPr>
        <p:txBody>
          <a:bodyPr wrap="square" lIns="0" tIns="0" rIns="0" bIns="0" rtlCol="0" anchor="ctr"/>
          <a:lstStyle/>
          <a:p>
            <a:pPr marL="0" indent="0" algn="ctr">
              <a:buNone/>
            </a:pPr>
            <a:r>
              <a:rPr lang="en-US" sz="1500" dirty="0">
                <a:solidFill>
                  <a:srgbClr val="E09A16"/>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3399282" y="1700784"/>
            <a:ext cx="2558034" cy="3127248"/>
          </a:xfrm>
          <a:prstGeom prst="roundRect">
            <a:avLst>
              <a:gd name="adj" fmla="val 321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3" name="Shape 11"/>
          <p:cNvSpPr/>
          <p:nvPr/>
        </p:nvSpPr>
        <p:spPr>
          <a:xfrm>
            <a:off x="3637026" y="1920240"/>
            <a:ext cx="310896" cy="310896"/>
          </a:xfrm>
          <a:prstGeom prst="ellipse">
            <a:avLst/>
          </a:prstGeom>
          <a:solidFill>
            <a:srgbClr val="E09A16"/>
          </a:solidFill>
          <a:ln w="6350">
            <a:solidFill>
              <a:srgbClr val="E09A16"/>
            </a:solidFill>
            <a:prstDash val="solid"/>
          </a:ln>
        </p:spPr>
        <p:txBody>
          <a:bodyPr/>
          <a:lstStyle/>
          <a:p>
            <a:endParaRPr lang="en-JO"/>
          </a:p>
        </p:txBody>
      </p:sp>
      <p:sp>
        <p:nvSpPr>
          <p:cNvPr id="14" name="Text 12"/>
          <p:cNvSpPr/>
          <p:nvPr/>
        </p:nvSpPr>
        <p:spPr>
          <a:xfrm>
            <a:off x="3637026" y="192024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p:nvPr/>
        </p:nvSpPr>
        <p:spPr>
          <a:xfrm>
            <a:off x="4039362" y="1911096"/>
            <a:ext cx="1735074" cy="329184"/>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Prepare</a:t>
            </a:r>
            <a:endParaRPr lang="en-US" sz="1700" dirty="0"/>
          </a:p>
        </p:txBody>
      </p:sp>
      <p:sp>
        <p:nvSpPr>
          <p:cNvPr id="16" name="Text 14"/>
          <p:cNvSpPr/>
          <p:nvPr/>
        </p:nvSpPr>
        <p:spPr>
          <a:xfrm>
            <a:off x="3637026" y="2395728"/>
            <a:ext cx="2082546" cy="1691640"/>
          </a:xfrm>
          <a:prstGeom prst="rect">
            <a:avLst/>
          </a:prstGeom>
          <a:noFill/>
          <a:ln/>
        </p:spPr>
        <p:txBody>
          <a:bodyPr wrap="square" lIns="0" tIns="0" rIns="0" bIns="0" rtlCol="0" anchor="t"/>
          <a:lstStyle/>
          <a:p>
            <a:pPr marL="0" indent="0">
              <a:lnSpc>
                <a:spcPts val="1600"/>
              </a:lnSpc>
              <a:buNone/>
            </a:pPr>
            <a:r>
              <a:rPr lang="en-US" sz="1150" dirty="0">
                <a:solidFill>
                  <a:srgbClr val="514C46"/>
                </a:solidFill>
                <a:latin typeface="Calibri" pitchFamily="34" charset="0"/>
                <a:ea typeface="Calibri" pitchFamily="34" charset="-122"/>
                <a:cs typeface="Calibri" pitchFamily="34" charset="-120"/>
              </a:rPr>
              <a:t>Duplicates, hidden −999 codes and impossible readings removed. Dates converted, season encoded, target built.</a:t>
            </a:r>
            <a:endParaRPr lang="en-US" sz="1150" dirty="0"/>
          </a:p>
        </p:txBody>
      </p:sp>
      <p:sp>
        <p:nvSpPr>
          <p:cNvPr id="17" name="Text 15"/>
          <p:cNvSpPr/>
          <p:nvPr/>
        </p:nvSpPr>
        <p:spPr>
          <a:xfrm>
            <a:off x="3637026" y="4224528"/>
            <a:ext cx="2082546" cy="457200"/>
          </a:xfrm>
          <a:prstGeom prst="rect">
            <a:avLst/>
          </a:prstGeom>
          <a:noFill/>
          <a:ln/>
        </p:spPr>
        <p:txBody>
          <a:bodyPr wrap="square" lIns="0" tIns="0" rIns="0" bIns="0" rtlCol="0" anchor="ctr"/>
          <a:lstStyle/>
          <a:p>
            <a:pPr marL="0" indent="0">
              <a:lnSpc>
                <a:spcPts val="1300"/>
              </a:lnSpc>
              <a:buNone/>
            </a:pPr>
            <a:r>
              <a:rPr lang="en-US" sz="1000" b="1" dirty="0">
                <a:solidFill>
                  <a:srgbClr val="A06B08"/>
                </a:solidFill>
                <a:latin typeface="Calibri" pitchFamily="34" charset="0"/>
                <a:ea typeface="Calibri" pitchFamily="34" charset="-122"/>
                <a:cs typeface="Calibri" pitchFamily="34" charset="-120"/>
              </a:rPr>
              <a:t>pandas · NumPy</a:t>
            </a:r>
            <a:endParaRPr lang="en-US" sz="1000" dirty="0"/>
          </a:p>
        </p:txBody>
      </p:sp>
      <p:sp>
        <p:nvSpPr>
          <p:cNvPr id="18" name="Text 16"/>
          <p:cNvSpPr/>
          <p:nvPr/>
        </p:nvSpPr>
        <p:spPr>
          <a:xfrm>
            <a:off x="5975604" y="3063240"/>
            <a:ext cx="237744" cy="274320"/>
          </a:xfrm>
          <a:prstGeom prst="rect">
            <a:avLst/>
          </a:prstGeom>
          <a:noFill/>
          <a:ln/>
        </p:spPr>
        <p:txBody>
          <a:bodyPr wrap="square" lIns="0" tIns="0" rIns="0" bIns="0" rtlCol="0" anchor="ctr"/>
          <a:lstStyle/>
          <a:p>
            <a:pPr marL="0" indent="0" algn="ctr">
              <a:buNone/>
            </a:pPr>
            <a:r>
              <a:rPr lang="en-US" sz="1500" dirty="0">
                <a:solidFill>
                  <a:srgbClr val="E09A16"/>
                </a:solidFill>
                <a:latin typeface="Calibri" pitchFamily="34" charset="0"/>
                <a:ea typeface="Calibri" pitchFamily="34" charset="-122"/>
                <a:cs typeface="Calibri" pitchFamily="34" charset="-120"/>
              </a:rPr>
              <a:t>▸</a:t>
            </a:r>
            <a:endParaRPr lang="en-US" sz="1500" dirty="0"/>
          </a:p>
        </p:txBody>
      </p:sp>
      <p:sp>
        <p:nvSpPr>
          <p:cNvPr id="19" name="Shape 17"/>
          <p:cNvSpPr/>
          <p:nvPr/>
        </p:nvSpPr>
        <p:spPr>
          <a:xfrm>
            <a:off x="6231636" y="1700784"/>
            <a:ext cx="2558034" cy="3127248"/>
          </a:xfrm>
          <a:prstGeom prst="roundRect">
            <a:avLst>
              <a:gd name="adj" fmla="val 321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20" name="Shape 18"/>
          <p:cNvSpPr/>
          <p:nvPr/>
        </p:nvSpPr>
        <p:spPr>
          <a:xfrm>
            <a:off x="6469380" y="1920240"/>
            <a:ext cx="310896" cy="310896"/>
          </a:xfrm>
          <a:prstGeom prst="ellipse">
            <a:avLst/>
          </a:prstGeom>
          <a:solidFill>
            <a:srgbClr val="E09A16"/>
          </a:solidFill>
          <a:ln w="6350">
            <a:solidFill>
              <a:srgbClr val="E09A16"/>
            </a:solidFill>
            <a:prstDash val="solid"/>
          </a:ln>
        </p:spPr>
        <p:txBody>
          <a:bodyPr/>
          <a:lstStyle/>
          <a:p>
            <a:endParaRPr lang="en-JO"/>
          </a:p>
        </p:txBody>
      </p:sp>
      <p:sp>
        <p:nvSpPr>
          <p:cNvPr id="21" name="Text 19"/>
          <p:cNvSpPr/>
          <p:nvPr/>
        </p:nvSpPr>
        <p:spPr>
          <a:xfrm>
            <a:off x="6469380" y="192024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2" name="Text 20"/>
          <p:cNvSpPr/>
          <p:nvPr/>
        </p:nvSpPr>
        <p:spPr>
          <a:xfrm>
            <a:off x="6871716" y="1911096"/>
            <a:ext cx="1735074" cy="329184"/>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Learn</a:t>
            </a:r>
            <a:endParaRPr lang="en-US" sz="1700" dirty="0"/>
          </a:p>
        </p:txBody>
      </p:sp>
      <p:sp>
        <p:nvSpPr>
          <p:cNvPr id="23" name="Text 21"/>
          <p:cNvSpPr/>
          <p:nvPr/>
        </p:nvSpPr>
        <p:spPr>
          <a:xfrm>
            <a:off x="6469380" y="2395728"/>
            <a:ext cx="2082546" cy="1691640"/>
          </a:xfrm>
          <a:prstGeom prst="rect">
            <a:avLst/>
          </a:prstGeom>
          <a:noFill/>
          <a:ln/>
        </p:spPr>
        <p:txBody>
          <a:bodyPr wrap="square" lIns="0" tIns="0" rIns="0" bIns="0" rtlCol="0" anchor="t"/>
          <a:lstStyle/>
          <a:p>
            <a:pPr marL="0" indent="0">
              <a:lnSpc>
                <a:spcPts val="1600"/>
              </a:lnSpc>
              <a:buNone/>
            </a:pPr>
            <a:r>
              <a:rPr lang="en-US" sz="1150" dirty="0">
                <a:solidFill>
                  <a:srgbClr val="514C46"/>
                </a:solidFill>
                <a:latin typeface="Calibri" pitchFamily="34" charset="0"/>
                <a:ea typeface="Calibri" pitchFamily="34" charset="-122"/>
                <a:cs typeface="Calibri" pitchFamily="34" charset="-120"/>
              </a:rPr>
              <a:t>Three models trained and compared. The winner is saved to disk with its feature list, ready to serve.</a:t>
            </a:r>
            <a:endParaRPr lang="en-US" sz="1150" dirty="0"/>
          </a:p>
        </p:txBody>
      </p:sp>
      <p:sp>
        <p:nvSpPr>
          <p:cNvPr id="24" name="Text 22"/>
          <p:cNvSpPr/>
          <p:nvPr/>
        </p:nvSpPr>
        <p:spPr>
          <a:xfrm>
            <a:off x="6231636" y="4224528"/>
            <a:ext cx="2558034" cy="457200"/>
          </a:xfrm>
          <a:prstGeom prst="rect">
            <a:avLst/>
          </a:prstGeom>
          <a:noFill/>
          <a:ln/>
        </p:spPr>
        <p:txBody>
          <a:bodyPr wrap="square" lIns="0" tIns="0" rIns="0" bIns="0" rtlCol="0" anchor="ctr"/>
          <a:lstStyle/>
          <a:p>
            <a:pPr marL="0" indent="0">
              <a:lnSpc>
                <a:spcPts val="1300"/>
              </a:lnSpc>
              <a:buNone/>
            </a:pPr>
            <a:r>
              <a:rPr lang="en-US" sz="1000" b="1" dirty="0">
                <a:solidFill>
                  <a:srgbClr val="A06B08"/>
                </a:solidFill>
                <a:latin typeface="Calibri" pitchFamily="34" charset="0"/>
                <a:ea typeface="Calibri" pitchFamily="34" charset="-122"/>
                <a:cs typeface="Calibri" pitchFamily="34" charset="-120"/>
              </a:rPr>
              <a:t>Linear regression  - random forest – X-</a:t>
            </a:r>
            <a:r>
              <a:rPr lang="en-US" sz="1000" b="1" dirty="0" err="1">
                <a:solidFill>
                  <a:srgbClr val="A06B08"/>
                </a:solidFill>
                <a:latin typeface="Calibri" pitchFamily="34" charset="0"/>
                <a:ea typeface="Calibri" pitchFamily="34" charset="-122"/>
                <a:cs typeface="Calibri" pitchFamily="34" charset="-120"/>
              </a:rPr>
              <a:t>gboost</a:t>
            </a:r>
            <a:endParaRPr lang="en-US" sz="1000" dirty="0"/>
          </a:p>
        </p:txBody>
      </p:sp>
      <p:sp>
        <p:nvSpPr>
          <p:cNvPr id="25" name="Text 23"/>
          <p:cNvSpPr/>
          <p:nvPr/>
        </p:nvSpPr>
        <p:spPr>
          <a:xfrm>
            <a:off x="8807958" y="3063240"/>
            <a:ext cx="237744" cy="274320"/>
          </a:xfrm>
          <a:prstGeom prst="rect">
            <a:avLst/>
          </a:prstGeom>
          <a:noFill/>
          <a:ln/>
        </p:spPr>
        <p:txBody>
          <a:bodyPr wrap="square" lIns="0" tIns="0" rIns="0" bIns="0" rtlCol="0" anchor="ctr"/>
          <a:lstStyle/>
          <a:p>
            <a:pPr marL="0" indent="0" algn="ctr">
              <a:buNone/>
            </a:pPr>
            <a:r>
              <a:rPr lang="en-US" sz="1500" dirty="0">
                <a:solidFill>
                  <a:srgbClr val="E09A16"/>
                </a:solidFill>
                <a:latin typeface="Calibri" pitchFamily="34" charset="0"/>
                <a:ea typeface="Calibri" pitchFamily="34" charset="-122"/>
                <a:cs typeface="Calibri" pitchFamily="34" charset="-120"/>
              </a:rPr>
              <a:t>▸</a:t>
            </a:r>
            <a:endParaRPr lang="en-US" sz="1500" dirty="0"/>
          </a:p>
        </p:txBody>
      </p:sp>
      <p:sp>
        <p:nvSpPr>
          <p:cNvPr id="26" name="Shape 24"/>
          <p:cNvSpPr/>
          <p:nvPr/>
        </p:nvSpPr>
        <p:spPr>
          <a:xfrm>
            <a:off x="9063990" y="1700784"/>
            <a:ext cx="2558034" cy="3127248"/>
          </a:xfrm>
          <a:prstGeom prst="roundRect">
            <a:avLst>
              <a:gd name="adj" fmla="val 3217"/>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27" name="Shape 25"/>
          <p:cNvSpPr/>
          <p:nvPr/>
        </p:nvSpPr>
        <p:spPr>
          <a:xfrm>
            <a:off x="9301734" y="1920240"/>
            <a:ext cx="310896" cy="310896"/>
          </a:xfrm>
          <a:prstGeom prst="ellipse">
            <a:avLst/>
          </a:prstGeom>
          <a:solidFill>
            <a:srgbClr val="E09A16"/>
          </a:solidFill>
          <a:ln w="6350">
            <a:solidFill>
              <a:srgbClr val="E09A16"/>
            </a:solidFill>
            <a:prstDash val="solid"/>
          </a:ln>
        </p:spPr>
        <p:txBody>
          <a:bodyPr/>
          <a:lstStyle/>
          <a:p>
            <a:endParaRPr lang="en-JO"/>
          </a:p>
        </p:txBody>
      </p:sp>
      <p:sp>
        <p:nvSpPr>
          <p:cNvPr id="28" name="Text 26"/>
          <p:cNvSpPr/>
          <p:nvPr/>
        </p:nvSpPr>
        <p:spPr>
          <a:xfrm>
            <a:off x="9301734" y="192024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9" name="Text 27"/>
          <p:cNvSpPr/>
          <p:nvPr/>
        </p:nvSpPr>
        <p:spPr>
          <a:xfrm>
            <a:off x="9704070" y="1911096"/>
            <a:ext cx="1735074" cy="329184"/>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Deliver</a:t>
            </a:r>
            <a:endParaRPr lang="en-US" sz="1700" dirty="0"/>
          </a:p>
        </p:txBody>
      </p:sp>
      <p:sp>
        <p:nvSpPr>
          <p:cNvPr id="30" name="Text 28"/>
          <p:cNvSpPr/>
          <p:nvPr/>
        </p:nvSpPr>
        <p:spPr>
          <a:xfrm>
            <a:off x="9301734" y="2395728"/>
            <a:ext cx="2082546" cy="1691640"/>
          </a:xfrm>
          <a:prstGeom prst="rect">
            <a:avLst/>
          </a:prstGeom>
          <a:noFill/>
          <a:ln/>
        </p:spPr>
        <p:txBody>
          <a:bodyPr wrap="square" lIns="0" tIns="0" rIns="0" bIns="0" rtlCol="0" anchor="t"/>
          <a:lstStyle/>
          <a:p>
            <a:pPr marL="0" indent="0">
              <a:lnSpc>
                <a:spcPts val="1600"/>
              </a:lnSpc>
              <a:buNone/>
            </a:pPr>
            <a:r>
              <a:rPr lang="en-US" sz="1150" dirty="0">
                <a:solidFill>
                  <a:srgbClr val="514C46"/>
                </a:solidFill>
                <a:latin typeface="Calibri" pitchFamily="34" charset="0"/>
                <a:ea typeface="Calibri" pitchFamily="34" charset="-122"/>
                <a:cs typeface="Calibri" pitchFamily="34" charset="-120"/>
              </a:rPr>
              <a:t>A Streamlit web app answers the household question. A Power BI dashboard ranks sites for investors.</a:t>
            </a:r>
            <a:endParaRPr lang="en-US" sz="1150" dirty="0"/>
          </a:p>
        </p:txBody>
      </p:sp>
      <p:sp>
        <p:nvSpPr>
          <p:cNvPr id="31" name="Text 29"/>
          <p:cNvSpPr/>
          <p:nvPr/>
        </p:nvSpPr>
        <p:spPr>
          <a:xfrm>
            <a:off x="9301734" y="4224528"/>
            <a:ext cx="2082546" cy="457200"/>
          </a:xfrm>
          <a:prstGeom prst="rect">
            <a:avLst/>
          </a:prstGeom>
          <a:noFill/>
          <a:ln/>
        </p:spPr>
        <p:txBody>
          <a:bodyPr wrap="square" lIns="0" tIns="0" rIns="0" bIns="0" rtlCol="0" anchor="ctr"/>
          <a:lstStyle/>
          <a:p>
            <a:pPr marL="0" indent="0">
              <a:lnSpc>
                <a:spcPts val="1300"/>
              </a:lnSpc>
              <a:buNone/>
            </a:pPr>
            <a:r>
              <a:rPr lang="en-US" sz="1000" b="1" dirty="0">
                <a:solidFill>
                  <a:srgbClr val="A06B08"/>
                </a:solidFill>
                <a:latin typeface="Calibri" pitchFamily="34" charset="0"/>
                <a:ea typeface="Calibri" pitchFamily="34" charset="-122"/>
                <a:cs typeface="Calibri" pitchFamily="34" charset="-120"/>
              </a:rPr>
              <a:t>Streamlit · Folium · Plotly · Power BI</a:t>
            </a:r>
            <a:endParaRPr lang="en-US" sz="1000" dirty="0"/>
          </a:p>
        </p:txBody>
      </p:sp>
      <p:sp>
        <p:nvSpPr>
          <p:cNvPr id="32" name="Shape 30"/>
          <p:cNvSpPr/>
          <p:nvPr/>
        </p:nvSpPr>
        <p:spPr>
          <a:xfrm>
            <a:off x="566928" y="5047488"/>
            <a:ext cx="11055096" cy="914400"/>
          </a:xfrm>
          <a:prstGeom prst="roundRect">
            <a:avLst>
              <a:gd name="adj" fmla="val 9000"/>
            </a:avLst>
          </a:prstGeom>
          <a:solidFill>
            <a:srgbClr val="FFFFFF"/>
          </a:solidFill>
          <a:ln w="12700">
            <a:solidFill>
              <a:srgbClr val="E7E3DC"/>
            </a:solidFill>
            <a:prstDash val="solid"/>
          </a:ln>
          <a:effectLst>
            <a:outerShdw blurRad="127000" dist="12700" dir="5400000" algn="bl" rotWithShape="0">
              <a:srgbClr val="C9C0B4">
                <a:alpha val="30000"/>
              </a:srgbClr>
            </a:outerShdw>
          </a:effectLst>
        </p:spPr>
        <p:txBody>
          <a:bodyPr/>
          <a:lstStyle/>
          <a:p>
            <a:endParaRPr lang="en-JO"/>
          </a:p>
        </p:txBody>
      </p:sp>
      <p:sp>
        <p:nvSpPr>
          <p:cNvPr id="33" name="Text 31"/>
          <p:cNvSpPr/>
          <p:nvPr/>
        </p:nvSpPr>
        <p:spPr>
          <a:xfrm>
            <a:off x="886968" y="5047488"/>
            <a:ext cx="10415016" cy="914400"/>
          </a:xfrm>
          <a:prstGeom prst="rect">
            <a:avLst/>
          </a:prstGeom>
          <a:noFill/>
          <a:ln/>
        </p:spPr>
        <p:txBody>
          <a:bodyPr wrap="square" lIns="0" tIns="0" rIns="0" bIns="0" rtlCol="0" anchor="ctr"/>
          <a:lstStyle/>
          <a:p>
            <a:pPr marL="0" indent="0">
              <a:buNone/>
            </a:pPr>
            <a:r>
              <a:rPr lang="en-US" sz="1350" b="1" dirty="0">
                <a:solidFill>
                  <a:srgbClr val="1C1917"/>
                </a:solidFill>
                <a:latin typeface="Calibri" pitchFamily="34" charset="0"/>
                <a:ea typeface="Calibri" pitchFamily="34" charset="-122"/>
                <a:cs typeface="Calibri" pitchFamily="34" charset="-120"/>
              </a:rPr>
              <a:t>Two surfaces, one model.  </a:t>
            </a:r>
            <a:r>
              <a:rPr lang="en-US" sz="1350" dirty="0">
                <a:solidFill>
                  <a:srgbClr val="514C46"/>
                </a:solidFill>
                <a:latin typeface="Calibri" pitchFamily="34" charset="0"/>
                <a:ea typeface="Calibri" pitchFamily="34" charset="-122"/>
                <a:cs typeface="Calibri" pitchFamily="34" charset="-120"/>
              </a:rPr>
              <a:t>The household app and the investor dashboard read the same trained model and the same cleaned dataset — so they can never disagree.</a:t>
            </a:r>
            <a:endParaRPr lang="en-US" sz="1350" dirty="0"/>
          </a:p>
        </p:txBody>
      </p:sp>
      <p:sp>
        <p:nvSpPr>
          <p:cNvPr id="34" name="Shape 32"/>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35" name="Text 33"/>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36" name="Text 34"/>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03 · THE DATA</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Where the Data Comes From</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NASA POWER — satellite weather and solar data for any point on Earth.</a:t>
            </a:r>
            <a:endParaRPr lang="en-US" sz="1350" dirty="0"/>
          </a:p>
        </p:txBody>
      </p:sp>
      <p:sp>
        <p:nvSpPr>
          <p:cNvPr id="5" name="Shape 3"/>
          <p:cNvSpPr/>
          <p:nvPr/>
        </p:nvSpPr>
        <p:spPr>
          <a:xfrm>
            <a:off x="566928" y="1700784"/>
            <a:ext cx="3063240" cy="1298448"/>
          </a:xfrm>
          <a:prstGeom prst="roundRect">
            <a:avLst>
              <a:gd name="adj" fmla="val 6338"/>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6" name="Text 4"/>
          <p:cNvSpPr/>
          <p:nvPr/>
        </p:nvSpPr>
        <p:spPr>
          <a:xfrm>
            <a:off x="566928" y="1847088"/>
            <a:ext cx="3063240" cy="502920"/>
          </a:xfrm>
          <a:prstGeom prst="rect">
            <a:avLst/>
          </a:prstGeom>
          <a:noFill/>
          <a:ln/>
        </p:spPr>
        <p:txBody>
          <a:bodyPr wrap="square" lIns="0" tIns="0" rIns="0" bIns="0" rtlCol="0" anchor="ctr"/>
          <a:lstStyle/>
          <a:p>
            <a:pPr marL="0" indent="0" algn="ctr">
              <a:buNone/>
            </a:pPr>
            <a:r>
              <a:rPr lang="en-US" sz="2800" b="1" dirty="0">
                <a:solidFill>
                  <a:srgbClr val="A06B08"/>
                </a:solidFill>
                <a:latin typeface="Cambria" pitchFamily="34" charset="0"/>
                <a:ea typeface="Cambria" pitchFamily="34" charset="-122"/>
                <a:cs typeface="Cambria" pitchFamily="34" charset="-120"/>
              </a:rPr>
              <a:t>285,699</a:t>
            </a:r>
            <a:endParaRPr lang="en-US" sz="2800" dirty="0"/>
          </a:p>
        </p:txBody>
      </p:sp>
      <p:sp>
        <p:nvSpPr>
          <p:cNvPr id="7" name="Text 5"/>
          <p:cNvSpPr/>
          <p:nvPr/>
        </p:nvSpPr>
        <p:spPr>
          <a:xfrm>
            <a:off x="658368" y="2368296"/>
            <a:ext cx="2880360"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Records after cleaning</a:t>
            </a:r>
            <a:endParaRPr lang="en-US" sz="1050" dirty="0"/>
          </a:p>
        </p:txBody>
      </p:sp>
      <p:sp>
        <p:nvSpPr>
          <p:cNvPr id="8" name="Shape 6"/>
          <p:cNvSpPr/>
          <p:nvPr/>
        </p:nvSpPr>
        <p:spPr>
          <a:xfrm>
            <a:off x="3904488" y="1700784"/>
            <a:ext cx="3063240" cy="1298448"/>
          </a:xfrm>
          <a:prstGeom prst="roundRect">
            <a:avLst>
              <a:gd name="adj" fmla="val 6338"/>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9" name="Text 7"/>
          <p:cNvSpPr/>
          <p:nvPr/>
        </p:nvSpPr>
        <p:spPr>
          <a:xfrm>
            <a:off x="3904488" y="1847088"/>
            <a:ext cx="3063240" cy="502920"/>
          </a:xfrm>
          <a:prstGeom prst="rect">
            <a:avLst/>
          </a:prstGeom>
          <a:noFill/>
          <a:ln/>
        </p:spPr>
        <p:txBody>
          <a:bodyPr wrap="square" lIns="0" tIns="0" rIns="0" bIns="0" rtlCol="0" anchor="ctr"/>
          <a:lstStyle/>
          <a:p>
            <a:pPr marL="0" indent="0" algn="ctr">
              <a:buNone/>
            </a:pPr>
            <a:r>
              <a:rPr lang="en-US" sz="2800" b="1" dirty="0">
                <a:solidFill>
                  <a:srgbClr val="1C1917"/>
                </a:solidFill>
                <a:latin typeface="Cambria" pitchFamily="34" charset="0"/>
                <a:ea typeface="Cambria" pitchFamily="34" charset="-122"/>
                <a:cs typeface="Cambria" pitchFamily="34" charset="-120"/>
              </a:rPr>
              <a:t>131</a:t>
            </a:r>
            <a:endParaRPr lang="en-US" sz="2800" dirty="0"/>
          </a:p>
        </p:txBody>
      </p:sp>
      <p:sp>
        <p:nvSpPr>
          <p:cNvPr id="10" name="Text 8"/>
          <p:cNvSpPr/>
          <p:nvPr/>
        </p:nvSpPr>
        <p:spPr>
          <a:xfrm>
            <a:off x="3995928" y="2368296"/>
            <a:ext cx="2880360"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Locations across Jordan</a:t>
            </a:r>
            <a:endParaRPr lang="en-US" sz="1050" dirty="0"/>
          </a:p>
        </p:txBody>
      </p:sp>
      <p:sp>
        <p:nvSpPr>
          <p:cNvPr id="11" name="Shape 9"/>
          <p:cNvSpPr/>
          <p:nvPr/>
        </p:nvSpPr>
        <p:spPr>
          <a:xfrm>
            <a:off x="566928" y="3145536"/>
            <a:ext cx="3063240" cy="1298448"/>
          </a:xfrm>
          <a:prstGeom prst="roundRect">
            <a:avLst>
              <a:gd name="adj" fmla="val 6338"/>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2" name="Text 10"/>
          <p:cNvSpPr/>
          <p:nvPr/>
        </p:nvSpPr>
        <p:spPr>
          <a:xfrm>
            <a:off x="566928" y="3291840"/>
            <a:ext cx="3063240" cy="502920"/>
          </a:xfrm>
          <a:prstGeom prst="rect">
            <a:avLst/>
          </a:prstGeom>
          <a:noFill/>
          <a:ln/>
        </p:spPr>
        <p:txBody>
          <a:bodyPr wrap="square" lIns="0" tIns="0" rIns="0" bIns="0" rtlCol="0" anchor="ctr"/>
          <a:lstStyle/>
          <a:p>
            <a:pPr marL="0" indent="0" algn="ctr">
              <a:buNone/>
            </a:pPr>
            <a:r>
              <a:rPr lang="en-US" sz="2800" b="1" dirty="0">
                <a:solidFill>
                  <a:srgbClr val="1C1917"/>
                </a:solidFill>
                <a:latin typeface="Cambria" pitchFamily="34" charset="0"/>
                <a:ea typeface="Cambria" pitchFamily="34" charset="-122"/>
                <a:cs typeface="Cambria" pitchFamily="34" charset="-120"/>
              </a:rPr>
              <a:t>6</a:t>
            </a:r>
            <a:endParaRPr lang="en-US" sz="2800" dirty="0"/>
          </a:p>
        </p:txBody>
      </p:sp>
      <p:sp>
        <p:nvSpPr>
          <p:cNvPr id="13" name="Text 11"/>
          <p:cNvSpPr/>
          <p:nvPr/>
        </p:nvSpPr>
        <p:spPr>
          <a:xfrm>
            <a:off x="658368" y="3813048"/>
            <a:ext cx="2880360"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Years  ·  2020 – 2025</a:t>
            </a:r>
            <a:endParaRPr lang="en-US" sz="1050" dirty="0"/>
          </a:p>
        </p:txBody>
      </p:sp>
      <p:sp>
        <p:nvSpPr>
          <p:cNvPr id="14" name="Shape 12"/>
          <p:cNvSpPr/>
          <p:nvPr/>
        </p:nvSpPr>
        <p:spPr>
          <a:xfrm>
            <a:off x="3904488" y="3145536"/>
            <a:ext cx="3063240" cy="1298448"/>
          </a:xfrm>
          <a:prstGeom prst="roundRect">
            <a:avLst>
              <a:gd name="adj" fmla="val 6338"/>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15" name="Text 13"/>
          <p:cNvSpPr/>
          <p:nvPr/>
        </p:nvSpPr>
        <p:spPr>
          <a:xfrm>
            <a:off x="3904488" y="3291840"/>
            <a:ext cx="3063240" cy="502920"/>
          </a:xfrm>
          <a:prstGeom prst="rect">
            <a:avLst/>
          </a:prstGeom>
          <a:noFill/>
          <a:ln/>
        </p:spPr>
        <p:txBody>
          <a:bodyPr wrap="square" lIns="0" tIns="0" rIns="0" bIns="0" rtlCol="0" anchor="ctr"/>
          <a:lstStyle/>
          <a:p>
            <a:pPr marL="0" indent="0" algn="ctr">
              <a:buNone/>
            </a:pPr>
            <a:r>
              <a:rPr lang="en-US" sz="2800" b="1" dirty="0">
                <a:solidFill>
                  <a:srgbClr val="A06B08"/>
                </a:solidFill>
                <a:latin typeface="Cambria" pitchFamily="34" charset="0"/>
                <a:ea typeface="Cambria" pitchFamily="34" charset="-122"/>
                <a:cs typeface="Cambria" pitchFamily="34" charset="-120"/>
              </a:rPr>
              <a:t>7</a:t>
            </a:r>
            <a:endParaRPr lang="en-US" sz="2800" dirty="0"/>
          </a:p>
        </p:txBody>
      </p:sp>
      <p:sp>
        <p:nvSpPr>
          <p:cNvPr id="16" name="Text 14"/>
          <p:cNvSpPr/>
          <p:nvPr/>
        </p:nvSpPr>
        <p:spPr>
          <a:xfrm>
            <a:off x="3995928" y="3813048"/>
            <a:ext cx="2880360"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Weather variables per day</a:t>
            </a:r>
            <a:endParaRPr lang="en-US" sz="1050" dirty="0"/>
          </a:p>
        </p:txBody>
      </p:sp>
      <p:sp>
        <p:nvSpPr>
          <p:cNvPr id="17" name="Shape 15"/>
          <p:cNvSpPr/>
          <p:nvPr/>
        </p:nvSpPr>
        <p:spPr>
          <a:xfrm>
            <a:off x="7223760" y="1700784"/>
            <a:ext cx="4398264" cy="2743200"/>
          </a:xfrm>
          <a:prstGeom prst="roundRect">
            <a:avLst>
              <a:gd name="adj" fmla="val 3000"/>
            </a:avLst>
          </a:prstGeom>
          <a:solidFill>
            <a:srgbClr val="FFFFFF"/>
          </a:solidFill>
          <a:ln w="12700">
            <a:solidFill>
              <a:srgbClr val="E7E3DC"/>
            </a:solidFill>
            <a:prstDash val="solid"/>
          </a:ln>
          <a:effectLst>
            <a:outerShdw blurRad="127000" dist="12700" dir="5400000" algn="bl" rotWithShape="0">
              <a:srgbClr val="C9C0B4">
                <a:alpha val="30000"/>
              </a:srgbClr>
            </a:outerShdw>
          </a:effectLst>
        </p:spPr>
        <p:txBody>
          <a:bodyPr/>
          <a:lstStyle/>
          <a:p>
            <a:endParaRPr lang="en-JO"/>
          </a:p>
        </p:txBody>
      </p:sp>
      <p:sp>
        <p:nvSpPr>
          <p:cNvPr id="18" name="Text 16"/>
          <p:cNvSpPr/>
          <p:nvPr/>
        </p:nvSpPr>
        <p:spPr>
          <a:xfrm>
            <a:off x="7479792" y="1883664"/>
            <a:ext cx="3931920" cy="310896"/>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Why we chose it</a:t>
            </a:r>
            <a:endParaRPr lang="en-US" sz="1700" dirty="0"/>
          </a:p>
        </p:txBody>
      </p:sp>
      <p:sp>
        <p:nvSpPr>
          <p:cNvPr id="19" name="Text 17"/>
          <p:cNvSpPr/>
          <p:nvPr/>
        </p:nvSpPr>
        <p:spPr>
          <a:xfrm>
            <a:off x="7479792" y="2286000"/>
            <a:ext cx="3913632" cy="201168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514C46"/>
                </a:solidFill>
                <a:latin typeface="Calibri" pitchFamily="34" charset="0"/>
                <a:ea typeface="Calibri" pitchFamily="34" charset="-122"/>
                <a:cs typeface="Calibri" pitchFamily="34" charset="-120"/>
              </a:rPr>
              <a:t>Covers every coordinate in Jordan — not just a few weather stations.</a:t>
            </a:r>
            <a:endParaRPr lang="en-US" sz="1250" dirty="0"/>
          </a:p>
          <a:p>
            <a:pPr marL="342900" indent="-342900">
              <a:lnSpc>
                <a:spcPts val="1700"/>
              </a:lnSpc>
              <a:spcAft>
                <a:spcPts val="700"/>
              </a:spcAft>
              <a:buSzPct val="100000"/>
              <a:buChar char="•"/>
            </a:pPr>
            <a:r>
              <a:rPr lang="en-US" sz="1250" dirty="0">
                <a:solidFill>
                  <a:srgbClr val="514C46"/>
                </a:solidFill>
                <a:latin typeface="Calibri" pitchFamily="34" charset="0"/>
                <a:ea typeface="Calibri" pitchFamily="34" charset="-122"/>
                <a:cs typeface="Calibri" pitchFamily="34" charset="-120"/>
              </a:rPr>
              <a:t>Gives the same variables at prediction time as it did at training time.</a:t>
            </a:r>
            <a:endParaRPr lang="en-US" sz="1250" dirty="0"/>
          </a:p>
          <a:p>
            <a:pPr marL="342900" indent="-342900">
              <a:lnSpc>
                <a:spcPts val="1700"/>
              </a:lnSpc>
              <a:spcAft>
                <a:spcPts val="700"/>
              </a:spcAft>
              <a:buSzPct val="100000"/>
              <a:buChar char="•"/>
            </a:pPr>
            <a:r>
              <a:rPr lang="en-US" sz="1250" dirty="0">
                <a:solidFill>
                  <a:srgbClr val="514C46"/>
                </a:solidFill>
                <a:latin typeface="Calibri" pitchFamily="34" charset="0"/>
                <a:ea typeface="Calibri" pitchFamily="34" charset="-122"/>
                <a:cs typeface="Calibri" pitchFamily="34" charset="-120"/>
              </a:rPr>
              <a:t>Free, well documented, and needs no registration.</a:t>
            </a:r>
            <a:endParaRPr lang="en-US" sz="1250" dirty="0"/>
          </a:p>
          <a:p>
            <a:pPr marL="342900" indent="-342900">
              <a:lnSpc>
                <a:spcPts val="1700"/>
              </a:lnSpc>
              <a:spcAft>
                <a:spcPts val="700"/>
              </a:spcAft>
              <a:buSzPct val="100000"/>
              <a:buChar char="•"/>
            </a:pPr>
            <a:r>
              <a:rPr lang="en-US" sz="1250" dirty="0">
                <a:solidFill>
                  <a:srgbClr val="514C46"/>
                </a:solidFill>
                <a:latin typeface="Calibri" pitchFamily="34" charset="0"/>
                <a:ea typeface="Calibri" pitchFamily="34" charset="-122"/>
                <a:cs typeface="Calibri" pitchFamily="34" charset="-120"/>
              </a:rPr>
              <a:t>A regular grid, so no district is favoured just for having a weather station nearby.</a:t>
            </a:r>
            <a:endParaRPr lang="en-US" sz="1250" dirty="0"/>
          </a:p>
        </p:txBody>
      </p:sp>
      <p:sp>
        <p:nvSpPr>
          <p:cNvPr id="20" name="Shape 18"/>
          <p:cNvSpPr/>
          <p:nvPr/>
        </p:nvSpPr>
        <p:spPr>
          <a:xfrm>
            <a:off x="7223760" y="4590288"/>
            <a:ext cx="4398264" cy="1371600"/>
          </a:xfrm>
          <a:prstGeom prst="roundRect">
            <a:avLst>
              <a:gd name="adj" fmla="val 6000"/>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21" name="Text 19"/>
          <p:cNvSpPr/>
          <p:nvPr/>
        </p:nvSpPr>
        <p:spPr>
          <a:xfrm>
            <a:off x="7479792" y="4736592"/>
            <a:ext cx="3931920" cy="274320"/>
          </a:xfrm>
          <a:prstGeom prst="rect">
            <a:avLst/>
          </a:prstGeom>
          <a:noFill/>
          <a:ln/>
        </p:spPr>
        <p:txBody>
          <a:bodyPr wrap="square" lIns="0" tIns="0" rIns="0" bIns="0" rtlCol="0" anchor="ctr"/>
          <a:lstStyle/>
          <a:p>
            <a:pPr marL="0" indent="0">
              <a:buNone/>
            </a:pPr>
            <a:r>
              <a:rPr lang="en-US" sz="1100" b="1" kern="0" spc="100" dirty="0">
                <a:solidFill>
                  <a:srgbClr val="A06B08"/>
                </a:solidFill>
                <a:latin typeface="Calibri" pitchFamily="34" charset="0"/>
                <a:ea typeface="Calibri" pitchFamily="34" charset="-122"/>
                <a:cs typeface="Calibri" pitchFamily="34" charset="-120"/>
              </a:rPr>
              <a:t>The seven variables</a:t>
            </a:r>
            <a:endParaRPr lang="en-US" sz="1100" dirty="0"/>
          </a:p>
        </p:txBody>
      </p:sp>
      <p:sp>
        <p:nvSpPr>
          <p:cNvPr id="22" name="Text 20"/>
          <p:cNvSpPr/>
          <p:nvPr/>
        </p:nvSpPr>
        <p:spPr>
          <a:xfrm>
            <a:off x="7479792" y="5047488"/>
            <a:ext cx="3931920" cy="731520"/>
          </a:xfrm>
          <a:prstGeom prst="rect">
            <a:avLst/>
          </a:prstGeom>
          <a:noFill/>
          <a:ln/>
        </p:spPr>
        <p:txBody>
          <a:bodyPr wrap="square" lIns="0" tIns="0" rIns="0" bIns="0" rtlCol="0" anchor="ctr"/>
          <a:lstStyle/>
          <a:p>
            <a:pPr marL="0" indent="0">
              <a:lnSpc>
                <a:spcPts val="1900"/>
              </a:lnSpc>
              <a:buNone/>
            </a:pPr>
            <a:r>
              <a:rPr lang="en-US" sz="1250" dirty="0">
                <a:solidFill>
                  <a:srgbClr val="514C46"/>
                </a:solidFill>
                <a:latin typeface="Calibri" pitchFamily="34" charset="0"/>
                <a:ea typeface="Calibri" pitchFamily="34" charset="-122"/>
                <a:cs typeface="Calibri" pitchFamily="34" charset="-120"/>
              </a:rPr>
              <a:t>sunlight  ·  clear-sky sunlight  ·  cloud cover</a:t>
            </a:r>
            <a:endParaRPr lang="en-US" sz="1250" dirty="0"/>
          </a:p>
          <a:p>
            <a:pPr marL="0" indent="0">
              <a:lnSpc>
                <a:spcPts val="1900"/>
              </a:lnSpc>
              <a:buNone/>
            </a:pPr>
            <a:r>
              <a:rPr lang="en-US" sz="1250" dirty="0">
                <a:solidFill>
                  <a:srgbClr val="514C46"/>
                </a:solidFill>
                <a:latin typeface="Calibri" pitchFamily="34" charset="0"/>
                <a:ea typeface="Calibri" pitchFamily="34" charset="-122"/>
                <a:cs typeface="Calibri" pitchFamily="34" charset="-120"/>
              </a:rPr>
              <a:t>temperature  ·  humidity  ·  wind  ·  rainfall</a:t>
            </a:r>
            <a:endParaRPr lang="en-US" sz="1250" dirty="0"/>
          </a:p>
        </p:txBody>
      </p:sp>
      <p:sp>
        <p:nvSpPr>
          <p:cNvPr id="23" name="Shape 21"/>
          <p:cNvSpPr/>
          <p:nvPr/>
        </p:nvSpPr>
        <p:spPr>
          <a:xfrm>
            <a:off x="566928" y="4590288"/>
            <a:ext cx="6400800" cy="1371600"/>
          </a:xfrm>
          <a:prstGeom prst="roundRect">
            <a:avLst>
              <a:gd name="adj" fmla="val 6000"/>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24" name="Text 22"/>
          <p:cNvSpPr/>
          <p:nvPr/>
        </p:nvSpPr>
        <p:spPr>
          <a:xfrm>
            <a:off x="841248" y="4590288"/>
            <a:ext cx="5852160" cy="1371600"/>
          </a:xfrm>
          <a:prstGeom prst="rect">
            <a:avLst/>
          </a:prstGeom>
          <a:noFill/>
          <a:ln/>
        </p:spPr>
        <p:txBody>
          <a:bodyPr wrap="square" lIns="0" tIns="0" rIns="0" bIns="0" rtlCol="0" anchor="ctr"/>
          <a:lstStyle/>
          <a:p>
            <a:pPr marL="0" indent="0">
              <a:lnSpc>
                <a:spcPts val="1700"/>
              </a:lnSpc>
              <a:buNone/>
            </a:pPr>
            <a:r>
              <a:rPr lang="en-US" sz="1200" b="1" dirty="0">
                <a:solidFill>
                  <a:srgbClr val="A06B08"/>
                </a:solidFill>
                <a:latin typeface="Calibri" pitchFamily="34" charset="0"/>
                <a:ea typeface="Calibri" pitchFamily="34" charset="-122"/>
                <a:cs typeface="Calibri" pitchFamily="34" charset="-120"/>
              </a:rPr>
              <a:t>Addresses are handled too.  </a:t>
            </a:r>
            <a:r>
              <a:rPr lang="en-US" sz="1200" dirty="0">
                <a:solidFill>
                  <a:srgbClr val="514C46"/>
                </a:solidFill>
                <a:latin typeface="Calibri" pitchFamily="34" charset="0"/>
                <a:ea typeface="Calibri" pitchFamily="34" charset="-122"/>
                <a:cs typeface="Calibri" pitchFamily="34" charset="-120"/>
              </a:rPr>
              <a:t>OpenStreetMap Nominatim converts a typed address into coordinates and confirms the point falls inside Jordan, at one request per second as its usage policy requires.</a:t>
            </a:r>
            <a:endParaRPr lang="en-US" sz="1200" dirty="0"/>
          </a:p>
        </p:txBody>
      </p:sp>
      <p:sp>
        <p:nvSpPr>
          <p:cNvPr id="25" name="Shape 23"/>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26" name="Text 24"/>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27" name="Text 25"/>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03 · THE DATA</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Cleaning the Data</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Four steps, in order — and one of them is easy to miss.</a:t>
            </a:r>
            <a:endParaRPr lang="en-US" sz="1350" dirty="0"/>
          </a:p>
        </p:txBody>
      </p:sp>
      <p:sp>
        <p:nvSpPr>
          <p:cNvPr id="5" name="Shape 3"/>
          <p:cNvSpPr/>
          <p:nvPr/>
        </p:nvSpPr>
        <p:spPr>
          <a:xfrm>
            <a:off x="566928" y="1700784"/>
            <a:ext cx="5335524" cy="1481328"/>
          </a:xfrm>
          <a:prstGeom prst="roundRect">
            <a:avLst>
              <a:gd name="adj" fmla="val 5556"/>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6" name="Shape 4"/>
          <p:cNvSpPr/>
          <p:nvPr/>
        </p:nvSpPr>
        <p:spPr>
          <a:xfrm>
            <a:off x="859536" y="1975104"/>
            <a:ext cx="310896" cy="310896"/>
          </a:xfrm>
          <a:prstGeom prst="ellipse">
            <a:avLst/>
          </a:prstGeom>
          <a:solidFill>
            <a:srgbClr val="BFB6A8"/>
          </a:solidFill>
          <a:ln w="6350">
            <a:solidFill>
              <a:srgbClr val="BFB6A8"/>
            </a:solidFill>
            <a:prstDash val="solid"/>
          </a:ln>
        </p:spPr>
        <p:txBody>
          <a:bodyPr/>
          <a:lstStyle/>
          <a:p>
            <a:endParaRPr lang="en-JO"/>
          </a:p>
        </p:txBody>
      </p:sp>
      <p:sp>
        <p:nvSpPr>
          <p:cNvPr id="7" name="Text 5"/>
          <p:cNvSpPr/>
          <p:nvPr/>
        </p:nvSpPr>
        <p:spPr>
          <a:xfrm>
            <a:off x="859536" y="1975104"/>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p:nvPr/>
        </p:nvSpPr>
        <p:spPr>
          <a:xfrm>
            <a:off x="1316736" y="1956816"/>
            <a:ext cx="4329684" cy="329184"/>
          </a:xfrm>
          <a:prstGeom prst="rect">
            <a:avLst/>
          </a:prstGeom>
          <a:noFill/>
          <a:ln/>
        </p:spPr>
        <p:txBody>
          <a:bodyPr wrap="square" lIns="0" tIns="0" rIns="0" bIns="0" rtlCol="0" anchor="ctr"/>
          <a:lstStyle/>
          <a:p>
            <a:pPr marL="0" indent="0">
              <a:buNone/>
            </a:pPr>
            <a:r>
              <a:rPr lang="en-US" sz="1650" b="1" dirty="0">
                <a:solidFill>
                  <a:srgbClr val="1C1917"/>
                </a:solidFill>
                <a:latin typeface="Cambria" pitchFamily="34" charset="0"/>
                <a:ea typeface="Cambria" pitchFamily="34" charset="-122"/>
                <a:cs typeface="Cambria" pitchFamily="34" charset="-120"/>
              </a:rPr>
              <a:t>Removed duplicates</a:t>
            </a:r>
            <a:endParaRPr lang="en-US" sz="1650" dirty="0"/>
          </a:p>
        </p:txBody>
      </p:sp>
      <p:sp>
        <p:nvSpPr>
          <p:cNvPr id="9" name="Text 7"/>
          <p:cNvSpPr/>
          <p:nvPr/>
        </p:nvSpPr>
        <p:spPr>
          <a:xfrm>
            <a:off x="1316736" y="2359152"/>
            <a:ext cx="4311396" cy="713232"/>
          </a:xfrm>
          <a:prstGeom prst="rect">
            <a:avLst/>
          </a:prstGeom>
          <a:noFill/>
          <a:ln/>
        </p:spPr>
        <p:txBody>
          <a:bodyPr wrap="square" lIns="0" tIns="0" rIns="0" bIns="0" rtlCol="0" anchor="ctr"/>
          <a:lstStyle/>
          <a:p>
            <a:pPr marL="0" indent="0">
              <a:lnSpc>
                <a:spcPts val="1600"/>
              </a:lnSpc>
              <a:buNone/>
            </a:pPr>
            <a:r>
              <a:rPr lang="en-US" sz="1200" dirty="0">
                <a:solidFill>
                  <a:srgbClr val="514C46"/>
                </a:solidFill>
                <a:latin typeface="Calibri" pitchFamily="34" charset="0"/>
                <a:ea typeface="Calibri" pitchFamily="34" charset="-122"/>
                <a:cs typeface="Calibri" pitchFamily="34" charset="-120"/>
              </a:rPr>
              <a:t>2,871 repeated records left behind by overlapping downloads.</a:t>
            </a:r>
            <a:endParaRPr lang="en-US" sz="1200" dirty="0"/>
          </a:p>
        </p:txBody>
      </p:sp>
      <p:sp>
        <p:nvSpPr>
          <p:cNvPr id="10" name="Shape 8"/>
          <p:cNvSpPr/>
          <p:nvPr/>
        </p:nvSpPr>
        <p:spPr>
          <a:xfrm>
            <a:off x="6286500" y="1700784"/>
            <a:ext cx="5335524" cy="1481328"/>
          </a:xfrm>
          <a:prstGeom prst="roundRect">
            <a:avLst>
              <a:gd name="adj" fmla="val 5556"/>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11" name="Shape 9"/>
          <p:cNvSpPr/>
          <p:nvPr/>
        </p:nvSpPr>
        <p:spPr>
          <a:xfrm>
            <a:off x="6579108" y="1975104"/>
            <a:ext cx="310896" cy="310896"/>
          </a:xfrm>
          <a:prstGeom prst="ellipse">
            <a:avLst/>
          </a:prstGeom>
          <a:solidFill>
            <a:srgbClr val="E09A16"/>
          </a:solidFill>
          <a:ln w="6350">
            <a:solidFill>
              <a:srgbClr val="E09A16"/>
            </a:solidFill>
            <a:prstDash val="solid"/>
          </a:ln>
        </p:spPr>
        <p:txBody>
          <a:bodyPr/>
          <a:lstStyle/>
          <a:p>
            <a:endParaRPr lang="en-JO"/>
          </a:p>
        </p:txBody>
      </p:sp>
      <p:sp>
        <p:nvSpPr>
          <p:cNvPr id="12" name="Text 10"/>
          <p:cNvSpPr/>
          <p:nvPr/>
        </p:nvSpPr>
        <p:spPr>
          <a:xfrm>
            <a:off x="6579108" y="1975104"/>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p:nvPr/>
        </p:nvSpPr>
        <p:spPr>
          <a:xfrm>
            <a:off x="7036308" y="1956816"/>
            <a:ext cx="4329684" cy="329184"/>
          </a:xfrm>
          <a:prstGeom prst="rect">
            <a:avLst/>
          </a:prstGeom>
          <a:noFill/>
          <a:ln/>
        </p:spPr>
        <p:txBody>
          <a:bodyPr wrap="square" lIns="0" tIns="0" rIns="0" bIns="0" rtlCol="0" anchor="ctr"/>
          <a:lstStyle/>
          <a:p>
            <a:pPr marL="0" indent="0">
              <a:buNone/>
            </a:pPr>
            <a:r>
              <a:rPr lang="en-US" sz="1650" b="1" dirty="0">
                <a:solidFill>
                  <a:srgbClr val="1C1917"/>
                </a:solidFill>
                <a:latin typeface="Cambria" pitchFamily="34" charset="0"/>
                <a:ea typeface="Cambria" pitchFamily="34" charset="-122"/>
                <a:cs typeface="Cambria" pitchFamily="34" charset="-120"/>
              </a:rPr>
              <a:t>Found hidden missing values</a:t>
            </a:r>
            <a:endParaRPr lang="en-US" sz="1650" dirty="0"/>
          </a:p>
        </p:txBody>
      </p:sp>
      <p:sp>
        <p:nvSpPr>
          <p:cNvPr id="14" name="Text 12"/>
          <p:cNvSpPr/>
          <p:nvPr/>
        </p:nvSpPr>
        <p:spPr>
          <a:xfrm>
            <a:off x="7036308" y="2359152"/>
            <a:ext cx="4311396" cy="713232"/>
          </a:xfrm>
          <a:prstGeom prst="rect">
            <a:avLst/>
          </a:prstGeom>
          <a:noFill/>
          <a:ln/>
        </p:spPr>
        <p:txBody>
          <a:bodyPr wrap="square" lIns="0" tIns="0" rIns="0" bIns="0" rtlCol="0" anchor="ctr"/>
          <a:lstStyle/>
          <a:p>
            <a:pPr marL="0" indent="0">
              <a:lnSpc>
                <a:spcPts val="1600"/>
              </a:lnSpc>
              <a:buNone/>
            </a:pPr>
            <a:r>
              <a:rPr lang="en-US" sz="1200" dirty="0">
                <a:solidFill>
                  <a:srgbClr val="514C46"/>
                </a:solidFill>
                <a:latin typeface="Calibri" pitchFamily="34" charset="0"/>
                <a:ea typeface="Calibri" pitchFamily="34" charset="-122"/>
                <a:cs typeface="Calibri" pitchFamily="34" charset="-120"/>
              </a:rPr>
              <a:t>NASA writes −999 instead of leaving a blank — 1,448 records. pandas reported no missing data, because −999 is a number.</a:t>
            </a:r>
            <a:endParaRPr lang="en-US" sz="1200" dirty="0"/>
          </a:p>
        </p:txBody>
      </p:sp>
      <p:sp>
        <p:nvSpPr>
          <p:cNvPr id="15" name="Shape 13"/>
          <p:cNvSpPr/>
          <p:nvPr/>
        </p:nvSpPr>
        <p:spPr>
          <a:xfrm>
            <a:off x="566928" y="3511296"/>
            <a:ext cx="5335524" cy="1481328"/>
          </a:xfrm>
          <a:prstGeom prst="roundRect">
            <a:avLst>
              <a:gd name="adj" fmla="val 5556"/>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6" name="Shape 14"/>
          <p:cNvSpPr/>
          <p:nvPr/>
        </p:nvSpPr>
        <p:spPr>
          <a:xfrm>
            <a:off x="859536" y="3785616"/>
            <a:ext cx="310896" cy="310896"/>
          </a:xfrm>
          <a:prstGeom prst="ellipse">
            <a:avLst/>
          </a:prstGeom>
          <a:solidFill>
            <a:srgbClr val="BFB6A8"/>
          </a:solidFill>
          <a:ln w="6350">
            <a:solidFill>
              <a:srgbClr val="BFB6A8"/>
            </a:solidFill>
            <a:prstDash val="solid"/>
          </a:ln>
        </p:spPr>
        <p:txBody>
          <a:bodyPr/>
          <a:lstStyle/>
          <a:p>
            <a:endParaRPr lang="en-JO"/>
          </a:p>
        </p:txBody>
      </p:sp>
      <p:sp>
        <p:nvSpPr>
          <p:cNvPr id="17" name="Text 15"/>
          <p:cNvSpPr/>
          <p:nvPr/>
        </p:nvSpPr>
        <p:spPr>
          <a:xfrm>
            <a:off x="859536" y="3785616"/>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p:nvPr/>
        </p:nvSpPr>
        <p:spPr>
          <a:xfrm>
            <a:off x="1316736" y="3767328"/>
            <a:ext cx="4329684" cy="329184"/>
          </a:xfrm>
          <a:prstGeom prst="rect">
            <a:avLst/>
          </a:prstGeom>
          <a:noFill/>
          <a:ln/>
        </p:spPr>
        <p:txBody>
          <a:bodyPr wrap="square" lIns="0" tIns="0" rIns="0" bIns="0" rtlCol="0" anchor="ctr"/>
          <a:lstStyle/>
          <a:p>
            <a:pPr marL="0" indent="0">
              <a:buNone/>
            </a:pPr>
            <a:r>
              <a:rPr lang="en-US" sz="1650" b="1" dirty="0">
                <a:solidFill>
                  <a:srgbClr val="1C1917"/>
                </a:solidFill>
                <a:latin typeface="Cambria" pitchFamily="34" charset="0"/>
                <a:ea typeface="Cambria" pitchFamily="34" charset="-122"/>
                <a:cs typeface="Cambria" pitchFamily="34" charset="-120"/>
              </a:rPr>
              <a:t>Removed impossible readings</a:t>
            </a:r>
            <a:endParaRPr lang="en-US" sz="1650" dirty="0"/>
          </a:p>
        </p:txBody>
      </p:sp>
      <p:sp>
        <p:nvSpPr>
          <p:cNvPr id="19" name="Text 17"/>
          <p:cNvSpPr/>
          <p:nvPr/>
        </p:nvSpPr>
        <p:spPr>
          <a:xfrm>
            <a:off x="1316736" y="4169664"/>
            <a:ext cx="4311396" cy="713232"/>
          </a:xfrm>
          <a:prstGeom prst="rect">
            <a:avLst/>
          </a:prstGeom>
          <a:noFill/>
          <a:ln/>
        </p:spPr>
        <p:txBody>
          <a:bodyPr wrap="square" lIns="0" tIns="0" rIns="0" bIns="0" rtlCol="0" anchor="ctr"/>
          <a:lstStyle/>
          <a:p>
            <a:pPr marL="0" indent="0">
              <a:lnSpc>
                <a:spcPts val="1600"/>
              </a:lnSpc>
              <a:buNone/>
            </a:pPr>
            <a:r>
              <a:rPr lang="en-US" sz="1200" dirty="0">
                <a:solidFill>
                  <a:srgbClr val="514C46"/>
                </a:solidFill>
                <a:latin typeface="Calibri" pitchFamily="34" charset="0"/>
                <a:ea typeface="Calibri" pitchFamily="34" charset="-122"/>
                <a:cs typeface="Calibri" pitchFamily="34" charset="-120"/>
              </a:rPr>
              <a:t>Temperatures of 150 °C and −80 °C. Only 5 records in total.</a:t>
            </a:r>
            <a:endParaRPr lang="en-US" sz="1200" dirty="0"/>
          </a:p>
        </p:txBody>
      </p:sp>
      <p:sp>
        <p:nvSpPr>
          <p:cNvPr id="20" name="Shape 18"/>
          <p:cNvSpPr/>
          <p:nvPr/>
        </p:nvSpPr>
        <p:spPr>
          <a:xfrm>
            <a:off x="6286500" y="3511296"/>
            <a:ext cx="5335524" cy="1481328"/>
          </a:xfrm>
          <a:prstGeom prst="roundRect">
            <a:avLst>
              <a:gd name="adj" fmla="val 5556"/>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21" name="Shape 19"/>
          <p:cNvSpPr/>
          <p:nvPr/>
        </p:nvSpPr>
        <p:spPr>
          <a:xfrm>
            <a:off x="6579108" y="3785616"/>
            <a:ext cx="310896" cy="310896"/>
          </a:xfrm>
          <a:prstGeom prst="ellipse">
            <a:avLst/>
          </a:prstGeom>
          <a:solidFill>
            <a:srgbClr val="BFB6A8"/>
          </a:solidFill>
          <a:ln w="6350">
            <a:solidFill>
              <a:srgbClr val="BFB6A8"/>
            </a:solidFill>
            <a:prstDash val="solid"/>
          </a:ln>
        </p:spPr>
        <p:txBody>
          <a:bodyPr/>
          <a:lstStyle/>
          <a:p>
            <a:endParaRPr lang="en-JO"/>
          </a:p>
        </p:txBody>
      </p:sp>
      <p:sp>
        <p:nvSpPr>
          <p:cNvPr id="22" name="Text 20"/>
          <p:cNvSpPr/>
          <p:nvPr/>
        </p:nvSpPr>
        <p:spPr>
          <a:xfrm>
            <a:off x="6579108" y="3785616"/>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p:nvPr/>
        </p:nvSpPr>
        <p:spPr>
          <a:xfrm>
            <a:off x="7036308" y="3767328"/>
            <a:ext cx="4329684" cy="329184"/>
          </a:xfrm>
          <a:prstGeom prst="rect">
            <a:avLst/>
          </a:prstGeom>
          <a:noFill/>
          <a:ln/>
        </p:spPr>
        <p:txBody>
          <a:bodyPr wrap="square" lIns="0" tIns="0" rIns="0" bIns="0" rtlCol="0" anchor="ctr"/>
          <a:lstStyle/>
          <a:p>
            <a:pPr marL="0" indent="0">
              <a:buNone/>
            </a:pPr>
            <a:r>
              <a:rPr lang="en-US" sz="1650" b="1" dirty="0">
                <a:solidFill>
                  <a:srgbClr val="1C1917"/>
                </a:solidFill>
                <a:latin typeface="Cambria" pitchFamily="34" charset="0"/>
                <a:ea typeface="Cambria" pitchFamily="34" charset="-122"/>
                <a:cs typeface="Cambria" pitchFamily="34" charset="-120"/>
              </a:rPr>
              <a:t>Prepared for the model</a:t>
            </a:r>
            <a:endParaRPr lang="en-US" sz="1650" dirty="0"/>
          </a:p>
        </p:txBody>
      </p:sp>
      <p:sp>
        <p:nvSpPr>
          <p:cNvPr id="24" name="Text 22"/>
          <p:cNvSpPr/>
          <p:nvPr/>
        </p:nvSpPr>
        <p:spPr>
          <a:xfrm>
            <a:off x="7036308" y="4169664"/>
            <a:ext cx="4311396" cy="713232"/>
          </a:xfrm>
          <a:prstGeom prst="rect">
            <a:avLst/>
          </a:prstGeom>
          <a:noFill/>
          <a:ln/>
        </p:spPr>
        <p:txBody>
          <a:bodyPr wrap="square" lIns="0" tIns="0" rIns="0" bIns="0" rtlCol="0" anchor="ctr"/>
          <a:lstStyle/>
          <a:p>
            <a:pPr marL="0" indent="0">
              <a:lnSpc>
                <a:spcPts val="1600"/>
              </a:lnSpc>
              <a:buNone/>
            </a:pPr>
            <a:r>
              <a:rPr lang="en-US" sz="1200" dirty="0">
                <a:solidFill>
                  <a:srgbClr val="514C46"/>
                </a:solidFill>
                <a:latin typeface="Calibri" pitchFamily="34" charset="0"/>
                <a:ea typeface="Calibri" pitchFamily="34" charset="-122"/>
                <a:cs typeface="Calibri" pitchFamily="34" charset="-120"/>
              </a:rPr>
              <a:t>Converted dates, encoded the season, and built the prediction target.</a:t>
            </a:r>
            <a:endParaRPr lang="en-US" sz="1200" dirty="0"/>
          </a:p>
        </p:txBody>
      </p:sp>
      <p:sp>
        <p:nvSpPr>
          <p:cNvPr id="25" name="Shape 23"/>
          <p:cNvSpPr/>
          <p:nvPr/>
        </p:nvSpPr>
        <p:spPr>
          <a:xfrm>
            <a:off x="566928" y="5138928"/>
            <a:ext cx="11055096" cy="841248"/>
          </a:xfrm>
          <a:prstGeom prst="roundRect">
            <a:avLst>
              <a:gd name="adj" fmla="val 9783"/>
            </a:avLst>
          </a:prstGeom>
          <a:solidFill>
            <a:srgbClr val="FFFFFF"/>
          </a:solidFill>
          <a:ln w="12700">
            <a:solidFill>
              <a:srgbClr val="E7E3DC"/>
            </a:solidFill>
            <a:prstDash val="solid"/>
          </a:ln>
          <a:effectLst>
            <a:outerShdw blurRad="127000" dist="12700" dir="5400000" algn="bl" rotWithShape="0">
              <a:srgbClr val="C9C0B4">
                <a:alpha val="30000"/>
              </a:srgbClr>
            </a:outerShdw>
          </a:effectLst>
        </p:spPr>
        <p:txBody>
          <a:bodyPr/>
          <a:lstStyle/>
          <a:p>
            <a:endParaRPr lang="en-JO"/>
          </a:p>
        </p:txBody>
      </p:sp>
      <p:sp>
        <p:nvSpPr>
          <p:cNvPr id="26" name="Text 24"/>
          <p:cNvSpPr/>
          <p:nvPr/>
        </p:nvSpPr>
        <p:spPr>
          <a:xfrm>
            <a:off x="932688" y="5257800"/>
            <a:ext cx="3441192" cy="329184"/>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290,023  →  285,699</a:t>
            </a:r>
            <a:endParaRPr lang="en-US" sz="1700" dirty="0"/>
          </a:p>
        </p:txBody>
      </p:sp>
      <p:sp>
        <p:nvSpPr>
          <p:cNvPr id="27" name="Text 25"/>
          <p:cNvSpPr/>
          <p:nvPr/>
        </p:nvSpPr>
        <p:spPr>
          <a:xfrm>
            <a:off x="932688" y="5586984"/>
            <a:ext cx="3441192" cy="274320"/>
          </a:xfrm>
          <a:prstGeom prst="rect">
            <a:avLst/>
          </a:prstGeom>
          <a:noFill/>
          <a:ln/>
        </p:spPr>
        <p:txBody>
          <a:bodyPr wrap="square" lIns="0" tIns="0" rIns="0" bIns="0" rtlCol="0" anchor="ctr"/>
          <a:lstStyle/>
          <a:p>
            <a:pPr marL="0" indent="0">
              <a:buNone/>
            </a:pPr>
            <a:r>
              <a:rPr lang="en-US" sz="1100" dirty="0">
                <a:solidFill>
                  <a:srgbClr val="8C8279"/>
                </a:solidFill>
                <a:latin typeface="Calibri" pitchFamily="34" charset="0"/>
                <a:ea typeface="Calibri" pitchFamily="34" charset="-122"/>
                <a:cs typeface="Calibri" pitchFamily="34" charset="-120"/>
              </a:rPr>
              <a:t>records kept</a:t>
            </a:r>
            <a:endParaRPr lang="en-US" sz="1100" dirty="0"/>
          </a:p>
        </p:txBody>
      </p:sp>
      <p:sp>
        <p:nvSpPr>
          <p:cNvPr id="28" name="Text 26"/>
          <p:cNvSpPr/>
          <p:nvPr/>
        </p:nvSpPr>
        <p:spPr>
          <a:xfrm>
            <a:off x="4373880" y="5257800"/>
            <a:ext cx="3441192" cy="329184"/>
          </a:xfrm>
          <a:prstGeom prst="rect">
            <a:avLst/>
          </a:prstGeom>
          <a:noFill/>
          <a:ln/>
        </p:spPr>
        <p:txBody>
          <a:bodyPr wrap="square" lIns="0" tIns="0" rIns="0" bIns="0" rtlCol="0" anchor="ctr"/>
          <a:lstStyle/>
          <a:p>
            <a:pPr marL="0" indent="0">
              <a:buNone/>
            </a:pPr>
            <a:r>
              <a:rPr lang="en-US" sz="1700" b="1" dirty="0">
                <a:solidFill>
                  <a:srgbClr val="A06B08"/>
                </a:solidFill>
                <a:latin typeface="Cambria" pitchFamily="34" charset="0"/>
                <a:ea typeface="Cambria" pitchFamily="34" charset="-122"/>
                <a:cs typeface="Cambria" pitchFamily="34" charset="-120"/>
              </a:rPr>
              <a:t>1.49%</a:t>
            </a:r>
            <a:endParaRPr lang="en-US" sz="1700" dirty="0"/>
          </a:p>
        </p:txBody>
      </p:sp>
      <p:sp>
        <p:nvSpPr>
          <p:cNvPr id="29" name="Text 27"/>
          <p:cNvSpPr/>
          <p:nvPr/>
        </p:nvSpPr>
        <p:spPr>
          <a:xfrm>
            <a:off x="4373880" y="5586984"/>
            <a:ext cx="3441192" cy="274320"/>
          </a:xfrm>
          <a:prstGeom prst="rect">
            <a:avLst/>
          </a:prstGeom>
          <a:noFill/>
          <a:ln/>
        </p:spPr>
        <p:txBody>
          <a:bodyPr wrap="square" lIns="0" tIns="0" rIns="0" bIns="0" rtlCol="0" anchor="ctr"/>
          <a:lstStyle/>
          <a:p>
            <a:pPr marL="0" indent="0">
              <a:buNone/>
            </a:pPr>
            <a:r>
              <a:rPr lang="en-US" sz="1100" dirty="0">
                <a:solidFill>
                  <a:srgbClr val="8C8279"/>
                </a:solidFill>
                <a:latin typeface="Calibri" pitchFamily="34" charset="0"/>
                <a:ea typeface="Calibri" pitchFamily="34" charset="-122"/>
                <a:cs typeface="Calibri" pitchFamily="34" charset="-120"/>
              </a:rPr>
              <a:t>of rows removed</a:t>
            </a:r>
            <a:endParaRPr lang="en-US" sz="1100" dirty="0"/>
          </a:p>
        </p:txBody>
      </p:sp>
      <p:sp>
        <p:nvSpPr>
          <p:cNvPr id="30" name="Text 28"/>
          <p:cNvSpPr/>
          <p:nvPr/>
        </p:nvSpPr>
        <p:spPr>
          <a:xfrm>
            <a:off x="7815072" y="5257800"/>
            <a:ext cx="3441192" cy="329184"/>
          </a:xfrm>
          <a:prstGeom prst="rect">
            <a:avLst/>
          </a:prstGeom>
          <a:noFill/>
          <a:ln/>
        </p:spPr>
        <p:txBody>
          <a:bodyPr wrap="square" lIns="0" tIns="0" rIns="0" bIns="0" rtlCol="0" anchor="ctr"/>
          <a:lstStyle/>
          <a:p>
            <a:pPr marL="0" indent="0">
              <a:buNone/>
            </a:pPr>
            <a:r>
              <a:rPr lang="en-US" sz="1700" b="1" dirty="0">
                <a:solidFill>
                  <a:srgbClr val="A06B08"/>
                </a:solidFill>
                <a:latin typeface="Cambria" pitchFamily="34" charset="0"/>
                <a:ea typeface="Cambria" pitchFamily="34" charset="-122"/>
                <a:cs typeface="Cambria" pitchFamily="34" charset="-120"/>
              </a:rPr>
              <a:t>131 / 131</a:t>
            </a:r>
            <a:endParaRPr lang="en-US" sz="1700" dirty="0"/>
          </a:p>
        </p:txBody>
      </p:sp>
      <p:sp>
        <p:nvSpPr>
          <p:cNvPr id="31" name="Text 29"/>
          <p:cNvSpPr/>
          <p:nvPr/>
        </p:nvSpPr>
        <p:spPr>
          <a:xfrm>
            <a:off x="7815072" y="5586984"/>
            <a:ext cx="3441192" cy="274320"/>
          </a:xfrm>
          <a:prstGeom prst="rect">
            <a:avLst/>
          </a:prstGeom>
          <a:noFill/>
          <a:ln/>
        </p:spPr>
        <p:txBody>
          <a:bodyPr wrap="square" lIns="0" tIns="0" rIns="0" bIns="0" rtlCol="0" anchor="ctr"/>
          <a:lstStyle/>
          <a:p>
            <a:pPr marL="0" indent="0">
              <a:buNone/>
            </a:pPr>
            <a:r>
              <a:rPr lang="en-US" sz="1100" dirty="0">
                <a:solidFill>
                  <a:srgbClr val="8C8279"/>
                </a:solidFill>
                <a:latin typeface="Calibri" pitchFamily="34" charset="0"/>
                <a:ea typeface="Calibri" pitchFamily="34" charset="-122"/>
                <a:cs typeface="Calibri" pitchFamily="34" charset="-120"/>
              </a:rPr>
              <a:t>locations retained</a:t>
            </a:r>
            <a:endParaRPr lang="en-US" sz="1100" dirty="0"/>
          </a:p>
        </p:txBody>
      </p:sp>
      <p:sp>
        <p:nvSpPr>
          <p:cNvPr id="32" name="Shape 30"/>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33" name="Text 31"/>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34" name="Text 32"/>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04 · THE MODEL</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What the Model Predicts</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Daily energy per kilowatt-peak of installed panels — kWh/kWp/day.</a:t>
            </a:r>
            <a:endParaRPr lang="en-US" sz="1350" dirty="0"/>
          </a:p>
        </p:txBody>
      </p:sp>
      <p:sp>
        <p:nvSpPr>
          <p:cNvPr id="5" name="Shape 3"/>
          <p:cNvSpPr/>
          <p:nvPr/>
        </p:nvSpPr>
        <p:spPr>
          <a:xfrm>
            <a:off x="566928" y="1682496"/>
            <a:ext cx="11055096" cy="1078992"/>
          </a:xfrm>
          <a:prstGeom prst="roundRect">
            <a:avLst>
              <a:gd name="adj" fmla="val 7627"/>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6" name="Text 4"/>
          <p:cNvSpPr/>
          <p:nvPr/>
        </p:nvSpPr>
        <p:spPr>
          <a:xfrm>
            <a:off x="566928" y="1755648"/>
            <a:ext cx="11055096" cy="457200"/>
          </a:xfrm>
          <a:prstGeom prst="rect">
            <a:avLst/>
          </a:prstGeom>
          <a:noFill/>
          <a:ln/>
        </p:spPr>
        <p:txBody>
          <a:bodyPr wrap="square" lIns="0" tIns="0" rIns="0" bIns="0" rtlCol="0" anchor="ctr"/>
          <a:lstStyle/>
          <a:p>
            <a:pPr marL="0" indent="0" algn="ctr">
              <a:buNone/>
            </a:pPr>
            <a:r>
              <a:rPr lang="en-US" sz="2400" b="1" dirty="0">
                <a:solidFill>
                  <a:srgbClr val="1C1917"/>
                </a:solidFill>
                <a:latin typeface="Cambria" pitchFamily="34" charset="0"/>
                <a:ea typeface="Cambria" pitchFamily="34" charset="-122"/>
                <a:cs typeface="Cambria" pitchFamily="34" charset="-120"/>
              </a:rPr>
              <a:t>Energy   =   sunlight   ×   performance ratio</a:t>
            </a:r>
            <a:endParaRPr lang="en-US" sz="2400" dirty="0"/>
          </a:p>
        </p:txBody>
      </p:sp>
      <p:sp>
        <p:nvSpPr>
          <p:cNvPr id="7" name="Text 5"/>
          <p:cNvSpPr/>
          <p:nvPr/>
        </p:nvSpPr>
        <p:spPr>
          <a:xfrm>
            <a:off x="566928" y="2231136"/>
            <a:ext cx="11055096" cy="310896"/>
          </a:xfrm>
          <a:prstGeom prst="rect">
            <a:avLst/>
          </a:prstGeom>
          <a:noFill/>
          <a:ln/>
        </p:spPr>
        <p:txBody>
          <a:bodyPr wrap="square" lIns="0" tIns="0" rIns="0" bIns="0" rtlCol="0" anchor="ctr"/>
          <a:lstStyle/>
          <a:p>
            <a:pPr marL="0" indent="0" algn="ctr">
              <a:buNone/>
            </a:pPr>
            <a:r>
              <a:rPr lang="en-US" sz="1250" i="1" dirty="0">
                <a:solidFill>
                  <a:srgbClr val="A06B08"/>
                </a:solidFill>
                <a:latin typeface="Calibri" pitchFamily="34" charset="0"/>
                <a:ea typeface="Calibri" pitchFamily="34" charset="-122"/>
                <a:cs typeface="Calibri" pitchFamily="34" charset="-120"/>
              </a:rPr>
              <a:t>the performance ratio falls as the panel heats up</a:t>
            </a:r>
            <a:endParaRPr lang="en-US" sz="1250" dirty="0"/>
          </a:p>
        </p:txBody>
      </p:sp>
      <p:sp>
        <p:nvSpPr>
          <p:cNvPr id="8" name="Shape 6"/>
          <p:cNvSpPr/>
          <p:nvPr/>
        </p:nvSpPr>
        <p:spPr>
          <a:xfrm>
            <a:off x="566928" y="2999232"/>
            <a:ext cx="5358384" cy="2103120"/>
          </a:xfrm>
          <a:prstGeom prst="roundRect">
            <a:avLst>
              <a:gd name="adj" fmla="val 3913"/>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9" name="Text 7"/>
          <p:cNvSpPr/>
          <p:nvPr/>
        </p:nvSpPr>
        <p:spPr>
          <a:xfrm>
            <a:off x="841248" y="3163824"/>
            <a:ext cx="4846320" cy="310896"/>
          </a:xfrm>
          <a:prstGeom prst="rect">
            <a:avLst/>
          </a:prstGeom>
          <a:noFill/>
          <a:ln/>
        </p:spPr>
        <p:txBody>
          <a:bodyPr wrap="square" lIns="0" tIns="0" rIns="0" bIns="0" rtlCol="0" anchor="ctr"/>
          <a:lstStyle/>
          <a:p>
            <a:pPr marL="0" indent="0">
              <a:buNone/>
            </a:pPr>
            <a:r>
              <a:rPr lang="en-US" sz="1650" b="1" dirty="0">
                <a:solidFill>
                  <a:srgbClr val="1C1917"/>
                </a:solidFill>
                <a:latin typeface="Cambria" pitchFamily="34" charset="0"/>
                <a:ea typeface="Cambria" pitchFamily="34" charset="-122"/>
                <a:cs typeface="Cambria" pitchFamily="34" charset="-120"/>
              </a:rPr>
              <a:t>Heat reduces output</a:t>
            </a:r>
            <a:endParaRPr lang="en-US" sz="1650" dirty="0"/>
          </a:p>
        </p:txBody>
      </p:sp>
      <p:sp>
        <p:nvSpPr>
          <p:cNvPr id="10" name="Text 8"/>
          <p:cNvSpPr/>
          <p:nvPr/>
        </p:nvSpPr>
        <p:spPr>
          <a:xfrm>
            <a:off x="841248" y="3566160"/>
            <a:ext cx="4828032" cy="13716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514C46"/>
                </a:solidFill>
                <a:latin typeface="Calibri" pitchFamily="34" charset="0"/>
                <a:ea typeface="Calibri" pitchFamily="34" charset="-122"/>
                <a:cs typeface="Calibri" pitchFamily="34" charset="-120"/>
              </a:rPr>
              <a:t>A panel loses about 0.4% of its efficiency for every degree above 25 °C.</a:t>
            </a:r>
            <a:endParaRPr lang="en-US" sz="1250" dirty="0"/>
          </a:p>
          <a:p>
            <a:pPr marL="342900" indent="-342900">
              <a:lnSpc>
                <a:spcPts val="1700"/>
              </a:lnSpc>
              <a:spcAft>
                <a:spcPts val="700"/>
              </a:spcAft>
              <a:buSzPct val="100000"/>
              <a:buChar char="•"/>
            </a:pPr>
            <a:r>
              <a:rPr lang="en-US" sz="1250" dirty="0">
                <a:solidFill>
                  <a:srgbClr val="514C46"/>
                </a:solidFill>
                <a:latin typeface="Calibri" pitchFamily="34" charset="0"/>
                <a:ea typeface="Calibri" pitchFamily="34" charset="-122"/>
                <a:cs typeface="Calibri" pitchFamily="34" charset="-120"/>
              </a:rPr>
              <a:t>Panels run hotter than the air — 27.4 °C on average, against 19.7 °C ambient.</a:t>
            </a:r>
            <a:endParaRPr lang="en-US" sz="1250" dirty="0"/>
          </a:p>
        </p:txBody>
      </p:sp>
      <p:sp>
        <p:nvSpPr>
          <p:cNvPr id="11" name="Shape 9"/>
          <p:cNvSpPr/>
          <p:nvPr/>
        </p:nvSpPr>
        <p:spPr>
          <a:xfrm>
            <a:off x="6025896" y="2999232"/>
            <a:ext cx="5358384" cy="2103120"/>
          </a:xfrm>
          <a:prstGeom prst="roundRect">
            <a:avLst>
              <a:gd name="adj" fmla="val 3913"/>
            </a:avLst>
          </a:prstGeom>
          <a:solidFill>
            <a:srgbClr val="EDF4EF"/>
          </a:solidFill>
          <a:ln w="9525">
            <a:solidFill>
              <a:srgbClr val="EDF4EF"/>
            </a:solidFill>
            <a:prstDash val="solid"/>
          </a:ln>
          <a:effectLst>
            <a:outerShdw blurRad="127000" dist="12700" dir="5400000" algn="bl" rotWithShape="0">
              <a:srgbClr val="C9C0B4">
                <a:alpha val="30000"/>
              </a:srgbClr>
            </a:outerShdw>
          </a:effectLst>
        </p:spPr>
        <p:txBody>
          <a:bodyPr/>
          <a:lstStyle/>
          <a:p>
            <a:pPr marL="0" algn="l" defTabSz="914400" rtl="0" eaLnBrk="1" latinLnBrk="0" hangingPunct="1"/>
            <a:endParaRPr lang="en-JO" dirty="0"/>
          </a:p>
        </p:txBody>
      </p:sp>
      <p:sp>
        <p:nvSpPr>
          <p:cNvPr id="12" name="Text 10"/>
          <p:cNvSpPr/>
          <p:nvPr/>
        </p:nvSpPr>
        <p:spPr>
          <a:xfrm>
            <a:off x="6537960" y="3163824"/>
            <a:ext cx="4846320" cy="310896"/>
          </a:xfrm>
          <a:prstGeom prst="rect">
            <a:avLst/>
          </a:prstGeom>
          <a:noFill/>
          <a:ln/>
        </p:spPr>
        <p:txBody>
          <a:bodyPr wrap="square" lIns="0" tIns="0" rIns="0" bIns="0" rtlCol="0" anchor="ctr"/>
          <a:lstStyle/>
          <a:p>
            <a:pPr marL="0" indent="0" algn="r" defTabSz="914400" rtl="1" eaLnBrk="1" latinLnBrk="0" hangingPunct="1">
              <a:buNone/>
            </a:pPr>
            <a:endParaRPr lang="en-US" sz="1650" dirty="0"/>
          </a:p>
        </p:txBody>
      </p:sp>
      <p:sp>
        <p:nvSpPr>
          <p:cNvPr id="13" name="Text 11"/>
          <p:cNvSpPr/>
          <p:nvPr/>
        </p:nvSpPr>
        <p:spPr>
          <a:xfrm>
            <a:off x="6522720" y="3630168"/>
            <a:ext cx="4828032" cy="1280160"/>
          </a:xfrm>
          <a:prstGeom prst="rect">
            <a:avLst/>
          </a:prstGeom>
          <a:noFill/>
          <a:ln/>
        </p:spPr>
        <p:txBody>
          <a:bodyPr wrap="square" lIns="0" tIns="0" rIns="0" bIns="0" rtlCol="0" anchor="t"/>
          <a:lstStyle/>
          <a:p>
            <a:pPr marL="0" indent="0">
              <a:lnSpc>
                <a:spcPts val="1800"/>
              </a:lnSpc>
              <a:buNone/>
            </a:pPr>
            <a:endParaRPr lang="ar-SA" sz="1250" dirty="0">
              <a:solidFill>
                <a:srgbClr val="514C46"/>
              </a:solidFill>
              <a:latin typeface="Calibri" pitchFamily="34" charset="0"/>
              <a:ea typeface="Calibri" pitchFamily="34" charset="-122"/>
              <a:cs typeface="Calibri" pitchFamily="34" charset="-120"/>
            </a:endParaRPr>
          </a:p>
          <a:p>
            <a:pPr marL="0" indent="0">
              <a:lnSpc>
                <a:spcPts val="1800"/>
              </a:lnSpc>
              <a:buNone/>
            </a:pPr>
            <a:r>
              <a:rPr lang="en-US" sz="1250" dirty="0">
                <a:solidFill>
                  <a:srgbClr val="514C46"/>
                </a:solidFill>
                <a:latin typeface="Calibri" pitchFamily="34" charset="0"/>
                <a:ea typeface="Calibri" pitchFamily="34" charset="-122"/>
                <a:cs typeface="Calibri" pitchFamily="34" charset="-120"/>
              </a:rPr>
              <a:t>.</a:t>
            </a:r>
            <a:endParaRPr lang="en-US" sz="1250" dirty="0"/>
          </a:p>
        </p:txBody>
      </p:sp>
      <p:sp>
        <p:nvSpPr>
          <p:cNvPr id="14" name="Text 12"/>
          <p:cNvSpPr/>
          <p:nvPr/>
        </p:nvSpPr>
        <p:spPr>
          <a:xfrm>
            <a:off x="566928" y="5321808"/>
            <a:ext cx="11055096" cy="274320"/>
          </a:xfrm>
          <a:prstGeom prst="rect">
            <a:avLst/>
          </a:prstGeom>
          <a:noFill/>
          <a:ln/>
        </p:spPr>
        <p:txBody>
          <a:bodyPr wrap="square" lIns="0" tIns="0" rIns="0" bIns="0" rtlCol="0" anchor="ctr"/>
          <a:lstStyle/>
          <a:p>
            <a:pPr marL="0" indent="0">
              <a:buNone/>
            </a:pPr>
            <a:r>
              <a:rPr lang="en-US" sz="1150" i="1" dirty="0">
                <a:solidFill>
                  <a:srgbClr val="8C8279"/>
                </a:solidFill>
                <a:latin typeface="Calibri" pitchFamily="34" charset="0"/>
                <a:ea typeface="Calibri" pitchFamily="34" charset="-122"/>
                <a:cs typeface="Calibri" pitchFamily="34" charset="-120"/>
              </a:rPr>
              <a:t>An outside check, not one of our own metrics confirming itself.</a:t>
            </a:r>
            <a:endParaRPr lang="en-US" sz="1150" dirty="0"/>
          </a:p>
        </p:txBody>
      </p:sp>
      <p:sp>
        <p:nvSpPr>
          <p:cNvPr id="15" name="Shape 13"/>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16" name="Text 14"/>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17" name="Text 15"/>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7</a:t>
            </a:r>
            <a:endParaRPr lang="en-US" sz="950" dirty="0"/>
          </a:p>
        </p:txBody>
      </p:sp>
      <p:pic>
        <p:nvPicPr>
          <p:cNvPr id="19" name="Picture 18">
            <a:extLst>
              <a:ext uri="{FF2B5EF4-FFF2-40B4-BE49-F238E27FC236}">
                <a16:creationId xmlns:a16="http://schemas.microsoft.com/office/drawing/2014/main" id="{5E5DC6E7-836A-5AFF-8515-FB2A5DA4E65F}"/>
              </a:ext>
            </a:extLst>
          </p:cNvPr>
          <p:cNvPicPr>
            <a:picLocks noChangeAspect="1"/>
          </p:cNvPicPr>
          <p:nvPr/>
        </p:nvPicPr>
        <p:blipFill>
          <a:blip r:embed="rId3"/>
          <a:stretch>
            <a:fillRect/>
          </a:stretch>
        </p:blipFill>
        <p:spPr>
          <a:xfrm>
            <a:off x="5925312" y="2980944"/>
            <a:ext cx="5600644" cy="21945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05 · FINDINGS</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Finding 1 — The Season Matters Most</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Share of the variation in daily output explained by each factor.</a:t>
            </a:r>
            <a:endParaRPr lang="en-US" sz="1350" dirty="0"/>
          </a:p>
        </p:txBody>
      </p:sp>
      <p:graphicFrame>
        <p:nvGraphicFramePr>
          <p:cNvPr id="5" name="Chart 0"/>
          <p:cNvGraphicFramePr/>
          <p:nvPr/>
        </p:nvGraphicFramePr>
        <p:xfrm>
          <a:off x="566928" y="1737360"/>
          <a:ext cx="630936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086600" y="1737360"/>
            <a:ext cx="4535424" cy="3200400"/>
          </a:xfrm>
          <a:prstGeom prst="roundRect">
            <a:avLst>
              <a:gd name="adj" fmla="val 2571"/>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7" name="Text 4"/>
          <p:cNvSpPr/>
          <p:nvPr/>
        </p:nvSpPr>
        <p:spPr>
          <a:xfrm>
            <a:off x="7360920" y="1901952"/>
            <a:ext cx="4023360" cy="310896"/>
          </a:xfrm>
          <a:prstGeom prst="rect">
            <a:avLst/>
          </a:prstGeom>
          <a:noFill/>
          <a:ln/>
        </p:spPr>
        <p:txBody>
          <a:bodyPr wrap="square" lIns="0" tIns="0" rIns="0" bIns="0" rtlCol="0" anchor="ctr"/>
          <a:lstStyle/>
          <a:p>
            <a:pPr marL="0" indent="0">
              <a:buNone/>
            </a:pPr>
            <a:r>
              <a:rPr lang="en-US" sz="1700" b="1" dirty="0">
                <a:solidFill>
                  <a:srgbClr val="A06B08"/>
                </a:solidFill>
                <a:latin typeface="Cambria" pitchFamily="34" charset="0"/>
                <a:ea typeface="Cambria" pitchFamily="34" charset="-122"/>
                <a:cs typeface="Cambria" pitchFamily="34" charset="-120"/>
              </a:rPr>
              <a:t>What this means</a:t>
            </a:r>
            <a:endParaRPr lang="en-US" sz="1700" dirty="0"/>
          </a:p>
        </p:txBody>
      </p:sp>
      <p:sp>
        <p:nvSpPr>
          <p:cNvPr id="8" name="Text 5"/>
          <p:cNvSpPr/>
          <p:nvPr/>
        </p:nvSpPr>
        <p:spPr>
          <a:xfrm>
            <a:off x="7360920" y="2304288"/>
            <a:ext cx="4005072" cy="640080"/>
          </a:xfrm>
          <a:prstGeom prst="rect">
            <a:avLst/>
          </a:prstGeom>
          <a:noFill/>
          <a:ln/>
        </p:spPr>
        <p:txBody>
          <a:bodyPr wrap="square" lIns="0" tIns="0" rIns="0" bIns="0" rtlCol="0" anchor="ctr"/>
          <a:lstStyle/>
          <a:p>
            <a:pPr marL="0" indent="0">
              <a:lnSpc>
                <a:spcPts val="1800"/>
              </a:lnSpc>
              <a:buNone/>
            </a:pPr>
            <a:r>
              <a:rPr lang="en-US" sz="1300" b="1" dirty="0">
                <a:solidFill>
                  <a:srgbClr val="1C1917"/>
                </a:solidFill>
                <a:latin typeface="Calibri" pitchFamily="34" charset="0"/>
                <a:ea typeface="Calibri" pitchFamily="34" charset="-122"/>
                <a:cs typeface="Calibri" pitchFamily="34" charset="-120"/>
              </a:rPr>
              <a:t>WHEN you generate matters far more than WHERE in Jordan you are.</a:t>
            </a:r>
            <a:endParaRPr lang="en-US" sz="1300" dirty="0"/>
          </a:p>
        </p:txBody>
      </p:sp>
      <p:sp>
        <p:nvSpPr>
          <p:cNvPr id="9" name="Text 6"/>
          <p:cNvSpPr/>
          <p:nvPr/>
        </p:nvSpPr>
        <p:spPr>
          <a:xfrm>
            <a:off x="7360920" y="3035808"/>
            <a:ext cx="4005072" cy="1280160"/>
          </a:xfrm>
          <a:prstGeom prst="rect">
            <a:avLst/>
          </a:prstGeom>
          <a:noFill/>
          <a:ln/>
        </p:spPr>
        <p:txBody>
          <a:bodyPr wrap="square" lIns="0" tIns="0" rIns="0" bIns="0" rtlCol="0" anchor="t"/>
          <a:lstStyle/>
          <a:p>
            <a:pPr marL="0" indent="0">
              <a:lnSpc>
                <a:spcPts val="1800"/>
              </a:lnSpc>
              <a:buNone/>
            </a:pPr>
            <a:r>
              <a:rPr lang="en-US" sz="1250" dirty="0">
                <a:solidFill>
                  <a:srgbClr val="514C46"/>
                </a:solidFill>
                <a:latin typeface="Calibri" pitchFamily="34" charset="0"/>
                <a:ea typeface="Calibri" pitchFamily="34" charset="-122"/>
                <a:cs typeface="Calibri" pitchFamily="34" charset="-120"/>
              </a:rPr>
              <a:t>June:  6.17 kWh/kWp per day</a:t>
            </a:r>
            <a:endParaRPr lang="en-US" sz="1250" dirty="0"/>
          </a:p>
          <a:p>
            <a:pPr marL="0" indent="0">
              <a:lnSpc>
                <a:spcPts val="1800"/>
              </a:lnSpc>
              <a:buNone/>
            </a:pPr>
            <a:r>
              <a:rPr lang="en-US" sz="1250" dirty="0">
                <a:solidFill>
                  <a:srgbClr val="514C46"/>
                </a:solidFill>
                <a:latin typeface="Calibri" pitchFamily="34" charset="0"/>
                <a:ea typeface="Calibri" pitchFamily="34" charset="-122"/>
                <a:cs typeface="Calibri" pitchFamily="34" charset="-120"/>
              </a:rPr>
              <a:t>December:  2.48</a:t>
            </a:r>
            <a:endParaRPr lang="en-US" sz="1250" dirty="0"/>
          </a:p>
          <a:p>
            <a:pPr marL="0" indent="0">
              <a:lnSpc>
                <a:spcPts val="1800"/>
              </a:lnSpc>
              <a:buNone/>
            </a:pPr>
            <a:endParaRPr lang="en-US" sz="1250" dirty="0"/>
          </a:p>
          <a:p>
            <a:pPr marL="0" indent="0">
              <a:lnSpc>
                <a:spcPts val="1800"/>
              </a:lnSpc>
              <a:buNone/>
            </a:pPr>
            <a:r>
              <a:rPr lang="en-US" sz="1250" b="1" dirty="0">
                <a:solidFill>
                  <a:srgbClr val="A06B08"/>
                </a:solidFill>
                <a:latin typeface="Calibri" pitchFamily="34" charset="0"/>
                <a:ea typeface="Calibri" pitchFamily="34" charset="-122"/>
                <a:cs typeface="Calibri" pitchFamily="34" charset="-120"/>
              </a:rPr>
              <a:t>That is 2.5 times more in summer.</a:t>
            </a:r>
            <a:endParaRPr lang="en-US" sz="1250" dirty="0"/>
          </a:p>
        </p:txBody>
      </p:sp>
      <p:sp>
        <p:nvSpPr>
          <p:cNvPr id="10" name="Text 7"/>
          <p:cNvSpPr/>
          <p:nvPr/>
        </p:nvSpPr>
        <p:spPr>
          <a:xfrm>
            <a:off x="7360920" y="4261104"/>
            <a:ext cx="4005072" cy="603504"/>
          </a:xfrm>
          <a:prstGeom prst="rect">
            <a:avLst/>
          </a:prstGeom>
          <a:noFill/>
          <a:ln/>
        </p:spPr>
        <p:txBody>
          <a:bodyPr wrap="square" lIns="0" tIns="0" rIns="0" bIns="0" rtlCol="0" anchor="t"/>
          <a:lstStyle/>
          <a:p>
            <a:pPr marL="0" indent="0">
              <a:lnSpc>
                <a:spcPts val="1600"/>
              </a:lnSpc>
              <a:buNone/>
            </a:pPr>
            <a:r>
              <a:rPr lang="en-US" sz="1150" i="1" dirty="0">
                <a:solidFill>
                  <a:srgbClr val="8C8279"/>
                </a:solidFill>
                <a:latin typeface="Calibri" pitchFamily="34" charset="0"/>
                <a:ea typeface="Calibri" pitchFamily="34" charset="-122"/>
                <a:cs typeface="Calibri" pitchFamily="34" charset="-120"/>
              </a:rPr>
              <a:t>Location and year barely move the needle by comparison — together they account for under 2%.</a:t>
            </a:r>
            <a:endParaRPr lang="en-US" sz="1150" dirty="0"/>
          </a:p>
        </p:txBody>
      </p:sp>
      <p:sp>
        <p:nvSpPr>
          <p:cNvPr id="11" name="Shape 8"/>
          <p:cNvSpPr/>
          <p:nvPr/>
        </p:nvSpPr>
        <p:spPr>
          <a:xfrm>
            <a:off x="471925" y="5138928"/>
            <a:ext cx="11055096" cy="841248"/>
          </a:xfrm>
          <a:prstGeom prst="roundRect">
            <a:avLst>
              <a:gd name="adj" fmla="val 9783"/>
            </a:avLst>
          </a:prstGeom>
          <a:solidFill>
            <a:srgbClr val="FFFFFF"/>
          </a:solidFill>
          <a:ln w="12700">
            <a:solidFill>
              <a:srgbClr val="E7E3DC"/>
            </a:solidFill>
            <a:prstDash val="solid"/>
          </a:ln>
          <a:effectLst>
            <a:outerShdw blurRad="127000" dist="12700" dir="5400000" algn="bl" rotWithShape="0">
              <a:srgbClr val="C9C0B4">
                <a:alpha val="30000"/>
              </a:srgbClr>
            </a:outerShdw>
          </a:effectLst>
        </p:spPr>
        <p:txBody>
          <a:bodyPr/>
          <a:lstStyle/>
          <a:p>
            <a:pPr marL="0" algn="r" defTabSz="914400" rtl="1" eaLnBrk="1" latinLnBrk="0" hangingPunct="1"/>
            <a:endParaRPr lang="en-JO"/>
          </a:p>
        </p:txBody>
      </p:sp>
      <p:sp>
        <p:nvSpPr>
          <p:cNvPr id="12" name="Text 9"/>
          <p:cNvSpPr/>
          <p:nvPr/>
        </p:nvSpPr>
        <p:spPr>
          <a:xfrm>
            <a:off x="886968" y="5138928"/>
            <a:ext cx="10415016" cy="841248"/>
          </a:xfrm>
          <a:prstGeom prst="rect">
            <a:avLst/>
          </a:prstGeom>
          <a:noFill/>
          <a:ln/>
        </p:spPr>
        <p:txBody>
          <a:bodyPr wrap="square" lIns="0" tIns="0" rIns="0" bIns="0" rtlCol="0" anchor="ctr"/>
          <a:lstStyle/>
          <a:p>
            <a:pPr marL="0" indent="0">
              <a:buNone/>
            </a:pPr>
            <a:r>
              <a:rPr lang="en-US" sz="1300" dirty="0">
                <a:solidFill>
                  <a:srgbClr val="514C46"/>
                </a:solidFill>
                <a:latin typeface="Calibri" pitchFamily="34" charset="0"/>
                <a:ea typeface="Calibri" pitchFamily="34" charset="-122"/>
                <a:cs typeface="Calibri" pitchFamily="34" charset="-120"/>
              </a:rPr>
              <a:t>So the answer we give a user must be monthly — a single yearly average would hide the months that actually decide whether solar pays.</a:t>
            </a:r>
            <a:endParaRPr lang="en-US" sz="1300" dirty="0"/>
          </a:p>
        </p:txBody>
      </p:sp>
      <p:sp>
        <p:nvSpPr>
          <p:cNvPr id="13" name="Shape 10"/>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14" name="Text 11"/>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15" name="Text 12"/>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05 · FINDINGS</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Finding 2 — Heat Hurts, and It Is Hidden</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The raw correlation says one thing; a fair comparison says the opposite.</a:t>
            </a:r>
            <a:endParaRPr lang="en-US" sz="1350" dirty="0"/>
          </a:p>
        </p:txBody>
      </p:sp>
      <p:sp>
        <p:nvSpPr>
          <p:cNvPr id="5" name="Shape 3"/>
          <p:cNvSpPr/>
          <p:nvPr/>
        </p:nvSpPr>
        <p:spPr>
          <a:xfrm>
            <a:off x="566928" y="1737360"/>
            <a:ext cx="5358384" cy="2788920"/>
          </a:xfrm>
          <a:prstGeom prst="roundRect">
            <a:avLst>
              <a:gd name="adj" fmla="val 2951"/>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6" name="Text 4"/>
          <p:cNvSpPr/>
          <p:nvPr/>
        </p:nvSpPr>
        <p:spPr>
          <a:xfrm>
            <a:off x="841248" y="1901952"/>
            <a:ext cx="4846320" cy="310896"/>
          </a:xfrm>
          <a:prstGeom prst="rect">
            <a:avLst/>
          </a:prstGeom>
          <a:noFill/>
          <a:ln/>
        </p:spPr>
        <p:txBody>
          <a:bodyPr wrap="square" lIns="0" tIns="0" rIns="0" bIns="0" rtlCol="0" anchor="ctr"/>
          <a:lstStyle/>
          <a:p>
            <a:pPr marL="0" indent="0">
              <a:buNone/>
            </a:pPr>
            <a:r>
              <a:rPr lang="en-US" sz="1650" b="1" dirty="0">
                <a:solidFill>
                  <a:srgbClr val="1C1917"/>
                </a:solidFill>
                <a:latin typeface="Cambria" pitchFamily="34" charset="0"/>
                <a:ea typeface="Cambria" pitchFamily="34" charset="-122"/>
                <a:cs typeface="Cambria" pitchFamily="34" charset="-120"/>
              </a:rPr>
              <a:t>What the numbers seem to say</a:t>
            </a:r>
            <a:endParaRPr lang="en-US" sz="1650" dirty="0"/>
          </a:p>
        </p:txBody>
      </p:sp>
      <p:sp>
        <p:nvSpPr>
          <p:cNvPr id="7" name="Text 5"/>
          <p:cNvSpPr/>
          <p:nvPr/>
        </p:nvSpPr>
        <p:spPr>
          <a:xfrm>
            <a:off x="841248" y="2304288"/>
            <a:ext cx="4809744" cy="731520"/>
          </a:xfrm>
          <a:prstGeom prst="rect">
            <a:avLst/>
          </a:prstGeom>
          <a:noFill/>
          <a:ln/>
        </p:spPr>
        <p:txBody>
          <a:bodyPr wrap="square" lIns="0" tIns="0" rIns="0" bIns="0" rtlCol="0" anchor="ctr"/>
          <a:lstStyle/>
          <a:p>
            <a:pPr marL="0" indent="0" algn="ctr">
              <a:buNone/>
            </a:pPr>
            <a:r>
              <a:rPr lang="en-US" sz="4000" b="1" dirty="0">
                <a:solidFill>
                  <a:srgbClr val="8C8279"/>
                </a:solidFill>
                <a:latin typeface="Cambria" pitchFamily="34" charset="0"/>
                <a:ea typeface="Cambria" pitchFamily="34" charset="-122"/>
                <a:cs typeface="Cambria" pitchFamily="34" charset="-120"/>
              </a:rPr>
              <a:t>+0.69</a:t>
            </a:r>
            <a:endParaRPr lang="en-US" sz="4000" dirty="0"/>
          </a:p>
        </p:txBody>
      </p:sp>
      <p:sp>
        <p:nvSpPr>
          <p:cNvPr id="8" name="Text 6"/>
          <p:cNvSpPr/>
          <p:nvPr/>
        </p:nvSpPr>
        <p:spPr>
          <a:xfrm>
            <a:off x="841248" y="3035808"/>
            <a:ext cx="4809744" cy="274320"/>
          </a:xfrm>
          <a:prstGeom prst="rect">
            <a:avLst/>
          </a:prstGeom>
          <a:noFill/>
          <a:ln/>
        </p:spPr>
        <p:txBody>
          <a:bodyPr wrap="square" lIns="0" tIns="0" rIns="0" bIns="0" rtlCol="0" anchor="ctr"/>
          <a:lstStyle/>
          <a:p>
            <a:pPr marL="0" indent="0" algn="ctr">
              <a:buNone/>
            </a:pPr>
            <a:r>
              <a:rPr lang="en-US" sz="1150" dirty="0">
                <a:solidFill>
                  <a:srgbClr val="8C8279"/>
                </a:solidFill>
                <a:latin typeface="Calibri" pitchFamily="34" charset="0"/>
                <a:ea typeface="Calibri" pitchFamily="34" charset="-122"/>
                <a:cs typeface="Calibri" pitchFamily="34" charset="-120"/>
              </a:rPr>
              <a:t>correlation between temperature and output</a:t>
            </a:r>
            <a:endParaRPr lang="en-US" sz="1150" dirty="0"/>
          </a:p>
        </p:txBody>
      </p:sp>
      <p:sp>
        <p:nvSpPr>
          <p:cNvPr id="9" name="Text 7"/>
          <p:cNvSpPr/>
          <p:nvPr/>
        </p:nvSpPr>
        <p:spPr>
          <a:xfrm>
            <a:off x="841248" y="3456432"/>
            <a:ext cx="4809744" cy="822960"/>
          </a:xfrm>
          <a:prstGeom prst="rect">
            <a:avLst/>
          </a:prstGeom>
          <a:noFill/>
          <a:ln/>
        </p:spPr>
        <p:txBody>
          <a:bodyPr wrap="square" lIns="0" tIns="0" rIns="0" bIns="0" rtlCol="0" anchor="ctr"/>
          <a:lstStyle/>
          <a:p>
            <a:pPr marL="0" indent="0">
              <a:lnSpc>
                <a:spcPts val="1700"/>
              </a:lnSpc>
              <a:buNone/>
            </a:pPr>
            <a:r>
              <a:rPr lang="en-US" sz="1250" dirty="0">
                <a:solidFill>
                  <a:srgbClr val="514C46"/>
                </a:solidFill>
                <a:latin typeface="Calibri" pitchFamily="34" charset="0"/>
                <a:ea typeface="Calibri" pitchFamily="34" charset="-122"/>
                <a:cs typeface="Calibri" pitchFamily="34" charset="-120"/>
              </a:rPr>
              <a:t>Hotter days appear to produce more. But that is the season talking — hot days in Jordan are also sunny days.</a:t>
            </a:r>
            <a:endParaRPr lang="en-US" sz="1250" dirty="0"/>
          </a:p>
        </p:txBody>
      </p:sp>
      <p:sp>
        <p:nvSpPr>
          <p:cNvPr id="10" name="Shape 8"/>
          <p:cNvSpPr/>
          <p:nvPr/>
        </p:nvSpPr>
        <p:spPr>
          <a:xfrm>
            <a:off x="6263640" y="1737360"/>
            <a:ext cx="5358384" cy="2788920"/>
          </a:xfrm>
          <a:prstGeom prst="roundRect">
            <a:avLst>
              <a:gd name="adj" fmla="val 2951"/>
            </a:avLst>
          </a:prstGeom>
          <a:solidFill>
            <a:srgbClr val="EDF4EF"/>
          </a:solidFill>
          <a:ln w="9525">
            <a:solidFill>
              <a:srgbClr val="EDF4EF"/>
            </a:solidFill>
            <a:prstDash val="solid"/>
          </a:ln>
          <a:effectLst>
            <a:outerShdw blurRad="127000" dist="12700" dir="5400000" algn="bl" rotWithShape="0">
              <a:srgbClr val="C9C0B4">
                <a:alpha val="30000"/>
              </a:srgbClr>
            </a:outerShdw>
          </a:effectLst>
        </p:spPr>
        <p:txBody>
          <a:bodyPr/>
          <a:lstStyle/>
          <a:p>
            <a:endParaRPr lang="en-JO"/>
          </a:p>
        </p:txBody>
      </p:sp>
      <p:sp>
        <p:nvSpPr>
          <p:cNvPr id="11" name="Text 9"/>
          <p:cNvSpPr/>
          <p:nvPr/>
        </p:nvSpPr>
        <p:spPr>
          <a:xfrm>
            <a:off x="6537960" y="1901952"/>
            <a:ext cx="4846320" cy="310896"/>
          </a:xfrm>
          <a:prstGeom prst="rect">
            <a:avLst/>
          </a:prstGeom>
          <a:noFill/>
          <a:ln/>
        </p:spPr>
        <p:txBody>
          <a:bodyPr wrap="square" lIns="0" tIns="0" rIns="0" bIns="0" rtlCol="0" anchor="ctr"/>
          <a:lstStyle/>
          <a:p>
            <a:pPr marL="0" indent="0">
              <a:buNone/>
            </a:pPr>
            <a:r>
              <a:rPr lang="en-US" sz="1650" b="1" dirty="0">
                <a:solidFill>
                  <a:srgbClr val="2E6B4F"/>
                </a:solidFill>
                <a:latin typeface="Cambria" pitchFamily="34" charset="0"/>
                <a:ea typeface="Cambria" pitchFamily="34" charset="-122"/>
                <a:cs typeface="Cambria" pitchFamily="34" charset="-120"/>
              </a:rPr>
              <a:t>What actually happens</a:t>
            </a:r>
            <a:endParaRPr lang="en-US" sz="1650" dirty="0"/>
          </a:p>
        </p:txBody>
      </p:sp>
      <p:sp>
        <p:nvSpPr>
          <p:cNvPr id="12" name="Text 10"/>
          <p:cNvSpPr/>
          <p:nvPr/>
        </p:nvSpPr>
        <p:spPr>
          <a:xfrm>
            <a:off x="6537960" y="2304288"/>
            <a:ext cx="4809744" cy="731520"/>
          </a:xfrm>
          <a:prstGeom prst="rect">
            <a:avLst/>
          </a:prstGeom>
          <a:noFill/>
          <a:ln/>
        </p:spPr>
        <p:txBody>
          <a:bodyPr wrap="square" lIns="0" tIns="0" rIns="0" bIns="0" rtlCol="0" anchor="ctr"/>
          <a:lstStyle/>
          <a:p>
            <a:pPr marL="0" indent="0" algn="ctr">
              <a:buNone/>
            </a:pPr>
            <a:r>
              <a:rPr lang="en-US" sz="4000" b="1" dirty="0">
                <a:solidFill>
                  <a:srgbClr val="2E6B4F"/>
                </a:solidFill>
                <a:latin typeface="Cambria" pitchFamily="34" charset="0"/>
                <a:ea typeface="Cambria" pitchFamily="34" charset="-122"/>
                <a:cs typeface="Cambria" pitchFamily="34" charset="-120"/>
              </a:rPr>
              <a:t>−0.64</a:t>
            </a:r>
            <a:endParaRPr lang="en-US" sz="4000" dirty="0"/>
          </a:p>
        </p:txBody>
      </p:sp>
      <p:sp>
        <p:nvSpPr>
          <p:cNvPr id="13" name="Text 11"/>
          <p:cNvSpPr/>
          <p:nvPr/>
        </p:nvSpPr>
        <p:spPr>
          <a:xfrm>
            <a:off x="6537960" y="3035808"/>
            <a:ext cx="4809744" cy="274320"/>
          </a:xfrm>
          <a:prstGeom prst="rect">
            <a:avLst/>
          </a:prstGeom>
          <a:noFill/>
          <a:ln/>
        </p:spPr>
        <p:txBody>
          <a:bodyPr wrap="square" lIns="0" tIns="0" rIns="0" bIns="0" rtlCol="0" anchor="ctr"/>
          <a:lstStyle/>
          <a:p>
            <a:pPr marL="0" indent="0" algn="ctr">
              <a:buNone/>
            </a:pPr>
            <a:r>
              <a:rPr lang="en-US" sz="1150" dirty="0">
                <a:solidFill>
                  <a:srgbClr val="2E6B4F"/>
                </a:solidFill>
                <a:latin typeface="Calibri" pitchFamily="34" charset="0"/>
                <a:ea typeface="Calibri" pitchFamily="34" charset="-122"/>
                <a:cs typeface="Calibri" pitchFamily="34" charset="-120"/>
              </a:rPr>
              <a:t>once days with the same sunlight are compared</a:t>
            </a:r>
            <a:endParaRPr lang="en-US" sz="1150" dirty="0"/>
          </a:p>
        </p:txBody>
      </p:sp>
      <p:sp>
        <p:nvSpPr>
          <p:cNvPr id="14" name="Text 12"/>
          <p:cNvSpPr/>
          <p:nvPr/>
        </p:nvSpPr>
        <p:spPr>
          <a:xfrm>
            <a:off x="6537960" y="3456432"/>
            <a:ext cx="4809744" cy="822960"/>
          </a:xfrm>
          <a:prstGeom prst="rect">
            <a:avLst/>
          </a:prstGeom>
          <a:noFill/>
          <a:ln/>
        </p:spPr>
        <p:txBody>
          <a:bodyPr wrap="square" lIns="0" tIns="0" rIns="0" bIns="0" rtlCol="0" anchor="ctr"/>
          <a:lstStyle/>
          <a:p>
            <a:pPr marL="0" indent="0">
              <a:lnSpc>
                <a:spcPts val="1700"/>
              </a:lnSpc>
              <a:buNone/>
            </a:pPr>
            <a:r>
              <a:rPr lang="en-US" sz="1250" dirty="0">
                <a:solidFill>
                  <a:srgbClr val="514C46"/>
                </a:solidFill>
                <a:latin typeface="Calibri" pitchFamily="34" charset="0"/>
                <a:ea typeface="Calibri" pitchFamily="34" charset="-122"/>
                <a:cs typeface="Calibri" pitchFamily="34" charset="-120"/>
              </a:rPr>
              <a:t>Hold sunlight constant and hot days produce 5.2% less. The physics was there all along, hidden by the season.</a:t>
            </a:r>
            <a:endParaRPr lang="en-US" sz="1250" dirty="0"/>
          </a:p>
        </p:txBody>
      </p:sp>
      <p:sp>
        <p:nvSpPr>
          <p:cNvPr id="15" name="Shape 13"/>
          <p:cNvSpPr/>
          <p:nvPr/>
        </p:nvSpPr>
        <p:spPr>
          <a:xfrm>
            <a:off x="566928" y="4800600"/>
            <a:ext cx="11055096" cy="1170432"/>
          </a:xfrm>
          <a:prstGeom prst="roundRect">
            <a:avLst>
              <a:gd name="adj" fmla="val 7031"/>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16" name="Text 14"/>
          <p:cNvSpPr/>
          <p:nvPr/>
        </p:nvSpPr>
        <p:spPr>
          <a:xfrm>
            <a:off x="886968" y="4956048"/>
            <a:ext cx="10415016" cy="310896"/>
          </a:xfrm>
          <a:prstGeom prst="rect">
            <a:avLst/>
          </a:prstGeom>
          <a:noFill/>
          <a:ln/>
        </p:spPr>
        <p:txBody>
          <a:bodyPr wrap="square" lIns="0" tIns="0" rIns="0" bIns="0" rtlCol="0" anchor="ctr"/>
          <a:lstStyle/>
          <a:p>
            <a:pPr marL="0" indent="0">
              <a:buNone/>
            </a:pPr>
            <a:r>
              <a:rPr lang="en-US" sz="1600" b="1" dirty="0">
                <a:solidFill>
                  <a:srgbClr val="A06B08"/>
                </a:solidFill>
                <a:latin typeface="Cambria" pitchFamily="34" charset="0"/>
                <a:ea typeface="Cambria" pitchFamily="34" charset="-122"/>
                <a:cs typeface="Cambria" pitchFamily="34" charset="-120"/>
              </a:rPr>
              <a:t>Why the peak month is June, not July</a:t>
            </a:r>
            <a:endParaRPr lang="en-US" sz="1600" dirty="0"/>
          </a:p>
        </p:txBody>
      </p:sp>
      <p:sp>
        <p:nvSpPr>
          <p:cNvPr id="17" name="Text 15"/>
          <p:cNvSpPr/>
          <p:nvPr/>
        </p:nvSpPr>
        <p:spPr>
          <a:xfrm>
            <a:off x="886968" y="5321808"/>
            <a:ext cx="10415016" cy="548640"/>
          </a:xfrm>
          <a:prstGeom prst="rect">
            <a:avLst/>
          </a:prstGeom>
          <a:noFill/>
          <a:ln/>
        </p:spPr>
        <p:txBody>
          <a:bodyPr wrap="square" lIns="0" tIns="0" rIns="0" bIns="0" rtlCol="0" anchor="ctr"/>
          <a:lstStyle/>
          <a:p>
            <a:pPr marL="0" indent="0">
              <a:buNone/>
            </a:pPr>
            <a:r>
              <a:rPr lang="en-US" sz="1300" dirty="0">
                <a:solidFill>
                  <a:srgbClr val="514C46"/>
                </a:solidFill>
                <a:latin typeface="Calibri" pitchFamily="34" charset="0"/>
                <a:ea typeface="Calibri" pitchFamily="34" charset="-122"/>
                <a:cs typeface="Calibri" pitchFamily="34" charset="-120"/>
              </a:rPr>
              <a:t>July receives slightly more sunlight, but it is hotter — and the panels pay for it. The model reproduces this without being told.</a:t>
            </a:r>
            <a:endParaRPr lang="en-US" sz="1300" dirty="0"/>
          </a:p>
        </p:txBody>
      </p:sp>
      <p:sp>
        <p:nvSpPr>
          <p:cNvPr id="18" name="Shape 16"/>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19" name="Text 17"/>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20" name="Text 18"/>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05 · FINDINGS</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Finding 3 — Location Matters Less Than People Think</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Annual yield across Jordan, in kWh per kWp per year.</a:t>
            </a:r>
            <a:endParaRPr lang="en-US" sz="1350" dirty="0"/>
          </a:p>
        </p:txBody>
      </p:sp>
      <p:sp>
        <p:nvSpPr>
          <p:cNvPr id="5" name="Shape 3"/>
          <p:cNvSpPr/>
          <p:nvPr/>
        </p:nvSpPr>
        <p:spPr>
          <a:xfrm>
            <a:off x="566928" y="1737360"/>
            <a:ext cx="2558034" cy="1417320"/>
          </a:xfrm>
          <a:prstGeom prst="roundRect">
            <a:avLst>
              <a:gd name="adj" fmla="val 5806"/>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6" name="Text 4"/>
          <p:cNvSpPr/>
          <p:nvPr/>
        </p:nvSpPr>
        <p:spPr>
          <a:xfrm>
            <a:off x="566928" y="1883664"/>
            <a:ext cx="2558034" cy="621792"/>
          </a:xfrm>
          <a:prstGeom prst="rect">
            <a:avLst/>
          </a:prstGeom>
          <a:noFill/>
          <a:ln/>
        </p:spPr>
        <p:txBody>
          <a:bodyPr wrap="square" lIns="0" tIns="0" rIns="0" bIns="0" rtlCol="0" anchor="ctr"/>
          <a:lstStyle/>
          <a:p>
            <a:pPr marL="0" indent="0" algn="ctr">
              <a:buNone/>
            </a:pPr>
            <a:r>
              <a:rPr lang="en-US" sz="3200" b="1" dirty="0">
                <a:solidFill>
                  <a:srgbClr val="1C1917"/>
                </a:solidFill>
                <a:latin typeface="Cambria" pitchFamily="34" charset="0"/>
                <a:ea typeface="Cambria" pitchFamily="34" charset="-122"/>
                <a:cs typeface="Cambria" pitchFamily="34" charset="-120"/>
              </a:rPr>
              <a:t>1,737</a:t>
            </a:r>
            <a:endParaRPr lang="en-US" sz="3200" dirty="0"/>
          </a:p>
        </p:txBody>
      </p:sp>
      <p:sp>
        <p:nvSpPr>
          <p:cNvPr id="7" name="Text 5"/>
          <p:cNvSpPr/>
          <p:nvPr/>
        </p:nvSpPr>
        <p:spPr>
          <a:xfrm>
            <a:off x="658368" y="2523744"/>
            <a:ext cx="2375154"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Best — southern desert</a:t>
            </a:r>
            <a:endParaRPr lang="en-US" sz="1050" dirty="0"/>
          </a:p>
        </p:txBody>
      </p:sp>
      <p:sp>
        <p:nvSpPr>
          <p:cNvPr id="8" name="Shape 6"/>
          <p:cNvSpPr/>
          <p:nvPr/>
        </p:nvSpPr>
        <p:spPr>
          <a:xfrm>
            <a:off x="3399282" y="1737360"/>
            <a:ext cx="2558034" cy="1417320"/>
          </a:xfrm>
          <a:prstGeom prst="roundRect">
            <a:avLst>
              <a:gd name="adj" fmla="val 5806"/>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9" name="Text 7"/>
          <p:cNvSpPr/>
          <p:nvPr/>
        </p:nvSpPr>
        <p:spPr>
          <a:xfrm>
            <a:off x="3399282" y="1883664"/>
            <a:ext cx="2558034" cy="621792"/>
          </a:xfrm>
          <a:prstGeom prst="rect">
            <a:avLst/>
          </a:prstGeom>
          <a:noFill/>
          <a:ln/>
        </p:spPr>
        <p:txBody>
          <a:bodyPr wrap="square" lIns="0" tIns="0" rIns="0" bIns="0" rtlCol="0" anchor="ctr"/>
          <a:lstStyle/>
          <a:p>
            <a:pPr marL="0" indent="0" algn="ctr">
              <a:buNone/>
            </a:pPr>
            <a:r>
              <a:rPr lang="en-US" sz="3200" b="1" dirty="0">
                <a:solidFill>
                  <a:srgbClr val="1C1917"/>
                </a:solidFill>
                <a:latin typeface="Cambria" pitchFamily="34" charset="0"/>
                <a:ea typeface="Cambria" pitchFamily="34" charset="-122"/>
                <a:cs typeface="Cambria" pitchFamily="34" charset="-120"/>
              </a:rPr>
              <a:t>1,532</a:t>
            </a:r>
            <a:endParaRPr lang="en-US" sz="3200" dirty="0"/>
          </a:p>
        </p:txBody>
      </p:sp>
      <p:sp>
        <p:nvSpPr>
          <p:cNvPr id="10" name="Text 8"/>
          <p:cNvSpPr/>
          <p:nvPr/>
        </p:nvSpPr>
        <p:spPr>
          <a:xfrm>
            <a:off x="3490722" y="2523744"/>
            <a:ext cx="2375154"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Lowest — northern hills</a:t>
            </a:r>
            <a:endParaRPr lang="en-US" sz="1050" dirty="0"/>
          </a:p>
        </p:txBody>
      </p:sp>
      <p:sp>
        <p:nvSpPr>
          <p:cNvPr id="11" name="Shape 9"/>
          <p:cNvSpPr/>
          <p:nvPr/>
        </p:nvSpPr>
        <p:spPr>
          <a:xfrm>
            <a:off x="6231636" y="1737360"/>
            <a:ext cx="2558034" cy="1417320"/>
          </a:xfrm>
          <a:prstGeom prst="roundRect">
            <a:avLst>
              <a:gd name="adj" fmla="val 5806"/>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12" name="Text 10"/>
          <p:cNvSpPr/>
          <p:nvPr/>
        </p:nvSpPr>
        <p:spPr>
          <a:xfrm>
            <a:off x="6231636" y="1883664"/>
            <a:ext cx="2558034" cy="621792"/>
          </a:xfrm>
          <a:prstGeom prst="rect">
            <a:avLst/>
          </a:prstGeom>
          <a:noFill/>
          <a:ln/>
        </p:spPr>
        <p:txBody>
          <a:bodyPr wrap="square" lIns="0" tIns="0" rIns="0" bIns="0" rtlCol="0" anchor="ctr"/>
          <a:lstStyle/>
          <a:p>
            <a:pPr marL="0" indent="0" algn="ctr">
              <a:buNone/>
            </a:pPr>
            <a:r>
              <a:rPr lang="en-US" sz="3200" b="1" dirty="0">
                <a:solidFill>
                  <a:srgbClr val="A06B08"/>
                </a:solidFill>
                <a:latin typeface="Cambria" pitchFamily="34" charset="0"/>
                <a:ea typeface="Cambria" pitchFamily="34" charset="-122"/>
                <a:cs typeface="Cambria" pitchFamily="34" charset="-120"/>
              </a:rPr>
              <a:t>13%</a:t>
            </a:r>
            <a:endParaRPr lang="en-US" sz="3200" dirty="0"/>
          </a:p>
        </p:txBody>
      </p:sp>
      <p:sp>
        <p:nvSpPr>
          <p:cNvPr id="13" name="Text 11"/>
          <p:cNvSpPr/>
          <p:nvPr/>
        </p:nvSpPr>
        <p:spPr>
          <a:xfrm>
            <a:off x="6323076" y="2523744"/>
            <a:ext cx="2375154"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Difference across Jordan</a:t>
            </a:r>
            <a:endParaRPr lang="en-US" sz="1050" dirty="0"/>
          </a:p>
        </p:txBody>
      </p:sp>
      <p:sp>
        <p:nvSpPr>
          <p:cNvPr id="14" name="Shape 12"/>
          <p:cNvSpPr/>
          <p:nvPr/>
        </p:nvSpPr>
        <p:spPr>
          <a:xfrm>
            <a:off x="9063990" y="1737360"/>
            <a:ext cx="2558034" cy="1417320"/>
          </a:xfrm>
          <a:prstGeom prst="roundRect">
            <a:avLst>
              <a:gd name="adj" fmla="val 5806"/>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15" name="Text 13"/>
          <p:cNvSpPr/>
          <p:nvPr/>
        </p:nvSpPr>
        <p:spPr>
          <a:xfrm>
            <a:off x="9063990" y="1883664"/>
            <a:ext cx="2558034" cy="621792"/>
          </a:xfrm>
          <a:prstGeom prst="rect">
            <a:avLst/>
          </a:prstGeom>
          <a:noFill/>
          <a:ln/>
        </p:spPr>
        <p:txBody>
          <a:bodyPr wrap="square" lIns="0" tIns="0" rIns="0" bIns="0" rtlCol="0" anchor="ctr"/>
          <a:lstStyle/>
          <a:p>
            <a:pPr marL="0" indent="0" algn="ctr">
              <a:buNone/>
            </a:pPr>
            <a:r>
              <a:rPr lang="en-US" sz="3200" b="1" dirty="0">
                <a:solidFill>
                  <a:srgbClr val="A06B08"/>
                </a:solidFill>
                <a:latin typeface="Cambria" pitchFamily="34" charset="0"/>
                <a:ea typeface="Cambria" pitchFamily="34" charset="-122"/>
                <a:cs typeface="Cambria" pitchFamily="34" charset="-120"/>
              </a:rPr>
              <a:t>2.5×</a:t>
            </a:r>
            <a:endParaRPr lang="en-US" sz="3200" dirty="0"/>
          </a:p>
        </p:txBody>
      </p:sp>
      <p:sp>
        <p:nvSpPr>
          <p:cNvPr id="16" name="Text 14"/>
          <p:cNvSpPr/>
          <p:nvPr/>
        </p:nvSpPr>
        <p:spPr>
          <a:xfrm>
            <a:off x="9155430" y="2523744"/>
            <a:ext cx="2375154"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Difference across seasons</a:t>
            </a:r>
            <a:endParaRPr lang="en-US" sz="1050" dirty="0"/>
          </a:p>
        </p:txBody>
      </p:sp>
      <p:sp>
        <p:nvSpPr>
          <p:cNvPr id="17" name="Shape 15"/>
          <p:cNvSpPr/>
          <p:nvPr/>
        </p:nvSpPr>
        <p:spPr>
          <a:xfrm>
            <a:off x="566928" y="3401568"/>
            <a:ext cx="5358384" cy="1920240"/>
          </a:xfrm>
          <a:prstGeom prst="roundRect">
            <a:avLst>
              <a:gd name="adj" fmla="val 4286"/>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8" name="Text 16"/>
          <p:cNvSpPr/>
          <p:nvPr/>
        </p:nvSpPr>
        <p:spPr>
          <a:xfrm>
            <a:off x="841248" y="3566160"/>
            <a:ext cx="4846320" cy="310896"/>
          </a:xfrm>
          <a:prstGeom prst="rect">
            <a:avLst/>
          </a:prstGeom>
          <a:noFill/>
          <a:ln/>
        </p:spPr>
        <p:txBody>
          <a:bodyPr wrap="square" lIns="0" tIns="0" rIns="0" bIns="0" rtlCol="0" anchor="ctr"/>
          <a:lstStyle/>
          <a:p>
            <a:pPr marL="0" indent="0">
              <a:buNone/>
            </a:pPr>
            <a:r>
              <a:rPr lang="en-US" sz="1650" b="1" dirty="0">
                <a:solidFill>
                  <a:srgbClr val="1C1917"/>
                </a:solidFill>
                <a:latin typeface="Cambria" pitchFamily="34" charset="0"/>
                <a:ea typeface="Cambria" pitchFamily="34" charset="-122"/>
                <a:cs typeface="Cambria" pitchFamily="34" charset="-120"/>
              </a:rPr>
              <a:t>For a household</a:t>
            </a:r>
            <a:endParaRPr lang="en-US" sz="1650" dirty="0"/>
          </a:p>
        </p:txBody>
      </p:sp>
      <p:sp>
        <p:nvSpPr>
          <p:cNvPr id="19" name="Text 17"/>
          <p:cNvSpPr/>
          <p:nvPr/>
        </p:nvSpPr>
        <p:spPr>
          <a:xfrm>
            <a:off x="841248" y="3968496"/>
            <a:ext cx="4809744" cy="1188720"/>
          </a:xfrm>
          <a:prstGeom prst="rect">
            <a:avLst/>
          </a:prstGeom>
          <a:noFill/>
          <a:ln/>
        </p:spPr>
        <p:txBody>
          <a:bodyPr wrap="square" lIns="0" tIns="0" rIns="0" bIns="0" rtlCol="0" anchor="t"/>
          <a:lstStyle/>
          <a:p>
            <a:pPr marL="0" indent="0">
              <a:lnSpc>
                <a:spcPts val="1800"/>
              </a:lnSpc>
              <a:buNone/>
            </a:pPr>
            <a:r>
              <a:rPr lang="en-US" sz="1250" dirty="0">
                <a:solidFill>
                  <a:srgbClr val="514C46"/>
                </a:solidFill>
                <a:latin typeface="Calibri" pitchFamily="34" charset="0"/>
                <a:ea typeface="Calibri" pitchFamily="34" charset="-122"/>
                <a:cs typeface="Calibri" pitchFamily="34" charset="-120"/>
              </a:rPr>
              <a:t>Your location inside Jordan is not the deciding factor. What matters is how much electricity you use, and in which months you use it. System size and consumption dominate the result.</a:t>
            </a:r>
            <a:endParaRPr lang="en-US" sz="1250" dirty="0"/>
          </a:p>
        </p:txBody>
      </p:sp>
      <p:sp>
        <p:nvSpPr>
          <p:cNvPr id="20" name="Shape 18"/>
          <p:cNvSpPr/>
          <p:nvPr/>
        </p:nvSpPr>
        <p:spPr>
          <a:xfrm>
            <a:off x="6263640" y="3401568"/>
            <a:ext cx="5358384" cy="1920240"/>
          </a:xfrm>
          <a:prstGeom prst="roundRect">
            <a:avLst>
              <a:gd name="adj" fmla="val 4286"/>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21" name="Text 19"/>
          <p:cNvSpPr/>
          <p:nvPr/>
        </p:nvSpPr>
        <p:spPr>
          <a:xfrm>
            <a:off x="6537960" y="3566160"/>
            <a:ext cx="4846320" cy="310896"/>
          </a:xfrm>
          <a:prstGeom prst="rect">
            <a:avLst/>
          </a:prstGeom>
          <a:noFill/>
          <a:ln/>
        </p:spPr>
        <p:txBody>
          <a:bodyPr wrap="square" lIns="0" tIns="0" rIns="0" bIns="0" rtlCol="0" anchor="ctr"/>
          <a:lstStyle/>
          <a:p>
            <a:pPr marL="0" indent="0">
              <a:buNone/>
            </a:pPr>
            <a:r>
              <a:rPr lang="en-US" sz="1650" b="1" dirty="0">
                <a:solidFill>
                  <a:srgbClr val="A06B08"/>
                </a:solidFill>
                <a:latin typeface="Cambria" pitchFamily="34" charset="0"/>
                <a:ea typeface="Cambria" pitchFamily="34" charset="-122"/>
                <a:cs typeface="Cambria" pitchFamily="34" charset="-120"/>
              </a:rPr>
              <a:t>For an investor</a:t>
            </a:r>
            <a:endParaRPr lang="en-US" sz="1650" dirty="0"/>
          </a:p>
        </p:txBody>
      </p:sp>
      <p:sp>
        <p:nvSpPr>
          <p:cNvPr id="22" name="Text 20"/>
          <p:cNvSpPr/>
          <p:nvPr/>
        </p:nvSpPr>
        <p:spPr>
          <a:xfrm>
            <a:off x="6537960" y="3968496"/>
            <a:ext cx="4809744" cy="1188720"/>
          </a:xfrm>
          <a:prstGeom prst="rect">
            <a:avLst/>
          </a:prstGeom>
          <a:noFill/>
          <a:ln/>
        </p:spPr>
        <p:txBody>
          <a:bodyPr wrap="square" lIns="0" tIns="0" rIns="0" bIns="0" rtlCol="0" anchor="t"/>
          <a:lstStyle/>
          <a:p>
            <a:pPr marL="0" indent="0">
              <a:lnSpc>
                <a:spcPts val="1800"/>
              </a:lnSpc>
              <a:buNone/>
            </a:pPr>
            <a:r>
              <a:rPr lang="en-US" sz="1250" dirty="0">
                <a:solidFill>
                  <a:srgbClr val="514C46"/>
                </a:solidFill>
                <a:latin typeface="Calibri" pitchFamily="34" charset="0"/>
                <a:ea typeface="Calibri" pitchFamily="34" charset="-122"/>
                <a:cs typeface="Calibri" pitchFamily="34" charset="-120"/>
              </a:rPr>
              <a:t>13% is worth having on a large project — but land price and grid access usually differ by more. The map ranks sites; it does not pick one — use it to shortlist, then decide on cost and grid connection.</a:t>
            </a:r>
            <a:endParaRPr lang="en-US" sz="1250" dirty="0"/>
          </a:p>
        </p:txBody>
      </p:sp>
      <p:sp>
        <p:nvSpPr>
          <p:cNvPr id="23" name="Text 21"/>
          <p:cNvSpPr/>
          <p:nvPr/>
        </p:nvSpPr>
        <p:spPr>
          <a:xfrm>
            <a:off x="566928" y="5486400"/>
            <a:ext cx="11055096" cy="292608"/>
          </a:xfrm>
          <a:prstGeom prst="rect">
            <a:avLst/>
          </a:prstGeom>
          <a:noFill/>
          <a:ln/>
        </p:spPr>
        <p:txBody>
          <a:bodyPr wrap="square" lIns="0" tIns="0" rIns="0" bIns="0" rtlCol="0" anchor="ctr"/>
          <a:lstStyle/>
          <a:p>
            <a:pPr marL="0" indent="0">
              <a:buNone/>
            </a:pPr>
            <a:r>
              <a:rPr lang="en-US" sz="1050" i="1" dirty="0">
                <a:solidFill>
                  <a:srgbClr val="8C8279"/>
                </a:solidFill>
                <a:latin typeface="Calibri" pitchFamily="34" charset="0"/>
                <a:ea typeface="Calibri" pitchFamily="34" charset="-122"/>
                <a:cs typeface="Calibri" pitchFamily="34" charset="-120"/>
              </a:rPr>
              <a:t>Figures are per grid location. The dashboard aggregates to district level, which narrows the range to 1,557 – 1,733.</a:t>
            </a:r>
            <a:endParaRPr lang="en-US" sz="1050" dirty="0"/>
          </a:p>
        </p:txBody>
      </p:sp>
      <p:sp>
        <p:nvSpPr>
          <p:cNvPr id="24" name="Shape 22"/>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25" name="Text 23"/>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26" name="Text 24"/>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06 · THE AI PART</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We Compared Three Models</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Same features, same split, same test set — only the algorithm changes.</a:t>
            </a:r>
            <a:endParaRPr lang="en-US" sz="1350" dirty="0"/>
          </a:p>
        </p:txBody>
      </p:sp>
      <p:sp>
        <p:nvSpPr>
          <p:cNvPr id="5" name="Shape 3"/>
          <p:cNvSpPr/>
          <p:nvPr/>
        </p:nvSpPr>
        <p:spPr>
          <a:xfrm>
            <a:off x="566928" y="1737360"/>
            <a:ext cx="6858000" cy="3017520"/>
          </a:xfrm>
          <a:prstGeom prst="roundRect">
            <a:avLst>
              <a:gd name="adj" fmla="val 2727"/>
            </a:avLst>
          </a:prstGeom>
          <a:solidFill>
            <a:srgbClr val="FFFFFF"/>
          </a:solidFill>
          <a:ln w="12700">
            <a:solidFill>
              <a:srgbClr val="E7E3DC"/>
            </a:solidFill>
            <a:prstDash val="solid"/>
          </a:ln>
        </p:spPr>
        <p:txBody>
          <a:bodyPr/>
          <a:lstStyle/>
          <a:p>
            <a:endParaRPr lang="en-JO"/>
          </a:p>
        </p:txBody>
      </p:sp>
      <p:graphicFrame>
        <p:nvGraphicFramePr>
          <p:cNvPr id="13" name="Table 0"/>
          <p:cNvGraphicFramePr>
            <a:graphicFrameLocks noGrp="1"/>
          </p:cNvGraphicFramePr>
          <p:nvPr>
            <p:extLst>
              <p:ext uri="{D42A27DB-BD31-4B8C-83A1-F6EECF244321}">
                <p14:modId xmlns:p14="http://schemas.microsoft.com/office/powerpoint/2010/main" val="2111804279"/>
              </p:ext>
            </p:extLst>
          </p:nvPr>
        </p:nvGraphicFramePr>
        <p:xfrm>
          <a:off x="841248" y="1965960"/>
          <a:ext cx="6647688" cy="2267712"/>
        </p:xfrm>
        <a:graphic>
          <a:graphicData uri="http://schemas.openxmlformats.org/drawingml/2006/table">
            <a:tbl>
              <a:tblPr/>
              <a:tblGrid>
                <a:gridCol w="3372016">
                  <a:extLst>
                    <a:ext uri="{9D8B030D-6E8A-4147-A177-3AD203B41FA5}">
                      <a16:colId xmlns:a16="http://schemas.microsoft.com/office/drawing/2014/main" val="20000"/>
                    </a:ext>
                  </a:extLst>
                </a:gridCol>
                <a:gridCol w="1637836">
                  <a:extLst>
                    <a:ext uri="{9D8B030D-6E8A-4147-A177-3AD203B41FA5}">
                      <a16:colId xmlns:a16="http://schemas.microsoft.com/office/drawing/2014/main" val="20001"/>
                    </a:ext>
                  </a:extLst>
                </a:gridCol>
                <a:gridCol w="1637836">
                  <a:extLst>
                    <a:ext uri="{9D8B030D-6E8A-4147-A177-3AD203B41FA5}">
                      <a16:colId xmlns:a16="http://schemas.microsoft.com/office/drawing/2014/main" val="20002"/>
                    </a:ext>
                  </a:extLst>
                </a:gridCol>
              </a:tblGrid>
              <a:tr h="566928">
                <a:tc>
                  <a:txBody>
                    <a:bodyPr/>
                    <a:lstStyle/>
                    <a:p>
                      <a:pPr marL="0" indent="0">
                        <a:buNone/>
                      </a:pPr>
                      <a:r>
                        <a:rPr lang="en-US" sz="1100" b="1" dirty="0">
                          <a:solidFill>
                            <a:srgbClr val="8C8279"/>
                          </a:solidFill>
                          <a:latin typeface="Calibri" pitchFamily="34" charset="0"/>
                          <a:ea typeface="Calibri" pitchFamily="34" charset="-122"/>
                          <a:cs typeface="Calibri" pitchFamily="34" charset="-120"/>
                        </a:rPr>
                        <a:t>Model                                                                    RMSE</a:t>
                      </a:r>
                      <a:endParaRPr lang="en-US" sz="11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12700" cap="flat" cmpd="sng" algn="ctr">
                      <a:solidFill>
                        <a:srgbClr val="E7E3D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8C8279"/>
                          </a:solidFill>
                          <a:latin typeface="Calibri" pitchFamily="34" charset="0"/>
                          <a:ea typeface="Calibri" charset="0"/>
                          <a:cs typeface="Calibri" pitchFamily="34" charset="-120"/>
                        </a:rPr>
                        <a:t>MAE</a:t>
                      </a:r>
                      <a:endParaRPr lang="en-US" sz="11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12700" cap="flat" cmpd="sng" algn="ctr">
                      <a:solidFill>
                        <a:srgbClr val="E7E3D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8C8279"/>
                          </a:solidFill>
                          <a:latin typeface="Calibri" pitchFamily="34" charset="0"/>
                          <a:ea typeface="Calibri" pitchFamily="34" charset="-122"/>
                          <a:cs typeface="Calibri" pitchFamily="34" charset="-120"/>
                        </a:rPr>
                        <a:t>R²</a:t>
                      </a:r>
                      <a:endParaRPr lang="en-US" sz="11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12700" cap="flat" cmpd="sng" algn="ctr">
                      <a:solidFill>
                        <a:srgbClr val="E7E3D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66928">
                <a:tc>
                  <a:txBody>
                    <a:bodyPr/>
                    <a:lstStyle/>
                    <a:p>
                      <a:pPr marL="0" indent="0">
                        <a:buNone/>
                      </a:pPr>
                      <a:r>
                        <a:rPr lang="en-US" sz="1400" dirty="0">
                          <a:solidFill>
                            <a:srgbClr val="514C46"/>
                          </a:solidFill>
                          <a:latin typeface="Calibri" pitchFamily="34" charset="0"/>
                          <a:ea typeface="Calibri" pitchFamily="34" charset="-122"/>
                          <a:cs typeface="Calibri" pitchFamily="34" charset="-120"/>
                        </a:rPr>
                        <a:t>Linear Regression                           </a:t>
                      </a:r>
                      <a:r>
                        <a:rPr lang="en-JO" sz="1400" b="0" i="0" u="none" strike="noStrike" kern="1200" dirty="0">
                          <a:solidFill>
                            <a:schemeClr val="tx1"/>
                          </a:solidFill>
                          <a:effectLst/>
                          <a:latin typeface="+mn-lt"/>
                          <a:ea typeface="+mn-ea"/>
                          <a:cs typeface="+mn-cs"/>
                        </a:rPr>
                        <a:t>0.2273</a:t>
                      </a:r>
                      <a:endParaRPr lang="en-US" sz="1400" b="0" dirty="0">
                        <a:latin typeface="Calibri" charset="0"/>
                        <a:ea typeface="Calibri" charset="0"/>
                        <a:cs typeface="Calibri" charset="0"/>
                      </a:endParaRPr>
                    </a:p>
                  </a:txBody>
                  <a:tcPr anchor="ctr">
                    <a:lnL w="0" cap="flat" cmpd="sng" algn="ctr">
                      <a:noFill/>
                    </a:lnL>
                    <a:lnR w="0" cap="flat" cmpd="sng" algn="ctr">
                      <a:noFill/>
                    </a:lnR>
                    <a:lnT w="12700" cap="flat" cmpd="sng" algn="ctr">
                      <a:solidFill>
                        <a:srgbClr val="E7E3DC"/>
                      </a:solidFill>
                      <a:prstDash val="solid"/>
                      <a:round/>
                      <a:headEnd type="none" w="med" len="med"/>
                      <a:tailEnd type="none" w="med" len="med"/>
                    </a:lnT>
                    <a:lnB w="12700" cap="flat" cmpd="sng" algn="ctr">
                      <a:solidFill>
                        <a:srgbClr val="E7E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14C46"/>
                          </a:solidFill>
                          <a:latin typeface="Calibri" pitchFamily="34" charset="0"/>
                          <a:ea typeface="Calibri" pitchFamily="34" charset="-122"/>
                          <a:cs typeface="Calibri" pitchFamily="34" charset="-120"/>
                        </a:rPr>
                        <a:t>0.152</a:t>
                      </a:r>
                      <a:endParaRPr lang="en-US" sz="1400" dirty="0">
                        <a:latin typeface="Calibri" charset="0"/>
                        <a:ea typeface="Calibri" charset="0"/>
                        <a:cs typeface="Calibri" charset="0"/>
                      </a:endParaRPr>
                    </a:p>
                  </a:txBody>
                  <a:tcPr anchor="ctr">
                    <a:lnL w="0" cap="flat" cmpd="sng" algn="ctr">
                      <a:noFill/>
                    </a:lnL>
                    <a:lnR w="0" cap="flat" cmpd="sng" algn="ctr">
                      <a:noFill/>
                    </a:lnR>
                    <a:lnT w="12700" cap="flat" cmpd="sng" algn="ctr">
                      <a:solidFill>
                        <a:srgbClr val="E7E3DC"/>
                      </a:solidFill>
                      <a:prstDash val="solid"/>
                      <a:round/>
                      <a:headEnd type="none" w="med" len="med"/>
                      <a:tailEnd type="none" w="med" len="med"/>
                    </a:lnT>
                    <a:lnB w="12700" cap="flat" cmpd="sng" algn="ctr">
                      <a:solidFill>
                        <a:srgbClr val="E7E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14C46"/>
                          </a:solidFill>
                          <a:latin typeface="Calibri" pitchFamily="34" charset="0"/>
                          <a:ea typeface="Calibri" pitchFamily="34" charset="-122"/>
                          <a:cs typeface="Calibri" pitchFamily="34" charset="-120"/>
                        </a:rPr>
                        <a:t>0.971</a:t>
                      </a:r>
                      <a:endParaRPr lang="en-US" sz="1400" dirty="0">
                        <a:latin typeface="Calibri" charset="0"/>
                        <a:ea typeface="Calibri" charset="0"/>
                        <a:cs typeface="Calibri" charset="0"/>
                      </a:endParaRPr>
                    </a:p>
                  </a:txBody>
                  <a:tcPr anchor="ctr">
                    <a:lnL w="0" cap="flat" cmpd="sng" algn="ctr">
                      <a:noFill/>
                    </a:lnL>
                    <a:lnR w="0" cap="flat" cmpd="sng" algn="ctr">
                      <a:noFill/>
                    </a:lnR>
                    <a:lnT w="12700" cap="flat" cmpd="sng" algn="ctr">
                      <a:solidFill>
                        <a:srgbClr val="E7E3DC"/>
                      </a:solidFill>
                      <a:prstDash val="solid"/>
                      <a:round/>
                      <a:headEnd type="none" w="med" len="med"/>
                      <a:tailEnd type="none" w="med" len="med"/>
                    </a:lnT>
                    <a:lnB w="12700" cap="flat" cmpd="sng" algn="ctr">
                      <a:solidFill>
                        <a:srgbClr val="E7E3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400" dirty="0">
                          <a:solidFill>
                            <a:srgbClr val="514C46"/>
                          </a:solidFill>
                          <a:latin typeface="Calibri" pitchFamily="34" charset="0"/>
                          <a:ea typeface="Calibri" pitchFamily="34" charset="-122"/>
                          <a:cs typeface="Calibri" pitchFamily="34" charset="-120"/>
                        </a:rPr>
                        <a:t>Random Forest                               </a:t>
                      </a:r>
                      <a:r>
                        <a:rPr lang="en-JO" sz="1400" b="0" i="0" u="none" strike="noStrike" kern="1200" dirty="0">
                          <a:solidFill>
                            <a:schemeClr val="tx1"/>
                          </a:solidFill>
                          <a:effectLst/>
                          <a:latin typeface="+mn-lt"/>
                          <a:ea typeface="+mn-ea"/>
                          <a:cs typeface="+mn-cs"/>
                        </a:rPr>
                        <a:t>0.1942</a:t>
                      </a:r>
                      <a:endParaRPr lang="en-US" sz="1400" dirty="0">
                        <a:latin typeface="Calibri" charset="0"/>
                        <a:ea typeface="Calibri" charset="0"/>
                        <a:cs typeface="Calibri" charset="0"/>
                      </a:endParaRPr>
                    </a:p>
                  </a:txBody>
                  <a:tcPr anchor="ctr">
                    <a:lnL w="0" cap="flat" cmpd="sng" algn="ctr">
                      <a:noFill/>
                    </a:lnL>
                    <a:lnR w="0" cap="flat" cmpd="sng" algn="ctr">
                      <a:noFill/>
                    </a:lnR>
                    <a:lnT w="12700" cap="flat" cmpd="sng" algn="ctr">
                      <a:solidFill>
                        <a:srgbClr val="E7E3DC"/>
                      </a:solidFill>
                      <a:prstDash val="solid"/>
                      <a:round/>
                      <a:headEnd type="none" w="med" len="med"/>
                      <a:tailEnd type="none" w="med" len="med"/>
                    </a:lnT>
                    <a:lnB w="12700" cap="flat" cmpd="sng" algn="ctr">
                      <a:solidFill>
                        <a:srgbClr val="E7E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14C46"/>
                          </a:solidFill>
                          <a:latin typeface="Calibri" pitchFamily="34" charset="0"/>
                          <a:ea typeface="Calibri" pitchFamily="34" charset="-122"/>
                          <a:cs typeface="Calibri" pitchFamily="34" charset="-120"/>
                        </a:rPr>
                        <a:t>0.100</a:t>
                      </a:r>
                      <a:endParaRPr lang="en-US" sz="1400" dirty="0">
                        <a:latin typeface="Calibri" charset="0"/>
                        <a:ea typeface="Calibri" charset="0"/>
                        <a:cs typeface="Calibri" charset="0"/>
                      </a:endParaRPr>
                    </a:p>
                  </a:txBody>
                  <a:tcPr anchor="ctr">
                    <a:lnL w="0" cap="flat" cmpd="sng" algn="ctr">
                      <a:noFill/>
                    </a:lnL>
                    <a:lnR w="0" cap="flat" cmpd="sng" algn="ctr">
                      <a:noFill/>
                    </a:lnR>
                    <a:lnT w="12700" cap="flat" cmpd="sng" algn="ctr">
                      <a:solidFill>
                        <a:srgbClr val="E7E3DC"/>
                      </a:solidFill>
                      <a:prstDash val="solid"/>
                      <a:round/>
                      <a:headEnd type="none" w="med" len="med"/>
                      <a:tailEnd type="none" w="med" len="med"/>
                    </a:lnT>
                    <a:lnB w="12700" cap="flat" cmpd="sng" algn="ctr">
                      <a:solidFill>
                        <a:srgbClr val="E7E3D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514C46"/>
                          </a:solidFill>
                          <a:latin typeface="Calibri" pitchFamily="34" charset="0"/>
                          <a:ea typeface="Calibri" pitchFamily="34" charset="-122"/>
                          <a:cs typeface="Calibri" pitchFamily="34" charset="-120"/>
                        </a:rPr>
                        <a:t>0.979</a:t>
                      </a:r>
                      <a:endParaRPr lang="en-US" sz="1400" dirty="0">
                        <a:latin typeface="Calibri" charset="0"/>
                        <a:ea typeface="Calibri" charset="0"/>
                        <a:cs typeface="Calibri" charset="0"/>
                      </a:endParaRPr>
                    </a:p>
                  </a:txBody>
                  <a:tcPr anchor="ctr">
                    <a:lnL w="0" cap="flat" cmpd="sng" algn="ctr">
                      <a:noFill/>
                    </a:lnL>
                    <a:lnR w="0" cap="flat" cmpd="sng" algn="ctr">
                      <a:noFill/>
                    </a:lnR>
                    <a:lnT w="12700" cap="flat" cmpd="sng" algn="ctr">
                      <a:solidFill>
                        <a:srgbClr val="E7E3DC"/>
                      </a:solidFill>
                      <a:prstDash val="solid"/>
                      <a:round/>
                      <a:headEnd type="none" w="med" len="med"/>
                      <a:tailEnd type="none" w="med" len="med"/>
                    </a:lnT>
                    <a:lnB w="12700" cap="flat" cmpd="sng" algn="ctr">
                      <a:solidFill>
                        <a:srgbClr val="E7E3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A06B08"/>
                          </a:solidFill>
                          <a:latin typeface="Calibri" pitchFamily="34" charset="0"/>
                          <a:ea typeface="Calibri" pitchFamily="34" charset="-122"/>
                          <a:cs typeface="Calibri" pitchFamily="34" charset="-120"/>
                        </a:rPr>
                        <a:t>★  </a:t>
                      </a:r>
                      <a:r>
                        <a:rPr lang="en-US" sz="1400" b="1" dirty="0" err="1">
                          <a:solidFill>
                            <a:srgbClr val="A06B08"/>
                          </a:solidFill>
                          <a:latin typeface="Calibri" pitchFamily="34" charset="0"/>
                          <a:ea typeface="Calibri" pitchFamily="34" charset="-122"/>
                          <a:cs typeface="Calibri" pitchFamily="34" charset="-120"/>
                        </a:rPr>
                        <a:t>XGBoost</a:t>
                      </a:r>
                      <a:r>
                        <a:rPr lang="en-US" sz="1400" b="1" dirty="0">
                          <a:solidFill>
                            <a:srgbClr val="A06B08"/>
                          </a:solidFill>
                          <a:latin typeface="Calibri" pitchFamily="34" charset="0"/>
                          <a:ea typeface="Calibri" pitchFamily="34" charset="-122"/>
                          <a:cs typeface="Calibri" pitchFamily="34" charset="-120"/>
                        </a:rPr>
                        <a:t>                                    </a:t>
                      </a:r>
                      <a:r>
                        <a:rPr lang="en-JO" sz="1400" b="0" i="0" u="none" strike="noStrike" kern="1200" dirty="0">
                          <a:solidFill>
                            <a:schemeClr val="tx1"/>
                          </a:solidFill>
                          <a:effectLst/>
                          <a:latin typeface="+mn-lt"/>
                          <a:ea typeface="+mn-ea"/>
                          <a:cs typeface="+mn-cs"/>
                        </a:rPr>
                        <a:t>0.1781</a:t>
                      </a:r>
                      <a:endParaRPr lang="en-US" sz="1400" dirty="0">
                        <a:latin typeface="Calibri" charset="0"/>
                        <a:ea typeface="Calibri" charset="0"/>
                        <a:cs typeface="Calibri" charset="0"/>
                      </a:endParaRPr>
                    </a:p>
                  </a:txBody>
                  <a:tcPr anchor="ctr">
                    <a:lnL w="0" cap="flat" cmpd="sng" algn="ctr">
                      <a:noFill/>
                    </a:lnL>
                    <a:lnR w="0" cap="flat" cmpd="sng" algn="ctr">
                      <a:noFill/>
                    </a:lnR>
                    <a:lnT w="12700" cap="flat" cmpd="sng" algn="ctr">
                      <a:solidFill>
                        <a:srgbClr val="E7E3DC"/>
                      </a:solidFill>
                      <a:prstDash val="solid"/>
                      <a:round/>
                      <a:headEnd type="none" w="med" len="med"/>
                      <a:tailEnd type="none" w="med" len="med"/>
                    </a:lnT>
                    <a:lnB w="12700" cap="flat" cmpd="sng" algn="ctr">
                      <a:solidFill>
                        <a:srgbClr val="E7E3DC"/>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A06B08"/>
                          </a:solidFill>
                          <a:latin typeface="Calibri" pitchFamily="34" charset="0"/>
                          <a:ea typeface="Calibri" pitchFamily="34" charset="-122"/>
                          <a:cs typeface="Calibri" pitchFamily="34" charset="-120"/>
                        </a:rPr>
                        <a:t>0.097</a:t>
                      </a:r>
                      <a:endParaRPr lang="en-US" sz="1400" dirty="0">
                        <a:latin typeface="Calibri" charset="0"/>
                        <a:ea typeface="Calibri" charset="0"/>
                        <a:cs typeface="Calibri" charset="0"/>
                      </a:endParaRPr>
                    </a:p>
                  </a:txBody>
                  <a:tcPr anchor="ctr">
                    <a:lnL w="0" cap="flat" cmpd="sng" algn="ctr">
                      <a:noFill/>
                    </a:lnL>
                    <a:lnR w="0" cap="flat" cmpd="sng" algn="ctr">
                      <a:noFill/>
                    </a:lnR>
                    <a:lnT w="12700" cap="flat" cmpd="sng" algn="ctr">
                      <a:solidFill>
                        <a:srgbClr val="E7E3DC"/>
                      </a:solidFill>
                      <a:prstDash val="solid"/>
                      <a:round/>
                      <a:headEnd type="none" w="med" len="med"/>
                      <a:tailEnd type="none" w="med" len="med"/>
                    </a:lnT>
                    <a:lnB w="12700" cap="flat" cmpd="sng" algn="ctr">
                      <a:solidFill>
                        <a:srgbClr val="E7E3DC"/>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A06B08"/>
                          </a:solidFill>
                          <a:latin typeface="Calibri" pitchFamily="34" charset="0"/>
                          <a:ea typeface="Calibri" pitchFamily="34" charset="-122"/>
                          <a:cs typeface="Calibri" pitchFamily="34" charset="-120"/>
                        </a:rPr>
                        <a:t>0.982</a:t>
                      </a:r>
                      <a:endParaRPr lang="en-US" sz="1400" dirty="0">
                        <a:latin typeface="Calibri" charset="0"/>
                        <a:ea typeface="Calibri" charset="0"/>
                        <a:cs typeface="Calibri" charset="0"/>
                      </a:endParaRPr>
                    </a:p>
                  </a:txBody>
                  <a:tcPr anchor="ctr">
                    <a:lnL w="0" cap="flat" cmpd="sng" algn="ctr">
                      <a:noFill/>
                    </a:lnL>
                    <a:lnR w="0" cap="flat" cmpd="sng" algn="ctr">
                      <a:noFill/>
                    </a:lnR>
                    <a:lnT w="12700" cap="flat" cmpd="sng" algn="ctr">
                      <a:solidFill>
                        <a:srgbClr val="E7E3DC"/>
                      </a:solidFill>
                      <a:prstDash val="solid"/>
                      <a:round/>
                      <a:headEnd type="none" w="med" len="med"/>
                      <a:tailEnd type="none" w="med" len="med"/>
                    </a:lnT>
                    <a:lnB w="12700" cap="flat" cmpd="sng" algn="ctr">
                      <a:solidFill>
                        <a:srgbClr val="E7E3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841248" y="4224528"/>
            <a:ext cx="6309360" cy="365760"/>
          </a:xfrm>
          <a:prstGeom prst="rect">
            <a:avLst/>
          </a:prstGeom>
          <a:noFill/>
          <a:ln/>
        </p:spPr>
        <p:txBody>
          <a:bodyPr wrap="square" lIns="0" tIns="0" rIns="0" bIns="0" rtlCol="0" anchor="ctr"/>
          <a:lstStyle/>
          <a:p>
            <a:pPr marL="0" indent="0">
              <a:buNone/>
            </a:pPr>
            <a:r>
              <a:rPr lang="en-US" sz="1250" i="1" dirty="0">
                <a:solidFill>
                  <a:srgbClr val="1C1917"/>
                </a:solidFill>
                <a:latin typeface="Calibri" pitchFamily="34" charset="0"/>
                <a:ea typeface="Calibri" pitchFamily="34" charset="-122"/>
                <a:cs typeface="Calibri" pitchFamily="34" charset="-120"/>
              </a:rPr>
              <a:t>XGBoost reduced the error by 36% compared with the linear model.</a:t>
            </a:r>
            <a:endParaRPr lang="en-US" sz="1250" dirty="0"/>
          </a:p>
        </p:txBody>
      </p:sp>
      <p:sp>
        <p:nvSpPr>
          <p:cNvPr id="8" name="Shape 5"/>
          <p:cNvSpPr/>
          <p:nvPr/>
        </p:nvSpPr>
        <p:spPr>
          <a:xfrm>
            <a:off x="7726680" y="1737360"/>
            <a:ext cx="3895344" cy="3017520"/>
          </a:xfrm>
          <a:prstGeom prst="roundRect">
            <a:avLst>
              <a:gd name="adj" fmla="val 2727"/>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9" name="Text 6"/>
          <p:cNvSpPr/>
          <p:nvPr/>
        </p:nvSpPr>
        <p:spPr>
          <a:xfrm>
            <a:off x="7982712" y="1920240"/>
            <a:ext cx="3429000" cy="310896"/>
          </a:xfrm>
          <a:prstGeom prst="rect">
            <a:avLst/>
          </a:prstGeom>
          <a:noFill/>
          <a:ln/>
        </p:spPr>
        <p:txBody>
          <a:bodyPr wrap="square" lIns="0" tIns="0" rIns="0" bIns="0" rtlCol="0" anchor="ctr"/>
          <a:lstStyle/>
          <a:p>
            <a:pPr marL="0" indent="0">
              <a:buNone/>
            </a:pPr>
            <a:r>
              <a:rPr lang="en-US" sz="1650" b="1" dirty="0">
                <a:solidFill>
                  <a:srgbClr val="A06B08"/>
                </a:solidFill>
                <a:latin typeface="Cambria" pitchFamily="34" charset="0"/>
                <a:ea typeface="Cambria" pitchFamily="34" charset="-122"/>
                <a:cs typeface="Cambria" pitchFamily="34" charset="-120"/>
              </a:rPr>
              <a:t>Why not a simple line?</a:t>
            </a:r>
            <a:endParaRPr lang="en-US" sz="1650" dirty="0"/>
          </a:p>
        </p:txBody>
      </p:sp>
      <p:sp>
        <p:nvSpPr>
          <p:cNvPr id="10" name="Text 7"/>
          <p:cNvSpPr/>
          <p:nvPr/>
        </p:nvSpPr>
        <p:spPr>
          <a:xfrm>
            <a:off x="7982712" y="2340864"/>
            <a:ext cx="3401568" cy="1371600"/>
          </a:xfrm>
          <a:prstGeom prst="rect">
            <a:avLst/>
          </a:prstGeom>
          <a:noFill/>
          <a:ln/>
        </p:spPr>
        <p:txBody>
          <a:bodyPr wrap="square" lIns="0" tIns="0" rIns="0" bIns="0" rtlCol="0" anchor="t"/>
          <a:lstStyle/>
          <a:p>
            <a:pPr marL="0" indent="0">
              <a:lnSpc>
                <a:spcPts val="1800"/>
              </a:lnSpc>
              <a:buNone/>
            </a:pPr>
            <a:r>
              <a:rPr lang="en-US" sz="1250" dirty="0">
                <a:solidFill>
                  <a:srgbClr val="514C46"/>
                </a:solidFill>
                <a:latin typeface="Calibri" pitchFamily="34" charset="0"/>
                <a:ea typeface="Calibri" pitchFamily="34" charset="-122"/>
                <a:cs typeface="Calibri" pitchFamily="34" charset="-120"/>
              </a:rPr>
              <a:t>Heat helps on cloudy days and hurts on sunny days. A straight line cannot describe an effect that changes direction — trees can.</a:t>
            </a:r>
            <a:endParaRPr lang="en-US" sz="1250" dirty="0"/>
          </a:p>
        </p:txBody>
      </p:sp>
      <p:sp>
        <p:nvSpPr>
          <p:cNvPr id="11" name="Text 8"/>
          <p:cNvSpPr/>
          <p:nvPr/>
        </p:nvSpPr>
        <p:spPr>
          <a:xfrm>
            <a:off x="7982712" y="3712464"/>
            <a:ext cx="3401568" cy="914400"/>
          </a:xfrm>
          <a:prstGeom prst="rect">
            <a:avLst/>
          </a:prstGeom>
          <a:noFill/>
          <a:ln/>
        </p:spPr>
        <p:txBody>
          <a:bodyPr wrap="square" lIns="0" tIns="0" rIns="0" bIns="0" rtlCol="0" anchor="t"/>
          <a:lstStyle/>
          <a:p>
            <a:pPr marL="0" indent="0">
              <a:lnSpc>
                <a:spcPts val="1700"/>
              </a:lnSpc>
              <a:buNone/>
            </a:pPr>
            <a:r>
              <a:rPr lang="en-US" sz="1200" b="1" dirty="0">
                <a:solidFill>
                  <a:srgbClr val="1C1917"/>
                </a:solidFill>
                <a:latin typeface="Calibri" pitchFamily="34" charset="0"/>
                <a:ea typeface="Calibri" pitchFamily="34" charset="-122"/>
                <a:cs typeface="Calibri" pitchFamily="34" charset="-120"/>
              </a:rPr>
              <a:t>We did not choose XGBoost because it is popular. We chose it because the relationship is not a straight line.</a:t>
            </a:r>
            <a:endParaRPr lang="en-US" sz="1200" dirty="0"/>
          </a:p>
        </p:txBody>
      </p:sp>
      <p:sp>
        <p:nvSpPr>
          <p:cNvPr id="12" name="Shape 9"/>
          <p:cNvSpPr/>
          <p:nvPr/>
        </p:nvSpPr>
        <p:spPr>
          <a:xfrm>
            <a:off x="667512" y="5038344"/>
            <a:ext cx="11055096" cy="914400"/>
          </a:xfrm>
          <a:prstGeom prst="roundRect">
            <a:avLst>
              <a:gd name="adj" fmla="val 9000"/>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6" name="Text 10"/>
          <p:cNvSpPr/>
          <p:nvPr/>
        </p:nvSpPr>
        <p:spPr>
          <a:xfrm>
            <a:off x="886968" y="5047488"/>
            <a:ext cx="10415016" cy="914400"/>
          </a:xfrm>
          <a:prstGeom prst="rect">
            <a:avLst/>
          </a:prstGeom>
          <a:noFill/>
          <a:ln/>
        </p:spPr>
        <p:txBody>
          <a:bodyPr wrap="square" lIns="0" tIns="0" rIns="0" bIns="0" rtlCol="0" anchor="ctr"/>
          <a:lstStyle/>
          <a:p>
            <a:pPr marL="0" indent="0">
              <a:buNone/>
            </a:pPr>
            <a:r>
              <a:rPr lang="en-US" sz="1250" b="1" dirty="0">
                <a:solidFill>
                  <a:srgbClr val="1C1917"/>
                </a:solidFill>
                <a:latin typeface="Calibri" pitchFamily="34" charset="0"/>
                <a:ea typeface="Calibri" pitchFamily="34" charset="-122"/>
                <a:cs typeface="Calibri" pitchFamily="34" charset="-120"/>
              </a:rPr>
              <a:t>MAE </a:t>
            </a:r>
            <a:r>
              <a:rPr lang="en-US" sz="1250" dirty="0">
                <a:solidFill>
                  <a:srgbClr val="514C46"/>
                </a:solidFill>
                <a:latin typeface="Calibri" pitchFamily="34" charset="0"/>
                <a:ea typeface="Calibri" pitchFamily="34" charset="-122"/>
                <a:cs typeface="Calibri" pitchFamily="34" charset="-120"/>
              </a:rPr>
              <a:t>is the average size of the mistake, in kWh/kWp/day.   </a:t>
            </a:r>
            <a:r>
              <a:rPr lang="en-US" sz="1250" b="1" dirty="0">
                <a:solidFill>
                  <a:srgbClr val="1C1917"/>
                </a:solidFill>
                <a:latin typeface="Calibri" pitchFamily="34" charset="0"/>
                <a:ea typeface="Calibri" pitchFamily="34" charset="-122"/>
                <a:cs typeface="Calibri" pitchFamily="34" charset="-120"/>
              </a:rPr>
              <a:t>R² </a:t>
            </a:r>
            <a:r>
              <a:rPr lang="en-US" sz="1250" dirty="0">
                <a:solidFill>
                  <a:srgbClr val="514C46"/>
                </a:solidFill>
                <a:latin typeface="Calibri" pitchFamily="34" charset="0"/>
                <a:ea typeface="Calibri" pitchFamily="34" charset="-122"/>
                <a:cs typeface="Calibri" pitchFamily="34" charset="-120"/>
              </a:rPr>
              <a:t>is the share of the variation the model reproduces — 1.0 would be perfect.</a:t>
            </a:r>
            <a:endParaRPr lang="en-US" sz="1250" dirty="0"/>
          </a:p>
        </p:txBody>
      </p:sp>
      <p:sp>
        <p:nvSpPr>
          <p:cNvPr id="14" name="Shape 11"/>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15" name="Text 12"/>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16" name="Text 13"/>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06 · THE AI PART</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How We Tested It</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Two separate questions, answered with two separate held-out sets.</a:t>
            </a:r>
            <a:endParaRPr lang="en-US" sz="1350" dirty="0"/>
          </a:p>
        </p:txBody>
      </p:sp>
      <p:sp>
        <p:nvSpPr>
          <p:cNvPr id="5" name="Shape 3"/>
          <p:cNvSpPr/>
          <p:nvPr/>
        </p:nvSpPr>
        <p:spPr>
          <a:xfrm>
            <a:off x="566928" y="1737360"/>
            <a:ext cx="5852160" cy="3566160"/>
          </a:xfrm>
          <a:prstGeom prst="roundRect">
            <a:avLst>
              <a:gd name="adj" fmla="val 2308"/>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6" name="Text 4"/>
          <p:cNvSpPr/>
          <p:nvPr/>
        </p:nvSpPr>
        <p:spPr>
          <a:xfrm>
            <a:off x="859536" y="1920240"/>
            <a:ext cx="5303520" cy="329184"/>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Can it predict a future year?</a:t>
            </a:r>
            <a:endParaRPr lang="en-US" sz="1700" dirty="0"/>
          </a:p>
        </p:txBody>
      </p:sp>
      <p:sp>
        <p:nvSpPr>
          <p:cNvPr id="7" name="Shape 5"/>
          <p:cNvSpPr/>
          <p:nvPr/>
        </p:nvSpPr>
        <p:spPr>
          <a:xfrm>
            <a:off x="859536" y="2395728"/>
            <a:ext cx="5266944" cy="749808"/>
          </a:xfrm>
          <a:prstGeom prst="roundRect">
            <a:avLst>
              <a:gd name="adj" fmla="val 10976"/>
            </a:avLst>
          </a:prstGeom>
          <a:solidFill>
            <a:srgbClr val="FDF3E1"/>
          </a:solidFill>
          <a:ln w="9525">
            <a:solidFill>
              <a:srgbClr val="FDF3E1"/>
            </a:solidFill>
            <a:prstDash val="solid"/>
          </a:ln>
        </p:spPr>
        <p:txBody>
          <a:bodyPr/>
          <a:lstStyle/>
          <a:p>
            <a:endParaRPr lang="en-JO"/>
          </a:p>
        </p:txBody>
      </p:sp>
      <p:sp>
        <p:nvSpPr>
          <p:cNvPr id="8" name="Text 6"/>
          <p:cNvSpPr/>
          <p:nvPr/>
        </p:nvSpPr>
        <p:spPr>
          <a:xfrm>
            <a:off x="1069848" y="2395728"/>
            <a:ext cx="1600200" cy="749808"/>
          </a:xfrm>
          <a:prstGeom prst="rect">
            <a:avLst/>
          </a:prstGeom>
          <a:noFill/>
          <a:ln/>
        </p:spPr>
        <p:txBody>
          <a:bodyPr wrap="square" lIns="0" tIns="0" rIns="0" bIns="0" rtlCol="0" anchor="ctr"/>
          <a:lstStyle/>
          <a:p>
            <a:pPr marL="0" indent="0">
              <a:buNone/>
            </a:pPr>
            <a:r>
              <a:rPr lang="en-US" sz="1600" b="1" dirty="0">
                <a:solidFill>
                  <a:srgbClr val="1C1917"/>
                </a:solidFill>
                <a:latin typeface="Cambria" pitchFamily="34" charset="0"/>
                <a:ea typeface="Cambria" pitchFamily="34" charset="-122"/>
                <a:cs typeface="Cambria" pitchFamily="34" charset="-120"/>
              </a:rPr>
              <a:t>2020 – 2023</a:t>
            </a:r>
            <a:endParaRPr lang="en-US" sz="1600" dirty="0"/>
          </a:p>
        </p:txBody>
      </p:sp>
      <p:sp>
        <p:nvSpPr>
          <p:cNvPr id="9" name="Text 7"/>
          <p:cNvSpPr/>
          <p:nvPr/>
        </p:nvSpPr>
        <p:spPr>
          <a:xfrm>
            <a:off x="2670048" y="2395728"/>
            <a:ext cx="3291840" cy="749808"/>
          </a:xfrm>
          <a:prstGeom prst="rect">
            <a:avLst/>
          </a:prstGeom>
          <a:noFill/>
          <a:ln/>
        </p:spPr>
        <p:txBody>
          <a:bodyPr wrap="square" lIns="0" tIns="0" rIns="0" bIns="0" rtlCol="0" anchor="ctr"/>
          <a:lstStyle/>
          <a:p>
            <a:pPr marL="0" indent="0">
              <a:buNone/>
            </a:pPr>
            <a:r>
              <a:rPr lang="en-US" sz="1200" dirty="0">
                <a:solidFill>
                  <a:srgbClr val="514C46"/>
                </a:solidFill>
                <a:latin typeface="Calibri" pitchFamily="34" charset="0"/>
                <a:ea typeface="Calibri" pitchFamily="34" charset="-122"/>
                <a:cs typeface="Calibri" pitchFamily="34" charset="-120"/>
              </a:rPr>
              <a:t>Training</a:t>
            </a:r>
            <a:endParaRPr lang="en-US" sz="1200" dirty="0"/>
          </a:p>
        </p:txBody>
      </p:sp>
      <p:sp>
        <p:nvSpPr>
          <p:cNvPr id="10" name="Shape 8"/>
          <p:cNvSpPr/>
          <p:nvPr/>
        </p:nvSpPr>
        <p:spPr>
          <a:xfrm>
            <a:off x="859536" y="3328416"/>
            <a:ext cx="5266944" cy="749808"/>
          </a:xfrm>
          <a:prstGeom prst="roundRect">
            <a:avLst>
              <a:gd name="adj" fmla="val 10976"/>
            </a:avLst>
          </a:prstGeom>
          <a:solidFill>
            <a:srgbClr val="FDF3E1"/>
          </a:solidFill>
          <a:ln w="9525">
            <a:solidFill>
              <a:srgbClr val="FDF3E1"/>
            </a:solidFill>
            <a:prstDash val="solid"/>
          </a:ln>
        </p:spPr>
        <p:txBody>
          <a:bodyPr/>
          <a:lstStyle/>
          <a:p>
            <a:endParaRPr lang="en-JO"/>
          </a:p>
        </p:txBody>
      </p:sp>
      <p:sp>
        <p:nvSpPr>
          <p:cNvPr id="11" name="Text 9"/>
          <p:cNvSpPr/>
          <p:nvPr/>
        </p:nvSpPr>
        <p:spPr>
          <a:xfrm>
            <a:off x="1069848" y="3328416"/>
            <a:ext cx="1600200" cy="749808"/>
          </a:xfrm>
          <a:prstGeom prst="rect">
            <a:avLst/>
          </a:prstGeom>
          <a:noFill/>
          <a:ln/>
        </p:spPr>
        <p:txBody>
          <a:bodyPr wrap="square" lIns="0" tIns="0" rIns="0" bIns="0" rtlCol="0" anchor="ctr"/>
          <a:lstStyle/>
          <a:p>
            <a:pPr marL="0" indent="0">
              <a:buNone/>
            </a:pPr>
            <a:r>
              <a:rPr lang="en-US" sz="1600" b="1" dirty="0">
                <a:solidFill>
                  <a:srgbClr val="1C1917"/>
                </a:solidFill>
                <a:latin typeface="Cambria" pitchFamily="34" charset="0"/>
                <a:ea typeface="Cambria" pitchFamily="34" charset="-122"/>
                <a:cs typeface="Cambria" pitchFamily="34" charset="-120"/>
              </a:rPr>
              <a:t>2024</a:t>
            </a:r>
            <a:endParaRPr lang="en-US" sz="1600" dirty="0"/>
          </a:p>
        </p:txBody>
      </p:sp>
      <p:sp>
        <p:nvSpPr>
          <p:cNvPr id="12" name="Text 10"/>
          <p:cNvSpPr/>
          <p:nvPr/>
        </p:nvSpPr>
        <p:spPr>
          <a:xfrm>
            <a:off x="2670048" y="3328416"/>
            <a:ext cx="3291840" cy="749808"/>
          </a:xfrm>
          <a:prstGeom prst="rect">
            <a:avLst/>
          </a:prstGeom>
          <a:noFill/>
          <a:ln/>
        </p:spPr>
        <p:txBody>
          <a:bodyPr wrap="square" lIns="0" tIns="0" rIns="0" bIns="0" rtlCol="0" anchor="ctr"/>
          <a:lstStyle/>
          <a:p>
            <a:pPr marL="0" indent="0">
              <a:buNone/>
            </a:pPr>
            <a:r>
              <a:rPr lang="en-US" sz="1200" dirty="0">
                <a:solidFill>
                  <a:srgbClr val="514C46"/>
                </a:solidFill>
                <a:latin typeface="Calibri" pitchFamily="34" charset="0"/>
                <a:ea typeface="Calibri" pitchFamily="34" charset="-122"/>
                <a:cs typeface="Calibri" pitchFamily="34" charset="-120"/>
              </a:rPr>
              <a:t>Validation — choosing the model</a:t>
            </a:r>
            <a:endParaRPr lang="en-US" sz="1200" dirty="0"/>
          </a:p>
        </p:txBody>
      </p:sp>
      <p:sp>
        <p:nvSpPr>
          <p:cNvPr id="13" name="Shape 11"/>
          <p:cNvSpPr/>
          <p:nvPr/>
        </p:nvSpPr>
        <p:spPr>
          <a:xfrm>
            <a:off x="859536" y="4261104"/>
            <a:ext cx="5266944" cy="749808"/>
          </a:xfrm>
          <a:prstGeom prst="roundRect">
            <a:avLst>
              <a:gd name="adj" fmla="val 10976"/>
            </a:avLst>
          </a:prstGeom>
          <a:solidFill>
            <a:srgbClr val="EDF4EF"/>
          </a:solidFill>
          <a:ln w="9525">
            <a:solidFill>
              <a:srgbClr val="EDF4EF"/>
            </a:solidFill>
            <a:prstDash val="solid"/>
          </a:ln>
        </p:spPr>
        <p:txBody>
          <a:bodyPr/>
          <a:lstStyle/>
          <a:p>
            <a:endParaRPr lang="en-JO"/>
          </a:p>
        </p:txBody>
      </p:sp>
      <p:sp>
        <p:nvSpPr>
          <p:cNvPr id="14" name="Text 12"/>
          <p:cNvSpPr/>
          <p:nvPr/>
        </p:nvSpPr>
        <p:spPr>
          <a:xfrm>
            <a:off x="1069848" y="4261104"/>
            <a:ext cx="1600200" cy="749808"/>
          </a:xfrm>
          <a:prstGeom prst="rect">
            <a:avLst/>
          </a:prstGeom>
          <a:noFill/>
          <a:ln/>
        </p:spPr>
        <p:txBody>
          <a:bodyPr wrap="square" lIns="0" tIns="0" rIns="0" bIns="0" rtlCol="0" anchor="ctr"/>
          <a:lstStyle/>
          <a:p>
            <a:pPr marL="0" indent="0">
              <a:buNone/>
            </a:pPr>
            <a:r>
              <a:rPr lang="en-US" sz="1600" b="1" dirty="0">
                <a:solidFill>
                  <a:srgbClr val="2E6B4F"/>
                </a:solidFill>
                <a:latin typeface="Cambria" pitchFamily="34" charset="0"/>
                <a:ea typeface="Cambria" pitchFamily="34" charset="-122"/>
                <a:cs typeface="Cambria" pitchFamily="34" charset="-120"/>
              </a:rPr>
              <a:t>2025</a:t>
            </a:r>
            <a:endParaRPr lang="en-US" sz="1600" dirty="0"/>
          </a:p>
        </p:txBody>
      </p:sp>
      <p:sp>
        <p:nvSpPr>
          <p:cNvPr id="15" name="Text 13"/>
          <p:cNvSpPr/>
          <p:nvPr/>
        </p:nvSpPr>
        <p:spPr>
          <a:xfrm>
            <a:off x="2670048" y="4261104"/>
            <a:ext cx="3291840" cy="749808"/>
          </a:xfrm>
          <a:prstGeom prst="rect">
            <a:avLst/>
          </a:prstGeom>
          <a:noFill/>
          <a:ln/>
        </p:spPr>
        <p:txBody>
          <a:bodyPr wrap="square" lIns="0" tIns="0" rIns="0" bIns="0" rtlCol="0" anchor="ctr"/>
          <a:lstStyle/>
          <a:p>
            <a:pPr marL="0" indent="0">
              <a:buNone/>
            </a:pPr>
            <a:r>
              <a:rPr lang="en-US" sz="1200" dirty="0">
                <a:solidFill>
                  <a:srgbClr val="514C46"/>
                </a:solidFill>
                <a:latin typeface="Calibri" pitchFamily="34" charset="0"/>
                <a:ea typeface="Calibri" pitchFamily="34" charset="-122"/>
                <a:cs typeface="Calibri" pitchFamily="34" charset="-120"/>
              </a:rPr>
              <a:t>Final test — used once, at the end</a:t>
            </a:r>
            <a:endParaRPr lang="en-US" sz="1200" dirty="0"/>
          </a:p>
        </p:txBody>
      </p:sp>
      <p:sp>
        <p:nvSpPr>
          <p:cNvPr id="16" name="Shape 14"/>
          <p:cNvSpPr/>
          <p:nvPr/>
        </p:nvSpPr>
        <p:spPr>
          <a:xfrm>
            <a:off x="6711696" y="1773936"/>
            <a:ext cx="4901184" cy="3566160"/>
          </a:xfrm>
          <a:prstGeom prst="roundRect">
            <a:avLst>
              <a:gd name="adj" fmla="val 2308"/>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dirty="0"/>
          </a:p>
        </p:txBody>
      </p:sp>
      <p:sp>
        <p:nvSpPr>
          <p:cNvPr id="17" name="Text 15"/>
          <p:cNvSpPr/>
          <p:nvPr/>
        </p:nvSpPr>
        <p:spPr>
          <a:xfrm>
            <a:off x="6995160" y="1920240"/>
            <a:ext cx="4389120" cy="329184"/>
          </a:xfrm>
          <a:prstGeom prst="rect">
            <a:avLst/>
          </a:prstGeom>
          <a:noFill/>
          <a:ln/>
        </p:spPr>
        <p:txBody>
          <a:bodyPr wrap="square" lIns="0" tIns="0" rIns="0" bIns="0" rtlCol="0" anchor="ctr"/>
          <a:lstStyle/>
          <a:p>
            <a:pPr marL="0" indent="0">
              <a:buNone/>
            </a:pPr>
            <a:r>
              <a:rPr lang="en-US" sz="1700" b="1" dirty="0">
                <a:solidFill>
                  <a:srgbClr val="A06B08"/>
                </a:solidFill>
                <a:latin typeface="Cambria" pitchFamily="34" charset="0"/>
                <a:ea typeface="Cambria" pitchFamily="34" charset="-122"/>
                <a:cs typeface="Cambria" pitchFamily="34" charset="-120"/>
              </a:rPr>
              <a:t>Can it predict a new place?</a:t>
            </a:r>
            <a:endParaRPr lang="en-US" sz="1700" dirty="0"/>
          </a:p>
        </p:txBody>
      </p:sp>
      <p:sp>
        <p:nvSpPr>
          <p:cNvPr id="18" name="Text 16"/>
          <p:cNvSpPr/>
          <p:nvPr/>
        </p:nvSpPr>
        <p:spPr>
          <a:xfrm>
            <a:off x="6995160" y="2395728"/>
            <a:ext cx="4370832" cy="868680"/>
          </a:xfrm>
          <a:prstGeom prst="rect">
            <a:avLst/>
          </a:prstGeom>
          <a:noFill/>
          <a:ln/>
        </p:spPr>
        <p:txBody>
          <a:bodyPr wrap="square" lIns="0" tIns="0" rIns="0" bIns="0" rtlCol="0" anchor="ctr"/>
          <a:lstStyle/>
          <a:p>
            <a:pPr marL="0" indent="0">
              <a:lnSpc>
                <a:spcPts val="1800"/>
              </a:lnSpc>
              <a:buNone/>
            </a:pPr>
            <a:r>
              <a:rPr lang="en-US" sz="1250" dirty="0">
                <a:solidFill>
                  <a:srgbClr val="514C46"/>
                </a:solidFill>
                <a:latin typeface="Calibri" pitchFamily="34" charset="0"/>
                <a:ea typeface="Calibri" pitchFamily="34" charset="-122"/>
                <a:cs typeface="Calibri" pitchFamily="34" charset="-120"/>
              </a:rPr>
              <a:t>One location was removed from the dataset completely — the model never saw a single record from it during training.</a:t>
            </a:r>
            <a:endParaRPr lang="en-US" sz="1250" dirty="0"/>
          </a:p>
        </p:txBody>
      </p:sp>
      <p:sp>
        <p:nvSpPr>
          <p:cNvPr id="19" name="Text 17"/>
          <p:cNvSpPr/>
          <p:nvPr/>
        </p:nvSpPr>
        <p:spPr>
          <a:xfrm>
            <a:off x="6995160" y="3429000"/>
            <a:ext cx="4370832" cy="822960"/>
          </a:xfrm>
          <a:prstGeom prst="rect">
            <a:avLst/>
          </a:prstGeom>
          <a:noFill/>
          <a:ln/>
        </p:spPr>
        <p:txBody>
          <a:bodyPr wrap="square" lIns="0" tIns="0" rIns="0" bIns="0" rtlCol="0" anchor="ctr"/>
          <a:lstStyle/>
          <a:p>
            <a:pPr marL="0" indent="0" algn="ctr">
              <a:buNone/>
            </a:pPr>
            <a:r>
              <a:rPr lang="en-US" sz="4400" b="1" dirty="0">
                <a:solidFill>
                  <a:srgbClr val="A06B08"/>
                </a:solidFill>
                <a:latin typeface="Cambria" pitchFamily="34" charset="0"/>
                <a:ea typeface="Cambria" pitchFamily="34" charset="-122"/>
                <a:cs typeface="Cambria" pitchFamily="34" charset="-120"/>
              </a:rPr>
              <a:t>0.9912</a:t>
            </a:r>
            <a:endParaRPr lang="en-US" sz="4400" dirty="0"/>
          </a:p>
        </p:txBody>
      </p:sp>
      <p:sp>
        <p:nvSpPr>
          <p:cNvPr id="20" name="Text 18"/>
          <p:cNvSpPr/>
          <p:nvPr/>
        </p:nvSpPr>
        <p:spPr>
          <a:xfrm>
            <a:off x="6995160" y="4251960"/>
            <a:ext cx="4370832" cy="274320"/>
          </a:xfrm>
          <a:prstGeom prst="rect">
            <a:avLst/>
          </a:prstGeom>
          <a:noFill/>
          <a:ln/>
        </p:spPr>
        <p:txBody>
          <a:bodyPr wrap="square" lIns="0" tIns="0" rIns="0" bIns="0" rtlCol="0" anchor="ctr"/>
          <a:lstStyle/>
          <a:p>
            <a:pPr marL="0" indent="0" algn="ctr">
              <a:buNone/>
            </a:pPr>
            <a:r>
              <a:rPr lang="en-US" sz="1200" dirty="0">
                <a:solidFill>
                  <a:srgbClr val="514C46"/>
                </a:solidFill>
                <a:latin typeface="Calibri" pitchFamily="34" charset="0"/>
                <a:ea typeface="Calibri" pitchFamily="34" charset="-122"/>
                <a:cs typeface="Calibri" pitchFamily="34" charset="-120"/>
              </a:rPr>
              <a:t>R² </a:t>
            </a:r>
            <a:endParaRPr lang="en-US" sz="1200" dirty="0"/>
          </a:p>
        </p:txBody>
      </p:sp>
      <p:sp>
        <p:nvSpPr>
          <p:cNvPr id="21" name="Text 19"/>
          <p:cNvSpPr/>
          <p:nvPr/>
        </p:nvSpPr>
        <p:spPr>
          <a:xfrm>
            <a:off x="6995160" y="4590288"/>
            <a:ext cx="4370832" cy="566928"/>
          </a:xfrm>
          <a:prstGeom prst="rect">
            <a:avLst/>
          </a:prstGeom>
          <a:noFill/>
          <a:ln/>
        </p:spPr>
        <p:txBody>
          <a:bodyPr wrap="square" lIns="0" tIns="0" rIns="0" bIns="0" rtlCol="0" anchor="ctr"/>
          <a:lstStyle/>
          <a:p>
            <a:pPr marL="0" indent="0">
              <a:lnSpc>
                <a:spcPts val="1500"/>
              </a:lnSpc>
              <a:buNone/>
            </a:pPr>
            <a:endParaRPr lang="en-US" sz="1150" dirty="0"/>
          </a:p>
        </p:txBody>
      </p:sp>
      <p:sp>
        <p:nvSpPr>
          <p:cNvPr id="22" name="Shape 20"/>
          <p:cNvSpPr/>
          <p:nvPr/>
        </p:nvSpPr>
        <p:spPr>
          <a:xfrm>
            <a:off x="566928" y="5504688"/>
            <a:ext cx="11055096" cy="566928"/>
          </a:xfrm>
          <a:prstGeom prst="roundRect">
            <a:avLst>
              <a:gd name="adj" fmla="val 14516"/>
            </a:avLst>
          </a:prstGeom>
          <a:solidFill>
            <a:srgbClr val="FFFFFF"/>
          </a:solidFill>
          <a:ln w="12700">
            <a:solidFill>
              <a:srgbClr val="E09A16"/>
            </a:solidFill>
            <a:prstDash val="solid"/>
          </a:ln>
        </p:spPr>
        <p:txBody>
          <a:bodyPr/>
          <a:lstStyle/>
          <a:p>
            <a:endParaRPr lang="en-JO"/>
          </a:p>
        </p:txBody>
      </p:sp>
      <p:sp>
        <p:nvSpPr>
          <p:cNvPr id="23" name="Text 21"/>
          <p:cNvSpPr/>
          <p:nvPr/>
        </p:nvSpPr>
        <p:spPr>
          <a:xfrm>
            <a:off x="886968" y="5504688"/>
            <a:ext cx="10415016" cy="566928"/>
          </a:xfrm>
          <a:prstGeom prst="rect">
            <a:avLst/>
          </a:prstGeom>
          <a:noFill/>
          <a:ln/>
        </p:spPr>
        <p:txBody>
          <a:bodyPr wrap="square" lIns="0" tIns="0" rIns="0" bIns="0" rtlCol="0" anchor="ctr"/>
          <a:lstStyle/>
          <a:p>
            <a:pPr marL="0" indent="0">
              <a:buNone/>
            </a:pPr>
            <a:r>
              <a:rPr lang="en-US" sz="1250" b="1" dirty="0">
                <a:solidFill>
                  <a:srgbClr val="1C1917"/>
                </a:solidFill>
                <a:latin typeface="Calibri" pitchFamily="34" charset="0"/>
                <a:ea typeface="Calibri" pitchFamily="34" charset="-122"/>
                <a:cs typeface="Calibri" pitchFamily="34" charset="-120"/>
              </a:rPr>
              <a:t>2025 was opened only once, after every decision had already been made. That is what makes the final number honest.</a:t>
            </a:r>
            <a:endParaRPr lang="en-US" sz="1250" dirty="0"/>
          </a:p>
        </p:txBody>
      </p:sp>
      <p:sp>
        <p:nvSpPr>
          <p:cNvPr id="24" name="Shape 22"/>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25" name="Text 23"/>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26" name="Text 24"/>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06 · THE AI PART</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Performance Measurements</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Results on the final test year, 2025.</a:t>
            </a:r>
            <a:endParaRPr lang="en-US" sz="1350" dirty="0"/>
          </a:p>
        </p:txBody>
      </p:sp>
      <p:sp>
        <p:nvSpPr>
          <p:cNvPr id="5" name="Shape 3"/>
          <p:cNvSpPr/>
          <p:nvPr/>
        </p:nvSpPr>
        <p:spPr>
          <a:xfrm>
            <a:off x="566928" y="1737360"/>
            <a:ext cx="2558034" cy="1481328"/>
          </a:xfrm>
          <a:prstGeom prst="roundRect">
            <a:avLst>
              <a:gd name="adj" fmla="val 5556"/>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6" name="Text 4"/>
          <p:cNvSpPr/>
          <p:nvPr/>
        </p:nvSpPr>
        <p:spPr>
          <a:xfrm>
            <a:off x="566928" y="1883664"/>
            <a:ext cx="2558034" cy="640080"/>
          </a:xfrm>
          <a:prstGeom prst="rect">
            <a:avLst/>
          </a:prstGeom>
          <a:noFill/>
          <a:ln/>
        </p:spPr>
        <p:txBody>
          <a:bodyPr wrap="square" lIns="0" tIns="0" rIns="0" bIns="0" rtlCol="0" anchor="ctr"/>
          <a:lstStyle/>
          <a:p>
            <a:pPr marL="0" indent="0" algn="ctr">
              <a:buNone/>
            </a:pPr>
            <a:r>
              <a:rPr lang="en-US" sz="3000" b="1" dirty="0">
                <a:solidFill>
                  <a:srgbClr val="A06B08"/>
                </a:solidFill>
                <a:latin typeface="Cambria" pitchFamily="34" charset="0"/>
                <a:ea typeface="Cambria" pitchFamily="34" charset="-122"/>
                <a:cs typeface="Cambria" pitchFamily="34" charset="-120"/>
              </a:rPr>
              <a:t>0.9829</a:t>
            </a:r>
            <a:endParaRPr lang="en-US" sz="3000" dirty="0"/>
          </a:p>
        </p:txBody>
      </p:sp>
      <p:sp>
        <p:nvSpPr>
          <p:cNvPr id="7" name="Text 5"/>
          <p:cNvSpPr/>
          <p:nvPr/>
        </p:nvSpPr>
        <p:spPr>
          <a:xfrm>
            <a:off x="658368" y="2542032"/>
            <a:ext cx="2375154"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R² — accuracy of fit</a:t>
            </a:r>
            <a:endParaRPr lang="en-US" sz="1050" dirty="0"/>
          </a:p>
        </p:txBody>
      </p:sp>
      <p:sp>
        <p:nvSpPr>
          <p:cNvPr id="8" name="Shape 6"/>
          <p:cNvSpPr/>
          <p:nvPr/>
        </p:nvSpPr>
        <p:spPr>
          <a:xfrm>
            <a:off x="3399282" y="1737360"/>
            <a:ext cx="2558034" cy="1481328"/>
          </a:xfrm>
          <a:prstGeom prst="roundRect">
            <a:avLst>
              <a:gd name="adj" fmla="val 5556"/>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9" name="Text 7"/>
          <p:cNvSpPr/>
          <p:nvPr/>
        </p:nvSpPr>
        <p:spPr>
          <a:xfrm>
            <a:off x="3399282" y="1883664"/>
            <a:ext cx="2558034" cy="640080"/>
          </a:xfrm>
          <a:prstGeom prst="rect">
            <a:avLst/>
          </a:prstGeom>
          <a:noFill/>
          <a:ln/>
        </p:spPr>
        <p:txBody>
          <a:bodyPr wrap="square" lIns="0" tIns="0" rIns="0" bIns="0" rtlCol="0" anchor="ctr"/>
          <a:lstStyle/>
          <a:p>
            <a:pPr marL="0" indent="0" algn="ctr">
              <a:buNone/>
            </a:pPr>
            <a:r>
              <a:rPr lang="en-US" sz="3000" b="1" dirty="0">
                <a:solidFill>
                  <a:srgbClr val="A06B08"/>
                </a:solidFill>
                <a:latin typeface="Cambria" pitchFamily="34" charset="0"/>
                <a:ea typeface="Cambria" pitchFamily="34" charset="-122"/>
                <a:cs typeface="Cambria" pitchFamily="34" charset="-120"/>
              </a:rPr>
              <a:t>2.1%</a:t>
            </a:r>
            <a:endParaRPr lang="en-US" sz="3000" dirty="0"/>
          </a:p>
        </p:txBody>
      </p:sp>
      <p:sp>
        <p:nvSpPr>
          <p:cNvPr id="10" name="Text 8"/>
          <p:cNvSpPr/>
          <p:nvPr/>
        </p:nvSpPr>
        <p:spPr>
          <a:xfrm>
            <a:off x="3490722" y="2542032"/>
            <a:ext cx="2375154"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Average error</a:t>
            </a:r>
            <a:endParaRPr lang="en-US" sz="1050" dirty="0"/>
          </a:p>
        </p:txBody>
      </p:sp>
      <p:sp>
        <p:nvSpPr>
          <p:cNvPr id="11" name="Shape 9"/>
          <p:cNvSpPr/>
          <p:nvPr/>
        </p:nvSpPr>
        <p:spPr>
          <a:xfrm>
            <a:off x="6231636" y="1737360"/>
            <a:ext cx="2558034" cy="1481328"/>
          </a:xfrm>
          <a:prstGeom prst="roundRect">
            <a:avLst>
              <a:gd name="adj" fmla="val 5556"/>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2" name="Text 10"/>
          <p:cNvSpPr/>
          <p:nvPr/>
        </p:nvSpPr>
        <p:spPr>
          <a:xfrm>
            <a:off x="6231636" y="1883664"/>
            <a:ext cx="2558034" cy="640080"/>
          </a:xfrm>
          <a:prstGeom prst="rect">
            <a:avLst/>
          </a:prstGeom>
          <a:noFill/>
          <a:ln/>
        </p:spPr>
        <p:txBody>
          <a:bodyPr wrap="square" lIns="0" tIns="0" rIns="0" bIns="0" rtlCol="0" anchor="ctr"/>
          <a:lstStyle/>
          <a:p>
            <a:pPr marL="0" indent="0" algn="ctr">
              <a:buNone/>
            </a:pPr>
            <a:r>
              <a:rPr lang="en-US" sz="3000" b="1" dirty="0">
                <a:solidFill>
                  <a:srgbClr val="1C1917"/>
                </a:solidFill>
                <a:latin typeface="Cambria" pitchFamily="34" charset="0"/>
                <a:ea typeface="Cambria" pitchFamily="34" charset="-122"/>
                <a:cs typeface="Cambria" pitchFamily="34" charset="-120"/>
              </a:rPr>
              <a:t>0.9912</a:t>
            </a:r>
            <a:endParaRPr lang="en-US" sz="3000" dirty="0"/>
          </a:p>
        </p:txBody>
      </p:sp>
      <p:sp>
        <p:nvSpPr>
          <p:cNvPr id="13" name="Text 11"/>
          <p:cNvSpPr/>
          <p:nvPr/>
        </p:nvSpPr>
        <p:spPr>
          <a:xfrm>
            <a:off x="6323076" y="2542032"/>
            <a:ext cx="2375154"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R² at a new location</a:t>
            </a:r>
            <a:endParaRPr lang="en-US" sz="1050" dirty="0"/>
          </a:p>
        </p:txBody>
      </p:sp>
      <p:sp>
        <p:nvSpPr>
          <p:cNvPr id="14" name="Shape 12"/>
          <p:cNvSpPr/>
          <p:nvPr/>
        </p:nvSpPr>
        <p:spPr>
          <a:xfrm>
            <a:off x="9063990" y="1737360"/>
            <a:ext cx="2558034" cy="1481328"/>
          </a:xfrm>
          <a:prstGeom prst="roundRect">
            <a:avLst>
              <a:gd name="adj" fmla="val 5556"/>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5" name="Text 13"/>
          <p:cNvSpPr/>
          <p:nvPr/>
        </p:nvSpPr>
        <p:spPr>
          <a:xfrm>
            <a:off x="9063990" y="1883664"/>
            <a:ext cx="2558034" cy="640080"/>
          </a:xfrm>
          <a:prstGeom prst="rect">
            <a:avLst/>
          </a:prstGeom>
          <a:noFill/>
          <a:ln/>
        </p:spPr>
        <p:txBody>
          <a:bodyPr wrap="square" lIns="0" tIns="0" rIns="0" bIns="0" rtlCol="0" anchor="ctr"/>
          <a:lstStyle/>
          <a:p>
            <a:pPr marL="0" indent="0" algn="ctr">
              <a:buNone/>
            </a:pPr>
            <a:r>
              <a:rPr lang="en-US" sz="3000" b="1" dirty="0">
                <a:solidFill>
                  <a:srgbClr val="1C1917"/>
                </a:solidFill>
                <a:latin typeface="Cambria" pitchFamily="34" charset="0"/>
                <a:ea typeface="Cambria" pitchFamily="34" charset="-122"/>
                <a:cs typeface="Cambria" pitchFamily="34" charset="-120"/>
              </a:rPr>
              <a:t>0.9892</a:t>
            </a:r>
            <a:endParaRPr lang="en-US" sz="3000" dirty="0"/>
          </a:p>
        </p:txBody>
      </p:sp>
      <p:sp>
        <p:nvSpPr>
          <p:cNvPr id="16" name="Text 14"/>
          <p:cNvSpPr/>
          <p:nvPr/>
        </p:nvSpPr>
        <p:spPr>
          <a:xfrm>
            <a:off x="9155430" y="2542032"/>
            <a:ext cx="2375154" cy="384048"/>
          </a:xfrm>
          <a:prstGeom prst="rect">
            <a:avLst/>
          </a:prstGeom>
          <a:noFill/>
          <a:ln/>
        </p:spPr>
        <p:txBody>
          <a:bodyPr wrap="square" lIns="0" tIns="0" rIns="0" bIns="0" rtlCol="0" anchor="t"/>
          <a:lstStyle/>
          <a:p>
            <a:pPr marL="0" indent="0" algn="ctr">
              <a:buNone/>
            </a:pPr>
            <a:r>
              <a:rPr lang="en-US" sz="1050" dirty="0">
                <a:solidFill>
                  <a:srgbClr val="8C8279"/>
                </a:solidFill>
                <a:latin typeface="Calibri" pitchFamily="34" charset="0"/>
                <a:ea typeface="Calibri" pitchFamily="34" charset="-122"/>
                <a:cs typeface="Calibri" pitchFamily="34" charset="-120"/>
              </a:rPr>
              <a:t>R² at a new location, new year</a:t>
            </a:r>
            <a:endParaRPr lang="en-US" sz="1050" dirty="0"/>
          </a:p>
        </p:txBody>
      </p:sp>
      <p:sp>
        <p:nvSpPr>
          <p:cNvPr id="17" name="Shape 15"/>
          <p:cNvSpPr/>
          <p:nvPr/>
        </p:nvSpPr>
        <p:spPr>
          <a:xfrm>
            <a:off x="566928" y="3456432"/>
            <a:ext cx="6903720" cy="2011680"/>
          </a:xfrm>
          <a:prstGeom prst="roundRect">
            <a:avLst>
              <a:gd name="adj" fmla="val 4091"/>
            </a:avLst>
          </a:prstGeom>
          <a:solidFill>
            <a:srgbClr val="EDF4EF"/>
          </a:solidFill>
          <a:ln w="9525">
            <a:solidFill>
              <a:srgbClr val="EDF4EF"/>
            </a:solidFill>
            <a:prstDash val="solid"/>
          </a:ln>
          <a:effectLst>
            <a:outerShdw blurRad="127000" dist="12700" dir="5400000" algn="bl" rotWithShape="0">
              <a:srgbClr val="C9C0B4">
                <a:alpha val="30000"/>
              </a:srgbClr>
            </a:outerShdw>
          </a:effectLst>
        </p:spPr>
        <p:txBody>
          <a:bodyPr/>
          <a:lstStyle/>
          <a:p>
            <a:endParaRPr lang="en-JO"/>
          </a:p>
        </p:txBody>
      </p:sp>
      <p:sp>
        <p:nvSpPr>
          <p:cNvPr id="18" name="Text 16"/>
          <p:cNvSpPr/>
          <p:nvPr/>
        </p:nvSpPr>
        <p:spPr>
          <a:xfrm>
            <a:off x="859536" y="3639312"/>
            <a:ext cx="6400800" cy="329184"/>
          </a:xfrm>
          <a:prstGeom prst="rect">
            <a:avLst/>
          </a:prstGeom>
          <a:noFill/>
          <a:ln/>
        </p:spPr>
        <p:txBody>
          <a:bodyPr wrap="square" lIns="0" tIns="0" rIns="0" bIns="0" rtlCol="0" anchor="ctr"/>
          <a:lstStyle/>
          <a:p>
            <a:pPr marL="0" indent="0">
              <a:buNone/>
            </a:pPr>
            <a:r>
              <a:rPr lang="en-US" sz="1700" b="1" dirty="0">
                <a:solidFill>
                  <a:srgbClr val="2E6B4F"/>
                </a:solidFill>
                <a:latin typeface="Cambria" pitchFamily="34" charset="0"/>
                <a:ea typeface="Cambria" pitchFamily="34" charset="-122"/>
                <a:cs typeface="Cambria" pitchFamily="34" charset="-120"/>
              </a:rPr>
              <a:t>No overfitting</a:t>
            </a:r>
            <a:endParaRPr lang="en-US" sz="1700" dirty="0"/>
          </a:p>
        </p:txBody>
      </p:sp>
      <p:sp>
        <p:nvSpPr>
          <p:cNvPr id="19" name="Text 17"/>
          <p:cNvSpPr/>
          <p:nvPr/>
        </p:nvSpPr>
        <p:spPr>
          <a:xfrm>
            <a:off x="859536" y="4059936"/>
            <a:ext cx="6400800" cy="914400"/>
          </a:xfrm>
          <a:prstGeom prst="rect">
            <a:avLst/>
          </a:prstGeom>
          <a:noFill/>
          <a:ln/>
        </p:spPr>
        <p:txBody>
          <a:bodyPr wrap="square" lIns="0" tIns="0" rIns="0" bIns="0" rtlCol="0" anchor="ctr"/>
          <a:lstStyle/>
          <a:p>
            <a:pPr marL="0" indent="0">
              <a:lnSpc>
                <a:spcPts val="1800"/>
              </a:lnSpc>
              <a:buNone/>
            </a:pPr>
            <a:r>
              <a:rPr lang="en-US" sz="1250" dirty="0">
                <a:solidFill>
                  <a:srgbClr val="514C46"/>
                </a:solidFill>
                <a:latin typeface="Calibri" pitchFamily="34" charset="0"/>
                <a:ea typeface="Calibri" pitchFamily="34" charset="-122"/>
                <a:cs typeface="Calibri" pitchFamily="34" charset="-120"/>
              </a:rPr>
              <a:t>An overfitted model scores well on the data it was tuned on and badly on anything new. Our validation and test scores are effectively identical — so the model learned the pattern, not the examples.</a:t>
            </a:r>
            <a:endParaRPr lang="en-US" sz="1250" dirty="0"/>
          </a:p>
        </p:txBody>
      </p:sp>
      <p:sp>
        <p:nvSpPr>
          <p:cNvPr id="20" name="Text 18"/>
          <p:cNvSpPr/>
          <p:nvPr/>
        </p:nvSpPr>
        <p:spPr>
          <a:xfrm>
            <a:off x="859536" y="4974336"/>
            <a:ext cx="6400800" cy="329184"/>
          </a:xfrm>
          <a:prstGeom prst="rect">
            <a:avLst/>
          </a:prstGeom>
          <a:noFill/>
          <a:ln/>
        </p:spPr>
        <p:txBody>
          <a:bodyPr wrap="square" lIns="0" tIns="0" rIns="0" bIns="0" rtlCol="0" anchor="ctr"/>
          <a:lstStyle/>
          <a:p>
            <a:pPr marL="0" indent="0">
              <a:buNone/>
            </a:pPr>
            <a:r>
              <a:rPr lang="en-US" sz="1300" b="1" dirty="0">
                <a:solidFill>
                  <a:srgbClr val="2E6B4F"/>
                </a:solidFill>
                <a:latin typeface="Calibri" pitchFamily="34" charset="0"/>
                <a:ea typeface="Calibri" pitchFamily="34" charset="-122"/>
                <a:cs typeface="Calibri" pitchFamily="34" charset="-120"/>
              </a:rPr>
              <a:t>Validation year 2024:  0.9821</a:t>
            </a:r>
            <a:r>
              <a:rPr lang="en-US" sz="1300" dirty="0">
                <a:solidFill>
                  <a:srgbClr val="514C46"/>
                </a:solidFill>
                <a:latin typeface="Calibri" pitchFamily="34" charset="0"/>
                <a:ea typeface="Calibri" pitchFamily="34" charset="-122"/>
                <a:cs typeface="Calibri" pitchFamily="34" charset="-120"/>
              </a:rPr>
              <a:t>            </a:t>
            </a:r>
            <a:r>
              <a:rPr lang="en-US" sz="1300" b="1" dirty="0">
                <a:solidFill>
                  <a:srgbClr val="2E6B4F"/>
                </a:solidFill>
                <a:latin typeface="Calibri" pitchFamily="34" charset="0"/>
                <a:ea typeface="Calibri" pitchFamily="34" charset="-122"/>
                <a:cs typeface="Calibri" pitchFamily="34" charset="-120"/>
              </a:rPr>
              <a:t>Test year 2025:  0.9829</a:t>
            </a:r>
            <a:endParaRPr lang="en-US" sz="1300" dirty="0"/>
          </a:p>
        </p:txBody>
      </p:sp>
      <p:sp>
        <p:nvSpPr>
          <p:cNvPr id="21" name="Shape 19"/>
          <p:cNvSpPr/>
          <p:nvPr/>
        </p:nvSpPr>
        <p:spPr>
          <a:xfrm>
            <a:off x="7772400" y="3456432"/>
            <a:ext cx="3849624" cy="2011680"/>
          </a:xfrm>
          <a:prstGeom prst="roundRect">
            <a:avLst>
              <a:gd name="adj" fmla="val 4091"/>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22" name="Text 20"/>
          <p:cNvSpPr/>
          <p:nvPr/>
        </p:nvSpPr>
        <p:spPr>
          <a:xfrm>
            <a:off x="8028432" y="3639312"/>
            <a:ext cx="3383280" cy="329184"/>
          </a:xfrm>
          <a:prstGeom prst="rect">
            <a:avLst/>
          </a:prstGeom>
          <a:noFill/>
          <a:ln/>
        </p:spPr>
        <p:txBody>
          <a:bodyPr wrap="square" lIns="0" tIns="0" rIns="0" bIns="0" rtlCol="0" anchor="ctr"/>
          <a:lstStyle/>
          <a:p>
            <a:pPr marL="0" indent="0">
              <a:buNone/>
            </a:pPr>
            <a:r>
              <a:rPr lang="en-US" sz="1700" b="1" dirty="0">
                <a:solidFill>
                  <a:srgbClr val="1C1917"/>
                </a:solidFill>
                <a:latin typeface="Cambria" pitchFamily="34" charset="0"/>
                <a:ea typeface="Cambria" pitchFamily="34" charset="-122"/>
                <a:cs typeface="Cambria" pitchFamily="34" charset="-120"/>
              </a:rPr>
              <a:t>Why these metrics?</a:t>
            </a:r>
            <a:endParaRPr lang="en-US" sz="1700" dirty="0"/>
          </a:p>
        </p:txBody>
      </p:sp>
      <p:sp>
        <p:nvSpPr>
          <p:cNvPr id="23" name="Text 21"/>
          <p:cNvSpPr/>
          <p:nvPr/>
        </p:nvSpPr>
        <p:spPr>
          <a:xfrm>
            <a:off x="8028432" y="4059936"/>
            <a:ext cx="3364992" cy="1188720"/>
          </a:xfrm>
          <a:prstGeom prst="rect">
            <a:avLst/>
          </a:prstGeom>
          <a:noFill/>
          <a:ln/>
        </p:spPr>
        <p:txBody>
          <a:bodyPr wrap="square" lIns="0" tIns="0" rIns="0" bIns="0" rtlCol="0" anchor="t"/>
          <a:lstStyle/>
          <a:p>
            <a:pPr marL="0" indent="0">
              <a:lnSpc>
                <a:spcPts val="1800"/>
              </a:lnSpc>
              <a:buNone/>
            </a:pPr>
            <a:r>
              <a:rPr lang="en-US" sz="1250" dirty="0">
                <a:solidFill>
                  <a:srgbClr val="514C46"/>
                </a:solidFill>
                <a:latin typeface="Calibri" pitchFamily="34" charset="0"/>
                <a:ea typeface="Calibri" pitchFamily="34" charset="-122"/>
                <a:cs typeface="Calibri" pitchFamily="34" charset="-120"/>
              </a:rPr>
              <a:t>The answer is a number, not a category — so R² and mean error replace accuracy, precision and F1.</a:t>
            </a:r>
            <a:endParaRPr lang="en-US" sz="1250" dirty="0"/>
          </a:p>
        </p:txBody>
      </p:sp>
      <p:sp>
        <p:nvSpPr>
          <p:cNvPr id="24" name="Shape 22"/>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25" name="Text 23"/>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26" name="Text 24"/>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06 · THE AI PART</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Where the Model Is Weakest</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Average error by month — winter is harder to predict than summer.</a:t>
            </a:r>
            <a:endParaRPr lang="en-US" sz="1350" dirty="0"/>
          </a:p>
        </p:txBody>
      </p:sp>
      <p:graphicFrame>
        <p:nvGraphicFramePr>
          <p:cNvPr id="5" name="Chart 0"/>
          <p:cNvGraphicFramePr/>
          <p:nvPr/>
        </p:nvGraphicFramePr>
        <p:xfrm>
          <a:off x="566928" y="1737360"/>
          <a:ext cx="685800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26680" y="1737360"/>
            <a:ext cx="3895344" cy="3520440"/>
          </a:xfrm>
          <a:prstGeom prst="roundRect">
            <a:avLst>
              <a:gd name="adj" fmla="val 2338"/>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7" name="Text 4"/>
          <p:cNvSpPr/>
          <p:nvPr/>
        </p:nvSpPr>
        <p:spPr>
          <a:xfrm>
            <a:off x="7982712" y="1920240"/>
            <a:ext cx="3383280" cy="310896"/>
          </a:xfrm>
          <a:prstGeom prst="rect">
            <a:avLst/>
          </a:prstGeom>
          <a:noFill/>
          <a:ln/>
        </p:spPr>
        <p:txBody>
          <a:bodyPr wrap="square" lIns="0" tIns="0" rIns="0" bIns="0" rtlCol="0" anchor="ctr"/>
          <a:lstStyle/>
          <a:p>
            <a:pPr marL="0" indent="0">
              <a:buNone/>
            </a:pPr>
            <a:r>
              <a:rPr lang="en-US" sz="1700" b="1" dirty="0">
                <a:solidFill>
                  <a:srgbClr val="A06B08"/>
                </a:solidFill>
                <a:latin typeface="Cambria" pitchFamily="34" charset="0"/>
                <a:ea typeface="Cambria" pitchFamily="34" charset="-122"/>
                <a:cs typeface="Cambria" pitchFamily="34" charset="-120"/>
              </a:rPr>
              <a:t>Why</a:t>
            </a:r>
            <a:endParaRPr lang="en-US" sz="1700" dirty="0"/>
          </a:p>
        </p:txBody>
      </p:sp>
      <p:sp>
        <p:nvSpPr>
          <p:cNvPr id="8" name="Text 5"/>
          <p:cNvSpPr/>
          <p:nvPr/>
        </p:nvSpPr>
        <p:spPr>
          <a:xfrm>
            <a:off x="7982712" y="2340864"/>
            <a:ext cx="3383280" cy="2743200"/>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514C46"/>
                </a:solidFill>
                <a:latin typeface="Calibri" pitchFamily="34" charset="0"/>
                <a:ea typeface="Calibri" pitchFamily="34" charset="-122"/>
                <a:cs typeface="Calibri" pitchFamily="34" charset="-120"/>
              </a:rPr>
              <a:t>Summer days are clear and steady, so the answer is almost certain.</a:t>
            </a:r>
            <a:endParaRPr lang="en-US" sz="1250" dirty="0"/>
          </a:p>
          <a:p>
            <a:pPr marL="342900" indent="-342900">
              <a:lnSpc>
                <a:spcPts val="1700"/>
              </a:lnSpc>
              <a:spcAft>
                <a:spcPts val="700"/>
              </a:spcAft>
              <a:buSzPct val="100000"/>
              <a:buChar char="•"/>
            </a:pPr>
            <a:r>
              <a:rPr lang="en-US" sz="1250" dirty="0">
                <a:solidFill>
                  <a:srgbClr val="514C46"/>
                </a:solidFill>
                <a:latin typeface="Calibri" pitchFamily="34" charset="0"/>
                <a:ea typeface="Calibri" pitchFamily="34" charset="-122"/>
                <a:cs typeface="Calibri" pitchFamily="34" charset="-120"/>
              </a:rPr>
              <a:t>Winter output depends on how thick the clouds are and when they pass — which a daily average cannot capture.</a:t>
            </a:r>
            <a:endParaRPr lang="en-US" sz="1250" dirty="0"/>
          </a:p>
          <a:p>
            <a:pPr marL="342900" indent="-342900">
              <a:lnSpc>
                <a:spcPts val="1700"/>
              </a:lnSpc>
              <a:spcAft>
                <a:spcPts val="700"/>
              </a:spcAft>
              <a:buSzPct val="100000"/>
              <a:buChar char="•"/>
            </a:pPr>
            <a:r>
              <a:rPr lang="en-US" sz="1250" dirty="0">
                <a:solidFill>
                  <a:srgbClr val="514C46"/>
                </a:solidFill>
                <a:latin typeface="Calibri" pitchFamily="34" charset="0"/>
                <a:ea typeface="Calibri" pitchFamily="34" charset="-122"/>
                <a:cs typeface="Calibri" pitchFamily="34" charset="-120"/>
              </a:rPr>
              <a:t>So winter answers are presented with a wider band of uncertainty.</a:t>
            </a:r>
            <a:endParaRPr lang="en-US" sz="1250" dirty="0"/>
          </a:p>
        </p:txBody>
      </p:sp>
      <p:sp>
        <p:nvSpPr>
          <p:cNvPr id="9" name="Shape 6"/>
          <p:cNvSpPr/>
          <p:nvPr/>
        </p:nvSpPr>
        <p:spPr>
          <a:xfrm>
            <a:off x="566928" y="5440680"/>
            <a:ext cx="6858000" cy="548640"/>
          </a:xfrm>
          <a:prstGeom prst="roundRect">
            <a:avLst>
              <a:gd name="adj" fmla="val 15000"/>
            </a:avLst>
          </a:prstGeom>
          <a:solidFill>
            <a:srgbClr val="FFFFFF"/>
          </a:solidFill>
          <a:ln w="12700">
            <a:solidFill>
              <a:srgbClr val="E7E3DC"/>
            </a:solidFill>
            <a:prstDash val="solid"/>
          </a:ln>
        </p:spPr>
        <p:txBody>
          <a:bodyPr/>
          <a:lstStyle/>
          <a:p>
            <a:endParaRPr lang="en-JO"/>
          </a:p>
        </p:txBody>
      </p:sp>
      <p:sp>
        <p:nvSpPr>
          <p:cNvPr id="10" name="Text 7"/>
          <p:cNvSpPr/>
          <p:nvPr/>
        </p:nvSpPr>
        <p:spPr>
          <a:xfrm>
            <a:off x="841248" y="5440680"/>
            <a:ext cx="6400800" cy="548640"/>
          </a:xfrm>
          <a:prstGeom prst="rect">
            <a:avLst/>
          </a:prstGeom>
          <a:noFill/>
          <a:ln/>
        </p:spPr>
        <p:txBody>
          <a:bodyPr wrap="square" lIns="0" tIns="0" rIns="0" bIns="0" rtlCol="0" anchor="ctr"/>
          <a:lstStyle/>
          <a:p>
            <a:pPr marL="0" indent="0">
              <a:buNone/>
            </a:pPr>
            <a:r>
              <a:rPr lang="en-US" sz="1200" dirty="0">
                <a:solidFill>
                  <a:srgbClr val="514C46"/>
                </a:solidFill>
                <a:latin typeface="Calibri" pitchFamily="34" charset="0"/>
                <a:ea typeface="Calibri" pitchFamily="34" charset="-122"/>
                <a:cs typeface="Calibri" pitchFamily="34" charset="-120"/>
              </a:rPr>
              <a:t>Worst month, February: 0.192 kWh/kWp/day.        Best month, July: 0.022.</a:t>
            </a:r>
            <a:endParaRPr lang="en-US" sz="1200" dirty="0"/>
          </a:p>
        </p:txBody>
      </p:sp>
      <p:sp>
        <p:nvSpPr>
          <p:cNvPr id="11" name="Shape 8"/>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12" name="Text 9"/>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13" name="Text 10"/>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07 · THE APP</a:t>
            </a:r>
          </a:p>
        </p:txBody>
      </p:sp>
      <p:sp>
        <p:nvSpPr>
          <p:cNvPr id="3" name="Text 3"/>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The App — From Question to Answer</a:t>
            </a:r>
          </a:p>
        </p:txBody>
      </p:sp>
      <p:sp>
        <p:nvSpPr>
          <p:cNvPr id="4" name="Text 4"/>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One page for a household: three things in, one verdict out.</a:t>
            </a:r>
          </a:p>
        </p:txBody>
      </p:sp>
      <p:sp>
        <p:nvSpPr>
          <p:cNvPr id="5" name="Shape 5"/>
          <p:cNvSpPr/>
          <p:nvPr/>
        </p:nvSpPr>
        <p:spPr>
          <a:xfrm>
            <a:off x="566928" y="1700784"/>
            <a:ext cx="3502152" cy="3127248"/>
          </a:xfrm>
          <a:prstGeom prst="roundRect">
            <a:avLst>
              <a:gd name="adj" fmla="val 321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6" name="Shape 6"/>
          <p:cNvSpPr/>
          <p:nvPr/>
        </p:nvSpPr>
        <p:spPr>
          <a:xfrm>
            <a:off x="804672" y="1920240"/>
            <a:ext cx="310896" cy="310896"/>
          </a:xfrm>
          <a:prstGeom prst="ellipse">
            <a:avLst/>
          </a:prstGeom>
          <a:solidFill>
            <a:srgbClr val="E09A16"/>
          </a:solidFill>
          <a:ln w="6350">
            <a:solidFill>
              <a:srgbClr val="E09A16"/>
            </a:solidFill>
            <a:prstDash val="solid"/>
          </a:ln>
        </p:spPr>
        <p:txBody>
          <a:bodyPr/>
          <a:lstStyle/>
          <a:p>
            <a:endParaRPr lang="en-JO"/>
          </a:p>
        </p:txBody>
      </p:sp>
      <p:sp>
        <p:nvSpPr>
          <p:cNvPr id="7" name="Text 7"/>
          <p:cNvSpPr/>
          <p:nvPr/>
        </p:nvSpPr>
        <p:spPr>
          <a:xfrm>
            <a:off x="804672" y="192024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1</a:t>
            </a:r>
          </a:p>
        </p:txBody>
      </p:sp>
      <p:sp>
        <p:nvSpPr>
          <p:cNvPr id="8" name="Text 8"/>
          <p:cNvSpPr/>
          <p:nvPr/>
        </p:nvSpPr>
        <p:spPr>
          <a:xfrm>
            <a:off x="1207008" y="1911096"/>
            <a:ext cx="2624328" cy="329184"/>
          </a:xfrm>
          <a:prstGeom prst="rect">
            <a:avLst/>
          </a:prstGeom>
          <a:noFill/>
          <a:ln/>
        </p:spPr>
        <p:txBody>
          <a:bodyPr wrap="square" lIns="0" tIns="0" rIns="0" bIns="0" rtlCol="0" anchor="ctr"/>
          <a:lstStyle/>
          <a:p>
            <a:pPr marL="0" indent="0">
              <a:buNone/>
            </a:pPr>
            <a:r>
              <a:rPr lang="en-US" sz="1550" b="1" dirty="0">
                <a:solidFill>
                  <a:srgbClr val="1C1917"/>
                </a:solidFill>
                <a:latin typeface="Cambria" pitchFamily="34" charset="0"/>
                <a:ea typeface="Cambria" pitchFamily="34" charset="-122"/>
                <a:cs typeface="Cambria" pitchFamily="34" charset="-120"/>
              </a:rPr>
              <a:t>You give three things</a:t>
            </a:r>
          </a:p>
        </p:txBody>
      </p:sp>
      <p:sp>
        <p:nvSpPr>
          <p:cNvPr id="9" name="Text 9"/>
          <p:cNvSpPr/>
          <p:nvPr/>
        </p:nvSpPr>
        <p:spPr>
          <a:xfrm>
            <a:off x="804672" y="2395728"/>
            <a:ext cx="3026664" cy="1691640"/>
          </a:xfrm>
          <a:prstGeom prst="rect">
            <a:avLst/>
          </a:prstGeom>
          <a:noFill/>
          <a:ln/>
        </p:spPr>
        <p:txBody>
          <a:bodyPr wrap="square" lIns="0" tIns="0" rIns="0" bIns="0" rtlCol="0" anchor="t"/>
          <a:lstStyle/>
          <a:p>
            <a:pPr marL="0" indent="0">
              <a:lnSpc>
                <a:spcPts val="1650"/>
              </a:lnSpc>
              <a:spcAft>
                <a:spcPts val="700"/>
              </a:spcAft>
              <a:buNone/>
            </a:pPr>
            <a:r>
              <a:rPr lang="en-US" sz="1200" dirty="0">
                <a:solidFill>
                  <a:srgbClr val="514C46"/>
                </a:solidFill>
                <a:latin typeface="Calibri" pitchFamily="34" charset="0"/>
                <a:ea typeface="Calibri" pitchFamily="34" charset="-122"/>
                <a:cs typeface="Calibri" pitchFamily="34" charset="-120"/>
              </a:rPr>
              <a:t>Location — type an address, tap the map, or use your phone’s GPS.</a:t>
            </a:r>
          </a:p>
          <a:p>
            <a:pPr marL="0" indent="0">
              <a:lnSpc>
                <a:spcPts val="1650"/>
              </a:lnSpc>
              <a:spcAft>
                <a:spcPts val="700"/>
              </a:spcAft>
              <a:buNone/>
            </a:pPr>
            <a:r>
              <a:rPr lang="en-US" sz="1200" dirty="0">
                <a:solidFill>
                  <a:srgbClr val="514C46"/>
                </a:solidFill>
                <a:latin typeface="Calibri" pitchFamily="34" charset="0"/>
                <a:ea typeface="Calibri" pitchFamily="34" charset="-122"/>
                <a:cs typeface="Calibri" pitchFamily="34" charset="-120"/>
              </a:rPr>
              <a:t>Electricity bill — your average monthly bill in JOD.</a:t>
            </a:r>
          </a:p>
          <a:p>
            <a:pPr marL="0" indent="0">
              <a:lnSpc>
                <a:spcPts val="1650"/>
              </a:lnSpc>
              <a:spcAft>
                <a:spcPts val="700"/>
              </a:spcAft>
              <a:buNone/>
            </a:pPr>
            <a:r>
              <a:rPr lang="en-US" sz="1200" dirty="0">
                <a:solidFill>
                  <a:srgbClr val="514C46"/>
                </a:solidFill>
                <a:latin typeface="Calibri" pitchFamily="34" charset="0"/>
                <a:ea typeface="Calibri" pitchFamily="34" charset="-122"/>
                <a:cs typeface="Calibri" pitchFamily="34" charset="-120"/>
              </a:rPr>
              <a:t>System size — the installed capacity in kWp.</a:t>
            </a:r>
          </a:p>
        </p:txBody>
      </p:sp>
      <p:sp>
        <p:nvSpPr>
          <p:cNvPr id="10" name="Text 10"/>
          <p:cNvSpPr/>
          <p:nvPr/>
        </p:nvSpPr>
        <p:spPr>
          <a:xfrm>
            <a:off x="804672" y="4224528"/>
            <a:ext cx="3026664" cy="457200"/>
          </a:xfrm>
          <a:prstGeom prst="rect">
            <a:avLst/>
          </a:prstGeom>
          <a:noFill/>
          <a:ln/>
        </p:spPr>
        <p:txBody>
          <a:bodyPr wrap="square" lIns="0" tIns="0" rIns="0" bIns="0" rtlCol="0" anchor="ctr"/>
          <a:lstStyle/>
          <a:p>
            <a:pPr marL="0" indent="0">
              <a:buNone/>
            </a:pPr>
            <a:r>
              <a:rPr lang="en-US" sz="1050" b="1" dirty="0">
                <a:solidFill>
                  <a:srgbClr val="A06B08"/>
                </a:solidFill>
                <a:latin typeface="Calibri" pitchFamily="34" charset="0"/>
                <a:ea typeface="Calibri" pitchFamily="34" charset="-122"/>
                <a:cs typeface="Calibri" pitchFamily="34" charset="-120"/>
              </a:rPr>
              <a:t>Nothing technical is asked for</a:t>
            </a:r>
          </a:p>
        </p:txBody>
      </p:sp>
      <p:sp>
        <p:nvSpPr>
          <p:cNvPr id="11" name="Shape 11"/>
          <p:cNvSpPr/>
          <p:nvPr/>
        </p:nvSpPr>
        <p:spPr>
          <a:xfrm>
            <a:off x="4343400" y="1700784"/>
            <a:ext cx="3502152" cy="3127248"/>
          </a:xfrm>
          <a:prstGeom prst="roundRect">
            <a:avLst>
              <a:gd name="adj" fmla="val 321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2" name="Shape 12"/>
          <p:cNvSpPr/>
          <p:nvPr/>
        </p:nvSpPr>
        <p:spPr>
          <a:xfrm>
            <a:off x="4581144" y="1920240"/>
            <a:ext cx="310896" cy="310896"/>
          </a:xfrm>
          <a:prstGeom prst="ellipse">
            <a:avLst/>
          </a:prstGeom>
          <a:solidFill>
            <a:srgbClr val="E09A16"/>
          </a:solidFill>
          <a:ln w="6350">
            <a:solidFill>
              <a:srgbClr val="E09A16"/>
            </a:solidFill>
            <a:prstDash val="solid"/>
          </a:ln>
        </p:spPr>
        <p:txBody>
          <a:bodyPr/>
          <a:lstStyle/>
          <a:p>
            <a:endParaRPr lang="en-JO"/>
          </a:p>
        </p:txBody>
      </p:sp>
      <p:sp>
        <p:nvSpPr>
          <p:cNvPr id="13" name="Text 13"/>
          <p:cNvSpPr/>
          <p:nvPr/>
        </p:nvSpPr>
        <p:spPr>
          <a:xfrm>
            <a:off x="4581144" y="192024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2</a:t>
            </a:r>
          </a:p>
        </p:txBody>
      </p:sp>
      <p:sp>
        <p:nvSpPr>
          <p:cNvPr id="14" name="Text 14"/>
          <p:cNvSpPr/>
          <p:nvPr/>
        </p:nvSpPr>
        <p:spPr>
          <a:xfrm>
            <a:off x="4983480" y="1911096"/>
            <a:ext cx="2624328" cy="329184"/>
          </a:xfrm>
          <a:prstGeom prst="rect">
            <a:avLst/>
          </a:prstGeom>
          <a:noFill/>
          <a:ln/>
        </p:spPr>
        <p:txBody>
          <a:bodyPr wrap="square" lIns="0" tIns="0" rIns="0" bIns="0" rtlCol="0" anchor="ctr"/>
          <a:lstStyle/>
          <a:p>
            <a:pPr marL="0" indent="0">
              <a:buNone/>
            </a:pPr>
            <a:r>
              <a:rPr lang="en-US" sz="1550" b="1" dirty="0">
                <a:solidFill>
                  <a:srgbClr val="1C1917"/>
                </a:solidFill>
                <a:latin typeface="Cambria" pitchFamily="34" charset="0"/>
                <a:ea typeface="Cambria" pitchFamily="34" charset="-122"/>
                <a:cs typeface="Cambria" pitchFamily="34" charset="-120"/>
              </a:rPr>
              <a:t>The model answers</a:t>
            </a:r>
          </a:p>
        </p:txBody>
      </p:sp>
      <p:sp>
        <p:nvSpPr>
          <p:cNvPr id="15" name="Text 15"/>
          <p:cNvSpPr/>
          <p:nvPr/>
        </p:nvSpPr>
        <p:spPr>
          <a:xfrm>
            <a:off x="4581144" y="2395728"/>
            <a:ext cx="3026664" cy="1691640"/>
          </a:xfrm>
          <a:prstGeom prst="rect">
            <a:avLst/>
          </a:prstGeom>
          <a:noFill/>
          <a:ln/>
        </p:spPr>
        <p:txBody>
          <a:bodyPr wrap="square" lIns="0" tIns="0" rIns="0" bIns="0" rtlCol="0" anchor="t"/>
          <a:lstStyle/>
          <a:p>
            <a:pPr marL="0" indent="0">
              <a:lnSpc>
                <a:spcPts val="1650"/>
              </a:lnSpc>
              <a:spcAft>
                <a:spcPts val="700"/>
              </a:spcAft>
              <a:buNone/>
            </a:pPr>
            <a:r>
              <a:rPr lang="en-US" sz="1200" dirty="0">
                <a:solidFill>
                  <a:srgbClr val="514C46"/>
                </a:solidFill>
                <a:latin typeface="Calibri" pitchFamily="34" charset="0"/>
                <a:ea typeface="Calibri" pitchFamily="34" charset="-122"/>
                <a:cs typeface="Calibri" pitchFamily="34" charset="-120"/>
              </a:rPr>
              <a:t>NASA POWER supplies the weather for that exact coordinate.</a:t>
            </a:r>
          </a:p>
          <a:p>
            <a:pPr marL="0" indent="0">
              <a:lnSpc>
                <a:spcPts val="1650"/>
              </a:lnSpc>
              <a:spcAft>
                <a:spcPts val="700"/>
              </a:spcAft>
              <a:buNone/>
            </a:pPr>
            <a:r>
              <a:rPr lang="en-US" sz="1200" dirty="0">
                <a:solidFill>
                  <a:srgbClr val="514C46"/>
                </a:solidFill>
                <a:latin typeface="Calibri" pitchFamily="34" charset="0"/>
                <a:ea typeface="Calibri" pitchFamily="34" charset="-122"/>
                <a:cs typeface="Calibri" pitchFamily="34" charset="-120"/>
              </a:rPr>
              <a:t>XGBoost predicts how much the roof generates, month by month.</a:t>
            </a:r>
          </a:p>
        </p:txBody>
      </p:sp>
      <p:sp>
        <p:nvSpPr>
          <p:cNvPr id="16" name="Text 16"/>
          <p:cNvSpPr/>
          <p:nvPr/>
        </p:nvSpPr>
        <p:spPr>
          <a:xfrm>
            <a:off x="4581144" y="4224528"/>
            <a:ext cx="3026664" cy="457200"/>
          </a:xfrm>
          <a:prstGeom prst="rect">
            <a:avLst/>
          </a:prstGeom>
          <a:noFill/>
          <a:ln/>
        </p:spPr>
        <p:txBody>
          <a:bodyPr wrap="square" lIns="0" tIns="0" rIns="0" bIns="0" rtlCol="0" anchor="ctr"/>
          <a:lstStyle/>
          <a:p>
            <a:pPr marL="0" indent="0">
              <a:buNone/>
            </a:pPr>
            <a:r>
              <a:rPr lang="en-US" sz="1050" b="1" dirty="0">
                <a:solidFill>
                  <a:srgbClr val="A06B08"/>
                </a:solidFill>
                <a:latin typeface="Calibri" pitchFamily="34" charset="0"/>
                <a:ea typeface="Calibri" pitchFamily="34" charset="-122"/>
                <a:cs typeface="Calibri" pitchFamily="34" charset="-120"/>
              </a:rPr>
              <a:t>NASA POWER · XGBoost</a:t>
            </a:r>
          </a:p>
        </p:txBody>
      </p:sp>
      <p:sp>
        <p:nvSpPr>
          <p:cNvPr id="17" name="Shape 17"/>
          <p:cNvSpPr/>
          <p:nvPr/>
        </p:nvSpPr>
        <p:spPr>
          <a:xfrm>
            <a:off x="8119872" y="1700784"/>
            <a:ext cx="3502152" cy="3127248"/>
          </a:xfrm>
          <a:prstGeom prst="roundRect">
            <a:avLst>
              <a:gd name="adj" fmla="val 321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8" name="Shape 18"/>
          <p:cNvSpPr/>
          <p:nvPr/>
        </p:nvSpPr>
        <p:spPr>
          <a:xfrm>
            <a:off x="8357616" y="1920240"/>
            <a:ext cx="310896" cy="310896"/>
          </a:xfrm>
          <a:prstGeom prst="ellipse">
            <a:avLst/>
          </a:prstGeom>
          <a:solidFill>
            <a:srgbClr val="E09A16"/>
          </a:solidFill>
          <a:ln w="6350">
            <a:solidFill>
              <a:srgbClr val="E09A16"/>
            </a:solidFill>
            <a:prstDash val="solid"/>
          </a:ln>
        </p:spPr>
        <p:txBody>
          <a:bodyPr/>
          <a:lstStyle/>
          <a:p>
            <a:endParaRPr lang="en-JO"/>
          </a:p>
        </p:txBody>
      </p:sp>
      <p:sp>
        <p:nvSpPr>
          <p:cNvPr id="19" name="Text 19"/>
          <p:cNvSpPr/>
          <p:nvPr/>
        </p:nvSpPr>
        <p:spPr>
          <a:xfrm>
            <a:off x="8357616" y="1920240"/>
            <a:ext cx="310896" cy="310896"/>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3</a:t>
            </a:r>
          </a:p>
        </p:txBody>
      </p:sp>
      <p:sp>
        <p:nvSpPr>
          <p:cNvPr id="20" name="Text 20"/>
          <p:cNvSpPr/>
          <p:nvPr/>
        </p:nvSpPr>
        <p:spPr>
          <a:xfrm>
            <a:off x="8759952" y="1911096"/>
            <a:ext cx="2624328" cy="329184"/>
          </a:xfrm>
          <a:prstGeom prst="rect">
            <a:avLst/>
          </a:prstGeom>
          <a:noFill/>
          <a:ln/>
        </p:spPr>
        <p:txBody>
          <a:bodyPr wrap="square" lIns="0" tIns="0" rIns="0" bIns="0" rtlCol="0" anchor="ctr"/>
          <a:lstStyle/>
          <a:p>
            <a:pPr marL="0" indent="0">
              <a:buNone/>
            </a:pPr>
            <a:r>
              <a:rPr lang="en-US" sz="1550" b="1" dirty="0">
                <a:solidFill>
                  <a:srgbClr val="1C1917"/>
                </a:solidFill>
                <a:latin typeface="Cambria" pitchFamily="34" charset="0"/>
                <a:ea typeface="Cambria" pitchFamily="34" charset="-122"/>
                <a:cs typeface="Cambria" pitchFamily="34" charset="-120"/>
              </a:rPr>
              <a:t>You get a decision</a:t>
            </a:r>
          </a:p>
        </p:txBody>
      </p:sp>
      <p:sp>
        <p:nvSpPr>
          <p:cNvPr id="21" name="Text 21"/>
          <p:cNvSpPr/>
          <p:nvPr/>
        </p:nvSpPr>
        <p:spPr>
          <a:xfrm>
            <a:off x="8357616" y="2395728"/>
            <a:ext cx="3026664" cy="1691640"/>
          </a:xfrm>
          <a:prstGeom prst="rect">
            <a:avLst/>
          </a:prstGeom>
          <a:noFill/>
          <a:ln/>
        </p:spPr>
        <p:txBody>
          <a:bodyPr wrap="square" lIns="0" tIns="0" rIns="0" bIns="0" rtlCol="0" anchor="t"/>
          <a:lstStyle/>
          <a:p>
            <a:pPr marL="0" indent="0">
              <a:lnSpc>
                <a:spcPts val="1650"/>
              </a:lnSpc>
              <a:spcAft>
                <a:spcPts val="700"/>
              </a:spcAft>
              <a:buNone/>
            </a:pPr>
            <a:r>
              <a:rPr lang="en-US" sz="1200" dirty="0">
                <a:solidFill>
                  <a:srgbClr val="514C46"/>
                </a:solidFill>
                <a:latin typeface="Calibri" pitchFamily="34" charset="0"/>
                <a:ea typeface="Calibri" pitchFamily="34" charset="-122"/>
                <a:cs typeface="Calibri" pitchFamily="34" charset="-120"/>
              </a:rPr>
              <a:t>Monthly generation set against what the household actually uses.</a:t>
            </a:r>
          </a:p>
          <a:p>
            <a:pPr marL="0" indent="0">
              <a:lnSpc>
                <a:spcPts val="1650"/>
              </a:lnSpc>
              <a:spcAft>
                <a:spcPts val="700"/>
              </a:spcAft>
              <a:buNone/>
            </a:pPr>
            <a:r>
              <a:rPr lang="en-US" sz="1200" dirty="0">
                <a:solidFill>
                  <a:srgbClr val="514C46"/>
                </a:solidFill>
                <a:latin typeface="Calibri" pitchFamily="34" charset="0"/>
                <a:ea typeface="Calibri" pitchFamily="34" charset="-122"/>
                <a:cs typeface="Calibri" pitchFamily="34" charset="-120"/>
              </a:rPr>
              <a:t>The share of the year covered, and the saving in dinars.</a:t>
            </a:r>
          </a:p>
          <a:p>
            <a:pPr marL="0" indent="0">
              <a:lnSpc>
                <a:spcPts val="1650"/>
              </a:lnSpc>
              <a:spcAft>
                <a:spcPts val="700"/>
              </a:spcAft>
              <a:buNone/>
            </a:pPr>
            <a:r>
              <a:rPr lang="en-US" sz="1200" dirty="0">
                <a:solidFill>
                  <a:srgbClr val="514C46"/>
                </a:solidFill>
                <a:latin typeface="Calibri" pitchFamily="34" charset="0"/>
                <a:ea typeface="Calibri" pitchFamily="34" charset="-122"/>
                <a:cs typeface="Calibri" pitchFamily="34" charset="-120"/>
              </a:rPr>
              <a:t>A final verdict, in plain words.</a:t>
            </a:r>
          </a:p>
        </p:txBody>
      </p:sp>
      <p:sp>
        <p:nvSpPr>
          <p:cNvPr id="22" name="Text 22"/>
          <p:cNvSpPr/>
          <p:nvPr/>
        </p:nvSpPr>
        <p:spPr>
          <a:xfrm>
            <a:off x="8357616" y="4224528"/>
            <a:ext cx="3026664" cy="457200"/>
          </a:xfrm>
          <a:prstGeom prst="rect">
            <a:avLst/>
          </a:prstGeom>
          <a:noFill/>
          <a:ln/>
        </p:spPr>
        <p:txBody>
          <a:bodyPr wrap="square" lIns="0" tIns="0" rIns="0" bIns="0" rtlCol="0" anchor="ctr"/>
          <a:lstStyle/>
          <a:p>
            <a:pPr marL="0" indent="0">
              <a:buNone/>
            </a:pPr>
            <a:r>
              <a:rPr lang="en-US" sz="1050" b="1" dirty="0">
                <a:solidFill>
                  <a:srgbClr val="A06B08"/>
                </a:solidFill>
                <a:latin typeface="Calibri" pitchFamily="34" charset="0"/>
                <a:ea typeface="Calibri" pitchFamily="34" charset="-122"/>
                <a:cs typeface="Calibri" pitchFamily="34" charset="-120"/>
              </a:rPr>
              <a:t>Worth it · Partially · Not enough</a:t>
            </a:r>
          </a:p>
        </p:txBody>
      </p:sp>
      <p:sp>
        <p:nvSpPr>
          <p:cNvPr id="23" name="Text 23"/>
          <p:cNvSpPr/>
          <p:nvPr/>
        </p:nvSpPr>
        <p:spPr>
          <a:xfrm>
            <a:off x="1444752" y="0"/>
            <a:ext cx="1" cy="1"/>
          </a:xfrm>
          <a:prstGeom prst="rect">
            <a:avLst/>
          </a:prstGeom>
          <a:noFill/>
          <a:ln/>
        </p:spPr>
        <p:txBody>
          <a:bodyPr wrap="square" lIns="0" tIns="0" rIns="0" bIns="0" rtlCol="0" anchor="ctr"/>
          <a:lstStyle/>
          <a:p>
            <a:pPr marL="0" indent="0">
              <a:buNone/>
            </a:pPr>
            <a:endParaRPr/>
          </a:p>
        </p:txBody>
      </p:sp>
      <p:sp>
        <p:nvSpPr>
          <p:cNvPr id="24" name="Text 24"/>
          <p:cNvSpPr/>
          <p:nvPr/>
        </p:nvSpPr>
        <p:spPr>
          <a:xfrm>
            <a:off x="4087368" y="3063240"/>
            <a:ext cx="237744" cy="274320"/>
          </a:xfrm>
          <a:prstGeom prst="rect">
            <a:avLst/>
          </a:prstGeom>
          <a:noFill/>
          <a:ln/>
        </p:spPr>
        <p:txBody>
          <a:bodyPr wrap="square" lIns="0" tIns="0" rIns="0" bIns="0" rtlCol="0" anchor="ctr"/>
          <a:lstStyle/>
          <a:p>
            <a:pPr marL="0" indent="0" algn="ctr">
              <a:buNone/>
            </a:pPr>
            <a:r>
              <a:rPr lang="en-US" sz="1200" dirty="0">
                <a:solidFill>
                  <a:srgbClr val="E09A16"/>
                </a:solidFill>
                <a:latin typeface="Calibri" pitchFamily="34" charset="0"/>
                <a:ea typeface="Calibri" pitchFamily="34" charset="-122"/>
                <a:cs typeface="Calibri" pitchFamily="34" charset="-120"/>
              </a:rPr>
              <a:t>▸</a:t>
            </a:r>
          </a:p>
        </p:txBody>
      </p:sp>
      <p:sp>
        <p:nvSpPr>
          <p:cNvPr id="25" name="Text 25"/>
          <p:cNvSpPr/>
          <p:nvPr/>
        </p:nvSpPr>
        <p:spPr>
          <a:xfrm>
            <a:off x="7863840" y="3063240"/>
            <a:ext cx="237744" cy="274320"/>
          </a:xfrm>
          <a:prstGeom prst="rect">
            <a:avLst/>
          </a:prstGeom>
          <a:noFill/>
          <a:ln/>
        </p:spPr>
        <p:txBody>
          <a:bodyPr wrap="square" lIns="0" tIns="0" rIns="0" bIns="0" rtlCol="0" anchor="ctr"/>
          <a:lstStyle/>
          <a:p>
            <a:pPr marL="0" indent="0" algn="ctr">
              <a:buNone/>
            </a:pPr>
            <a:r>
              <a:rPr lang="en-US" sz="1200" dirty="0">
                <a:solidFill>
                  <a:srgbClr val="E09A16"/>
                </a:solidFill>
                <a:latin typeface="Calibri" pitchFamily="34" charset="0"/>
                <a:ea typeface="Calibri" pitchFamily="34" charset="-122"/>
                <a:cs typeface="Calibri" pitchFamily="34" charset="-120"/>
              </a:rPr>
              <a:t>▸</a:t>
            </a:r>
          </a:p>
        </p:txBody>
      </p:sp>
      <p:sp>
        <p:nvSpPr>
          <p:cNvPr id="26" name="Shape 26"/>
          <p:cNvSpPr/>
          <p:nvPr/>
        </p:nvSpPr>
        <p:spPr>
          <a:xfrm>
            <a:off x="566928" y="5047488"/>
            <a:ext cx="11055096" cy="914400"/>
          </a:xfrm>
          <a:prstGeom prst="roundRect">
            <a:avLst>
              <a:gd name="adj" fmla="val 3217"/>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27" name="Text 27"/>
          <p:cNvSpPr/>
          <p:nvPr/>
        </p:nvSpPr>
        <p:spPr>
          <a:xfrm>
            <a:off x="886968" y="5047488"/>
            <a:ext cx="10415016" cy="914400"/>
          </a:xfrm>
          <a:prstGeom prst="rect">
            <a:avLst/>
          </a:prstGeom>
          <a:noFill/>
          <a:ln/>
        </p:spPr>
        <p:txBody>
          <a:bodyPr wrap="square" lIns="0" tIns="0" rIns="0" bIns="0" rtlCol="0" anchor="ctr"/>
          <a:lstStyle/>
          <a:p>
            <a:pPr marL="0" indent="0">
              <a:lnSpc>
                <a:spcPts val="1750"/>
              </a:lnSpc>
              <a:buNone/>
            </a:pPr>
            <a:r>
              <a:rPr lang="en-US" sz="1300" b="1" dirty="0">
                <a:solidFill>
                  <a:srgbClr val="1C1917"/>
                </a:solidFill>
                <a:latin typeface="Calibri" pitchFamily="34" charset="0"/>
                <a:ea typeface="Calibri" pitchFamily="34" charset="-122"/>
                <a:cs typeface="Calibri" pitchFamily="34" charset="-120"/>
              </a:rPr>
              <a:t>Three ways to give a location.  </a:t>
            </a:r>
            <a:r>
              <a:rPr lang="en-US" sz="1300" dirty="0">
                <a:solidFill>
                  <a:srgbClr val="514C46"/>
                </a:solidFill>
                <a:latin typeface="Calibri" pitchFamily="34" charset="0"/>
                <a:ea typeface="Calibri" pitchFamily="34" charset="-122"/>
                <a:cs typeface="Calibri" pitchFamily="34" charset="-120"/>
              </a:rPr>
              <a:t>Type an address, tap a point on the map, or let the browser detect where you are. All three end in one coordinate, checked against Jordan’s border before anything is predicted.</a:t>
            </a:r>
          </a:p>
        </p:txBody>
      </p:sp>
      <p:sp>
        <p:nvSpPr>
          <p:cNvPr id="28" name="Shape 28"/>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29" name="Text 29"/>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p>
        </p:txBody>
      </p:sp>
      <p:sp>
        <p:nvSpPr>
          <p:cNvPr id="30" name="Text 30"/>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16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07 · THE APP</a:t>
            </a:r>
          </a:p>
        </p:txBody>
      </p:sp>
      <p:sp>
        <p:nvSpPr>
          <p:cNvPr id="3" name="Text 3"/>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The App — What the Verdict Means</a:t>
            </a:r>
          </a:p>
        </p:txBody>
      </p:sp>
      <p:sp>
        <p:nvSpPr>
          <p:cNvPr id="4" name="Text 4"/>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The same model, three households, three different answers.</a:t>
            </a:r>
          </a:p>
        </p:txBody>
      </p:sp>
      <p:sp>
        <p:nvSpPr>
          <p:cNvPr id="5" name="Shape 5"/>
          <p:cNvSpPr/>
          <p:nvPr/>
        </p:nvSpPr>
        <p:spPr>
          <a:xfrm>
            <a:off x="566928" y="1700784"/>
            <a:ext cx="3502152" cy="2377440"/>
          </a:xfrm>
          <a:prstGeom prst="roundRect">
            <a:avLst>
              <a:gd name="adj" fmla="val 3217"/>
            </a:avLst>
          </a:prstGeom>
          <a:solidFill>
            <a:srgbClr val="EDF4EF"/>
          </a:solidFill>
          <a:ln w="9525">
            <a:solidFill>
              <a:srgbClr val="EDF4EF"/>
            </a:solidFill>
            <a:prstDash val="solid"/>
          </a:ln>
          <a:effectLst>
            <a:outerShdw blurRad="127000" dist="12700" dir="5400000" algn="bl" rotWithShape="0">
              <a:srgbClr val="C9C0B4">
                <a:alpha val="30000"/>
              </a:srgbClr>
            </a:outerShdw>
          </a:effectLst>
        </p:spPr>
        <p:txBody>
          <a:bodyPr/>
          <a:lstStyle/>
          <a:p>
            <a:endParaRPr lang="en-JO"/>
          </a:p>
        </p:txBody>
      </p:sp>
      <p:sp>
        <p:nvSpPr>
          <p:cNvPr id="6" name="Text 6"/>
          <p:cNvSpPr/>
          <p:nvPr/>
        </p:nvSpPr>
        <p:spPr>
          <a:xfrm>
            <a:off x="804672" y="1920240"/>
            <a:ext cx="3026664" cy="384048"/>
          </a:xfrm>
          <a:prstGeom prst="rect">
            <a:avLst/>
          </a:prstGeom>
          <a:noFill/>
          <a:ln/>
        </p:spPr>
        <p:txBody>
          <a:bodyPr wrap="square" lIns="0" tIns="0" rIns="0" bIns="0" rtlCol="0" anchor="ctr"/>
          <a:lstStyle/>
          <a:p>
            <a:pPr marL="0" indent="0">
              <a:buNone/>
            </a:pPr>
            <a:r>
              <a:rPr lang="en-US" sz="1800" b="1" dirty="0">
                <a:solidFill>
                  <a:srgbClr val="2E6B4F"/>
                </a:solidFill>
                <a:latin typeface="Cambria" pitchFamily="34" charset="0"/>
                <a:ea typeface="Cambria" pitchFamily="34" charset="-122"/>
                <a:cs typeface="Cambria" pitchFamily="34" charset="-120"/>
              </a:rPr>
              <a:t>Worth it</a:t>
            </a:r>
          </a:p>
        </p:txBody>
      </p:sp>
      <p:sp>
        <p:nvSpPr>
          <p:cNvPr id="7" name="Text 7"/>
          <p:cNvSpPr/>
          <p:nvPr/>
        </p:nvSpPr>
        <p:spPr>
          <a:xfrm>
            <a:off x="804672" y="2377440"/>
            <a:ext cx="3026664" cy="292608"/>
          </a:xfrm>
          <a:prstGeom prst="rect">
            <a:avLst/>
          </a:prstGeom>
          <a:noFill/>
          <a:ln/>
        </p:spPr>
        <p:txBody>
          <a:bodyPr wrap="square" lIns="0" tIns="0" rIns="0" bIns="0" rtlCol="0" anchor="ctr"/>
          <a:lstStyle/>
          <a:p>
            <a:pPr marL="0" indent="0">
              <a:buNone/>
            </a:pPr>
            <a:r>
              <a:rPr lang="en-US" sz="1150" b="1" kern="0" spc="160" dirty="0">
                <a:solidFill>
                  <a:srgbClr val="8C8279"/>
                </a:solidFill>
                <a:latin typeface="Calibri" pitchFamily="34" charset="0"/>
                <a:ea typeface="Calibri" pitchFamily="34" charset="-122"/>
                <a:cs typeface="Calibri" pitchFamily="34" charset="-120"/>
              </a:rPr>
              <a:t>Aqaba</a:t>
            </a:r>
          </a:p>
        </p:txBody>
      </p:sp>
      <p:sp>
        <p:nvSpPr>
          <p:cNvPr id="8" name="Text 8"/>
          <p:cNvSpPr/>
          <p:nvPr/>
        </p:nvSpPr>
        <p:spPr>
          <a:xfrm>
            <a:off x="804672" y="2761488"/>
            <a:ext cx="3026664" cy="1005840"/>
          </a:xfrm>
          <a:prstGeom prst="rect">
            <a:avLst/>
          </a:prstGeom>
          <a:noFill/>
          <a:ln/>
        </p:spPr>
        <p:txBody>
          <a:bodyPr wrap="square" lIns="0" tIns="0" rIns="0" bIns="0" rtlCol="0" anchor="t"/>
          <a:lstStyle/>
          <a:p>
            <a:pPr marL="0" indent="0">
              <a:lnSpc>
                <a:spcPts val="1750"/>
              </a:lnSpc>
              <a:buNone/>
            </a:pPr>
            <a:r>
              <a:rPr lang="en-US" sz="1300" dirty="0">
                <a:solidFill>
                  <a:srgbClr val="514C46"/>
                </a:solidFill>
                <a:latin typeface="Calibri" pitchFamily="34" charset="0"/>
                <a:ea typeface="Calibri" pitchFamily="34" charset="-122"/>
                <a:cs typeface="Calibri" pitchFamily="34" charset="-120"/>
              </a:rPr>
              <a:t>Generation covers what the household uses across the year.</a:t>
            </a:r>
          </a:p>
        </p:txBody>
      </p:sp>
      <p:sp>
        <p:nvSpPr>
          <p:cNvPr id="9" name="Shape 9"/>
          <p:cNvSpPr/>
          <p:nvPr/>
        </p:nvSpPr>
        <p:spPr>
          <a:xfrm>
            <a:off x="4343400" y="1700784"/>
            <a:ext cx="3502152" cy="2377440"/>
          </a:xfrm>
          <a:prstGeom prst="roundRect">
            <a:avLst>
              <a:gd name="adj" fmla="val 3217"/>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10" name="Text 10"/>
          <p:cNvSpPr/>
          <p:nvPr/>
        </p:nvSpPr>
        <p:spPr>
          <a:xfrm>
            <a:off x="4581144" y="1920240"/>
            <a:ext cx="3026664" cy="384048"/>
          </a:xfrm>
          <a:prstGeom prst="rect">
            <a:avLst/>
          </a:prstGeom>
          <a:noFill/>
          <a:ln/>
        </p:spPr>
        <p:txBody>
          <a:bodyPr wrap="square" lIns="0" tIns="0" rIns="0" bIns="0" rtlCol="0" anchor="ctr"/>
          <a:lstStyle/>
          <a:p>
            <a:pPr marL="0" indent="0">
              <a:buNone/>
            </a:pPr>
            <a:r>
              <a:rPr lang="en-US" sz="1800" b="1" dirty="0">
                <a:solidFill>
                  <a:srgbClr val="A06B08"/>
                </a:solidFill>
                <a:latin typeface="Cambria" pitchFamily="34" charset="0"/>
                <a:ea typeface="Cambria" pitchFamily="34" charset="-122"/>
                <a:cs typeface="Cambria" pitchFamily="34" charset="-120"/>
              </a:rPr>
              <a:t>Partially worth it</a:t>
            </a:r>
          </a:p>
        </p:txBody>
      </p:sp>
      <p:sp>
        <p:nvSpPr>
          <p:cNvPr id="11" name="Text 11"/>
          <p:cNvSpPr/>
          <p:nvPr/>
        </p:nvSpPr>
        <p:spPr>
          <a:xfrm>
            <a:off x="4581144" y="2377440"/>
            <a:ext cx="3026664" cy="292608"/>
          </a:xfrm>
          <a:prstGeom prst="rect">
            <a:avLst/>
          </a:prstGeom>
          <a:noFill/>
          <a:ln/>
        </p:spPr>
        <p:txBody>
          <a:bodyPr wrap="square" lIns="0" tIns="0" rIns="0" bIns="0" rtlCol="0" anchor="ctr"/>
          <a:lstStyle/>
          <a:p>
            <a:pPr marL="0" indent="0">
              <a:buNone/>
            </a:pPr>
            <a:r>
              <a:rPr lang="en-US" sz="1150" b="1" kern="0" spc="160" dirty="0">
                <a:solidFill>
                  <a:srgbClr val="8C8279"/>
                </a:solidFill>
                <a:latin typeface="Calibri" pitchFamily="34" charset="0"/>
                <a:ea typeface="Calibri" pitchFamily="34" charset="-122"/>
                <a:cs typeface="Calibri" pitchFamily="34" charset="-120"/>
              </a:rPr>
              <a:t>Irbid</a:t>
            </a:r>
          </a:p>
        </p:txBody>
      </p:sp>
      <p:sp>
        <p:nvSpPr>
          <p:cNvPr id="12" name="Text 12"/>
          <p:cNvSpPr/>
          <p:nvPr/>
        </p:nvSpPr>
        <p:spPr>
          <a:xfrm>
            <a:off x="4581144" y="2761488"/>
            <a:ext cx="3026664" cy="1005840"/>
          </a:xfrm>
          <a:prstGeom prst="rect">
            <a:avLst/>
          </a:prstGeom>
          <a:noFill/>
          <a:ln/>
        </p:spPr>
        <p:txBody>
          <a:bodyPr wrap="square" lIns="0" tIns="0" rIns="0" bIns="0" rtlCol="0" anchor="t"/>
          <a:lstStyle/>
          <a:p>
            <a:pPr marL="0" indent="0">
              <a:lnSpc>
                <a:spcPts val="1750"/>
              </a:lnSpc>
              <a:buNone/>
            </a:pPr>
            <a:r>
              <a:rPr lang="en-US" sz="1300" dirty="0">
                <a:solidFill>
                  <a:srgbClr val="514C46"/>
                </a:solidFill>
                <a:latin typeface="Calibri" pitchFamily="34" charset="0"/>
                <a:ea typeface="Calibri" pitchFamily="34" charset="-122"/>
                <a:cs typeface="Calibri" pitchFamily="34" charset="-120"/>
              </a:rPr>
              <a:t>Generation helps and cuts the bill, but the cover is incomplete.</a:t>
            </a:r>
          </a:p>
        </p:txBody>
      </p:sp>
      <p:sp>
        <p:nvSpPr>
          <p:cNvPr id="13" name="Shape 13"/>
          <p:cNvSpPr/>
          <p:nvPr/>
        </p:nvSpPr>
        <p:spPr>
          <a:xfrm>
            <a:off x="8119872" y="1700784"/>
            <a:ext cx="3502152" cy="2377440"/>
          </a:xfrm>
          <a:prstGeom prst="roundRect">
            <a:avLst>
              <a:gd name="adj" fmla="val 3217"/>
            </a:avLst>
          </a:prstGeom>
          <a:solidFill>
            <a:srgbClr val="FAEEEC"/>
          </a:solidFill>
          <a:ln w="9525">
            <a:solidFill>
              <a:srgbClr val="FAEEEC"/>
            </a:solidFill>
            <a:prstDash val="solid"/>
          </a:ln>
          <a:effectLst>
            <a:outerShdw blurRad="127000" dist="12700" dir="5400000" algn="bl" rotWithShape="0">
              <a:srgbClr val="C9C0B4">
                <a:alpha val="30000"/>
              </a:srgbClr>
            </a:outerShdw>
          </a:effectLst>
        </p:spPr>
        <p:txBody>
          <a:bodyPr/>
          <a:lstStyle/>
          <a:p>
            <a:endParaRPr lang="en-JO"/>
          </a:p>
        </p:txBody>
      </p:sp>
      <p:sp>
        <p:nvSpPr>
          <p:cNvPr id="14" name="Text 14"/>
          <p:cNvSpPr/>
          <p:nvPr/>
        </p:nvSpPr>
        <p:spPr>
          <a:xfrm>
            <a:off x="8357616" y="1920240"/>
            <a:ext cx="3026664" cy="384048"/>
          </a:xfrm>
          <a:prstGeom prst="rect">
            <a:avLst/>
          </a:prstGeom>
          <a:noFill/>
          <a:ln/>
        </p:spPr>
        <p:txBody>
          <a:bodyPr wrap="square" lIns="0" tIns="0" rIns="0" bIns="0" rtlCol="0" anchor="ctr"/>
          <a:lstStyle/>
          <a:p>
            <a:pPr marL="0" indent="0">
              <a:buNone/>
            </a:pPr>
            <a:r>
              <a:rPr lang="en-US" sz="1800" b="1" dirty="0">
                <a:solidFill>
                  <a:srgbClr val="A33529"/>
                </a:solidFill>
                <a:latin typeface="Cambria" pitchFamily="34" charset="0"/>
                <a:ea typeface="Cambria" pitchFamily="34" charset="-122"/>
                <a:cs typeface="Cambria" pitchFamily="34" charset="-120"/>
              </a:rPr>
              <a:t>Not enough</a:t>
            </a:r>
          </a:p>
        </p:txBody>
      </p:sp>
      <p:sp>
        <p:nvSpPr>
          <p:cNvPr id="15" name="Text 15"/>
          <p:cNvSpPr/>
          <p:nvPr/>
        </p:nvSpPr>
        <p:spPr>
          <a:xfrm>
            <a:off x="8357616" y="2377440"/>
            <a:ext cx="3026664" cy="292608"/>
          </a:xfrm>
          <a:prstGeom prst="rect">
            <a:avLst/>
          </a:prstGeom>
          <a:noFill/>
          <a:ln/>
        </p:spPr>
        <p:txBody>
          <a:bodyPr wrap="square" lIns="0" tIns="0" rIns="0" bIns="0" rtlCol="0" anchor="ctr"/>
          <a:lstStyle/>
          <a:p>
            <a:pPr marL="0" indent="0">
              <a:buNone/>
            </a:pPr>
            <a:r>
              <a:rPr lang="en-US" sz="1150" b="1" kern="0" spc="160" dirty="0">
                <a:solidFill>
                  <a:srgbClr val="8C8279"/>
                </a:solidFill>
                <a:latin typeface="Calibri" pitchFamily="34" charset="0"/>
                <a:ea typeface="Calibri" pitchFamily="34" charset="-122"/>
                <a:cs typeface="Calibri" pitchFamily="34" charset="-120"/>
              </a:rPr>
              <a:t>Ajloun</a:t>
            </a:r>
          </a:p>
        </p:txBody>
      </p:sp>
      <p:sp>
        <p:nvSpPr>
          <p:cNvPr id="16" name="Text 16"/>
          <p:cNvSpPr/>
          <p:nvPr/>
        </p:nvSpPr>
        <p:spPr>
          <a:xfrm>
            <a:off x="8357616" y="2761488"/>
            <a:ext cx="3026664" cy="1005840"/>
          </a:xfrm>
          <a:prstGeom prst="rect">
            <a:avLst/>
          </a:prstGeom>
          <a:noFill/>
          <a:ln/>
        </p:spPr>
        <p:txBody>
          <a:bodyPr wrap="square" lIns="0" tIns="0" rIns="0" bIns="0" rtlCol="0" anchor="t"/>
          <a:lstStyle/>
          <a:p>
            <a:pPr marL="0" indent="0">
              <a:lnSpc>
                <a:spcPts val="1750"/>
              </a:lnSpc>
              <a:buNone/>
            </a:pPr>
            <a:r>
              <a:rPr lang="en-US" sz="1300" dirty="0">
                <a:solidFill>
                  <a:srgbClr val="514C46"/>
                </a:solidFill>
                <a:latin typeface="Calibri" pitchFamily="34" charset="0"/>
                <a:ea typeface="Calibri" pitchFamily="34" charset="-122"/>
                <a:cs typeface="Calibri" pitchFamily="34" charset="-120"/>
              </a:rPr>
              <a:t>Generation is not sufficient for what this household uses.</a:t>
            </a:r>
          </a:p>
        </p:txBody>
      </p:sp>
      <p:sp>
        <p:nvSpPr>
          <p:cNvPr id="17" name="Shape 17"/>
          <p:cNvSpPr/>
          <p:nvPr/>
        </p:nvSpPr>
        <p:spPr>
          <a:xfrm>
            <a:off x="566928" y="4389120"/>
            <a:ext cx="11055096" cy="640080"/>
          </a:xfrm>
          <a:prstGeom prst="roundRect">
            <a:avLst>
              <a:gd name="adj" fmla="val 321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8" name="Text 18"/>
          <p:cNvSpPr/>
          <p:nvPr/>
        </p:nvSpPr>
        <p:spPr>
          <a:xfrm>
            <a:off x="886968" y="4389120"/>
            <a:ext cx="10415016" cy="640080"/>
          </a:xfrm>
          <a:prstGeom prst="rect">
            <a:avLst/>
          </a:prstGeom>
          <a:noFill/>
          <a:ln/>
        </p:spPr>
        <p:txBody>
          <a:bodyPr wrap="square" lIns="0" tIns="0" rIns="0" bIns="0" rtlCol="0" anchor="ctr"/>
          <a:lstStyle/>
          <a:p>
            <a:pPr marL="0" indent="0">
              <a:buNone/>
            </a:pPr>
            <a:r>
              <a:rPr lang="en-US" sz="1300" b="1" dirty="0">
                <a:solidFill>
                  <a:srgbClr val="1C1917"/>
                </a:solidFill>
                <a:latin typeface="Calibri" pitchFamily="34" charset="0"/>
                <a:ea typeface="Calibri" pitchFamily="34" charset="-122"/>
                <a:cs typeface="Calibri" pitchFamily="34" charset="-120"/>
              </a:rPr>
              <a:t>What the result page shows:  </a:t>
            </a:r>
            <a:r>
              <a:rPr lang="en-US" sz="1300" dirty="0">
                <a:solidFill>
                  <a:srgbClr val="514C46"/>
                </a:solidFill>
                <a:latin typeface="Calibri" pitchFamily="34" charset="0"/>
                <a:ea typeface="Calibri" pitchFamily="34" charset="-122"/>
                <a:cs typeface="Calibri" pitchFamily="34" charset="-120"/>
              </a:rPr>
              <a:t>generation month by month  ·  share of demand covered  ·  saving in JOD  ·  the final verdict.</a:t>
            </a:r>
          </a:p>
        </p:txBody>
      </p:sp>
      <p:sp>
        <p:nvSpPr>
          <p:cNvPr id="19" name="Shape 19"/>
          <p:cNvSpPr/>
          <p:nvPr/>
        </p:nvSpPr>
        <p:spPr>
          <a:xfrm>
            <a:off x="566928" y="5230368"/>
            <a:ext cx="11055096" cy="749808"/>
          </a:xfrm>
          <a:prstGeom prst="roundRect">
            <a:avLst>
              <a:gd name="adj" fmla="val 10976"/>
            </a:avLst>
          </a:prstGeom>
          <a:solidFill>
            <a:srgbClr val="FFFFFF"/>
          </a:solidFill>
          <a:ln w="12700">
            <a:solidFill>
              <a:srgbClr val="E09A16"/>
            </a:solidFill>
            <a:prstDash val="solid"/>
          </a:ln>
          <a:effectLst>
            <a:outerShdw blurRad="127000" dist="12700" dir="5400000" algn="bl" rotWithShape="0">
              <a:srgbClr val="C9C0B4">
                <a:alpha val="30000"/>
              </a:srgbClr>
            </a:outerShdw>
          </a:effectLst>
        </p:spPr>
        <p:txBody>
          <a:bodyPr/>
          <a:lstStyle/>
          <a:p>
            <a:endParaRPr lang="en-JO"/>
          </a:p>
        </p:txBody>
      </p:sp>
      <p:sp>
        <p:nvSpPr>
          <p:cNvPr id="20" name="Text 20"/>
          <p:cNvSpPr/>
          <p:nvPr/>
        </p:nvSpPr>
        <p:spPr>
          <a:xfrm>
            <a:off x="886968" y="5230368"/>
            <a:ext cx="10415016" cy="749808"/>
          </a:xfrm>
          <a:prstGeom prst="rect">
            <a:avLst/>
          </a:prstGeom>
          <a:noFill/>
          <a:ln/>
        </p:spPr>
        <p:txBody>
          <a:bodyPr wrap="square" lIns="0" tIns="0" rIns="0" bIns="0" rtlCol="0" anchor="ctr"/>
          <a:lstStyle/>
          <a:p>
            <a:pPr marL="0" indent="0">
              <a:lnSpc>
                <a:spcPts val="1750"/>
              </a:lnSpc>
              <a:buNone/>
            </a:pPr>
            <a:r>
              <a:rPr lang="en-US" sz="1300" b="1" dirty="0">
                <a:solidFill>
                  <a:srgbClr val="1C1917"/>
                </a:solidFill>
                <a:latin typeface="Calibri" pitchFamily="34" charset="0"/>
                <a:ea typeface="Calibri" pitchFamily="34" charset="-122"/>
                <a:cs typeface="Calibri" pitchFamily="34" charset="-120"/>
              </a:rPr>
              <a:t>The location is not what decides it — how much electricity the household uses, and how big the system is, decide the verdict.</a:t>
            </a:r>
          </a:p>
        </p:txBody>
      </p:sp>
      <p:sp>
        <p:nvSpPr>
          <p:cNvPr id="21" name="Shape 21"/>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22" name="Text 22"/>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p>
        </p:txBody>
      </p:sp>
      <p:sp>
        <p:nvSpPr>
          <p:cNvPr id="23" name="Text 23"/>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08 · THE DASHBOARD</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Dashboard — Solar Resource</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Power BI: geographic potential and district-level performance.</a:t>
            </a:r>
            <a:endParaRPr lang="en-US" sz="1350" dirty="0"/>
          </a:p>
        </p:txBody>
      </p:sp>
      <p:pic>
        <p:nvPicPr>
          <p:cNvPr id="5" name="Image 0" descr="dash/page-2.png"/>
          <p:cNvPicPr>
            <a:picLocks noChangeAspect="1"/>
          </p:cNvPicPr>
          <p:nvPr/>
        </p:nvPicPr>
        <p:blipFill>
          <a:blip r:embed="rId3"/>
          <a:stretch>
            <a:fillRect/>
          </a:stretch>
        </p:blipFill>
        <p:spPr>
          <a:xfrm>
            <a:off x="566928" y="1591056"/>
            <a:ext cx="7772400" cy="4433011"/>
          </a:xfrm>
          <a:prstGeom prst="rect">
            <a:avLst/>
          </a:prstGeom>
          <a:effectLst>
            <a:outerShdw blurRad="177800" dist="25400" dir="5400000" algn="bl" rotWithShape="0">
              <a:srgbClr val="A89C8C">
                <a:alpha val="35000"/>
              </a:srgbClr>
            </a:outerShdw>
          </a:effectLst>
        </p:spPr>
      </p:pic>
      <p:sp>
        <p:nvSpPr>
          <p:cNvPr id="6" name="Shape 3"/>
          <p:cNvSpPr/>
          <p:nvPr/>
        </p:nvSpPr>
        <p:spPr>
          <a:xfrm>
            <a:off x="8549640" y="1591056"/>
            <a:ext cx="3072384" cy="3063240"/>
          </a:xfrm>
          <a:prstGeom prst="roundRect">
            <a:avLst>
              <a:gd name="adj" fmla="val 268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7" name="Text 4"/>
          <p:cNvSpPr/>
          <p:nvPr/>
        </p:nvSpPr>
        <p:spPr>
          <a:xfrm>
            <a:off x="8796528" y="1773936"/>
            <a:ext cx="2606040" cy="292608"/>
          </a:xfrm>
          <a:prstGeom prst="rect">
            <a:avLst/>
          </a:prstGeom>
          <a:noFill/>
          <a:ln/>
        </p:spPr>
        <p:txBody>
          <a:bodyPr wrap="square" lIns="0" tIns="0" rIns="0" bIns="0" rtlCol="0" anchor="ctr"/>
          <a:lstStyle/>
          <a:p>
            <a:pPr marL="0" indent="0">
              <a:buNone/>
            </a:pPr>
            <a:r>
              <a:rPr lang="en-US" sz="1550" b="1" dirty="0">
                <a:solidFill>
                  <a:srgbClr val="1C1917"/>
                </a:solidFill>
                <a:latin typeface="Cambria" pitchFamily="34" charset="0"/>
                <a:ea typeface="Cambria" pitchFamily="34" charset="-122"/>
                <a:cs typeface="Cambria" pitchFamily="34" charset="-120"/>
              </a:rPr>
              <a:t>On this page</a:t>
            </a:r>
            <a:endParaRPr lang="en-US" sz="1550" dirty="0"/>
          </a:p>
        </p:txBody>
      </p:sp>
      <p:sp>
        <p:nvSpPr>
          <p:cNvPr id="8" name="Text 5"/>
          <p:cNvSpPr/>
          <p:nvPr/>
        </p:nvSpPr>
        <p:spPr>
          <a:xfrm>
            <a:off x="8796528" y="2157984"/>
            <a:ext cx="2596896" cy="2331720"/>
          </a:xfrm>
          <a:prstGeom prst="rect">
            <a:avLst/>
          </a:prstGeom>
          <a:noFill/>
          <a:ln/>
        </p:spPr>
        <p:txBody>
          <a:bodyPr wrap="square" lIns="0" tIns="0" rIns="0" bIns="0" rtlCol="0" anchor="t"/>
          <a:lstStyle/>
          <a:p>
            <a:pPr marL="342900" indent="-342900">
              <a:lnSpc>
                <a:spcPts val="1550"/>
              </a:lnSpc>
              <a:spcAft>
                <a:spcPts val="800"/>
              </a:spcAft>
              <a:buSzPct val="100000"/>
              <a:buChar char="•"/>
            </a:pPr>
            <a:r>
              <a:rPr lang="en-US" sz="1150" dirty="0">
                <a:solidFill>
                  <a:srgbClr val="514C46"/>
                </a:solidFill>
                <a:latin typeface="Calibri" pitchFamily="34" charset="0"/>
                <a:ea typeface="Calibri" pitchFamily="34" charset="-122"/>
                <a:cs typeface="Calibri" pitchFamily="34" charset="-120"/>
              </a:rPr>
              <a:t>Map of all 131 locations across Jordan.</a:t>
            </a:r>
            <a:endParaRPr lang="en-US" sz="1150" dirty="0"/>
          </a:p>
          <a:p>
            <a:pPr marL="342900" indent="-342900">
              <a:lnSpc>
                <a:spcPts val="1550"/>
              </a:lnSpc>
              <a:spcAft>
                <a:spcPts val="800"/>
              </a:spcAft>
              <a:buSzPct val="100000"/>
              <a:buChar char="•"/>
            </a:pPr>
            <a:r>
              <a:rPr lang="en-US" sz="1150" dirty="0">
                <a:solidFill>
                  <a:srgbClr val="514C46"/>
                </a:solidFill>
                <a:latin typeface="Calibri" pitchFamily="34" charset="0"/>
                <a:ea typeface="Calibri" pitchFamily="34" charset="-122"/>
                <a:cs typeface="Calibri" pitchFamily="34" charset="-120"/>
              </a:rPr>
              <a:t>Districts ranked by annualised yield, 1,629 kWh/kWp/yr on average.</a:t>
            </a:r>
            <a:endParaRPr lang="en-US" sz="1150" dirty="0"/>
          </a:p>
          <a:p>
            <a:pPr marL="342900" indent="-342900">
              <a:lnSpc>
                <a:spcPts val="1550"/>
              </a:lnSpc>
              <a:spcAft>
                <a:spcPts val="800"/>
              </a:spcAft>
              <a:buSzPct val="100000"/>
              <a:buChar char="•"/>
            </a:pPr>
            <a:r>
              <a:rPr lang="en-US" sz="1150" dirty="0">
                <a:solidFill>
                  <a:srgbClr val="514C46"/>
                </a:solidFill>
                <a:latin typeface="Calibri" pitchFamily="34" charset="0"/>
                <a:ea typeface="Calibri" pitchFamily="34" charset="-122"/>
                <a:cs typeface="Calibri" pitchFamily="34" charset="-120"/>
              </a:rPr>
              <a:t>Cloud cover 23.3% and clearness ratio 94.5% nationally.</a:t>
            </a:r>
            <a:endParaRPr lang="en-US" sz="1150" dirty="0"/>
          </a:p>
          <a:p>
            <a:pPr marL="342900" indent="-342900">
              <a:lnSpc>
                <a:spcPts val="1550"/>
              </a:lnSpc>
              <a:spcAft>
                <a:spcPts val="800"/>
              </a:spcAft>
              <a:buSzPct val="100000"/>
              <a:buChar char="•"/>
            </a:pPr>
            <a:r>
              <a:rPr lang="en-US" sz="1150" dirty="0">
                <a:solidFill>
                  <a:srgbClr val="514C46"/>
                </a:solidFill>
                <a:latin typeface="Calibri" pitchFamily="34" charset="0"/>
                <a:ea typeface="Calibri" pitchFamily="34" charset="-122"/>
                <a:cs typeface="Calibri" pitchFamily="34" charset="-120"/>
              </a:rPr>
              <a:t>Year and district filters cross-filter the whole page.</a:t>
            </a:r>
            <a:endParaRPr lang="en-US" sz="1150" dirty="0"/>
          </a:p>
        </p:txBody>
      </p:sp>
      <p:sp>
        <p:nvSpPr>
          <p:cNvPr id="9" name="Shape 6"/>
          <p:cNvSpPr/>
          <p:nvPr/>
        </p:nvSpPr>
        <p:spPr>
          <a:xfrm>
            <a:off x="8549640" y="4828032"/>
            <a:ext cx="3072384" cy="1188720"/>
          </a:xfrm>
          <a:prstGeom prst="roundRect">
            <a:avLst>
              <a:gd name="adj" fmla="val 6923"/>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10" name="Text 7"/>
          <p:cNvSpPr/>
          <p:nvPr/>
        </p:nvSpPr>
        <p:spPr>
          <a:xfrm>
            <a:off x="8796528" y="4974336"/>
            <a:ext cx="2606040" cy="237744"/>
          </a:xfrm>
          <a:prstGeom prst="rect">
            <a:avLst/>
          </a:prstGeom>
          <a:noFill/>
          <a:ln/>
        </p:spPr>
        <p:txBody>
          <a:bodyPr wrap="square" lIns="0" tIns="0" rIns="0" bIns="0" rtlCol="0" anchor="ctr"/>
          <a:lstStyle/>
          <a:p>
            <a:pPr marL="0" indent="0">
              <a:buNone/>
            </a:pPr>
            <a:r>
              <a:rPr lang="en-US" sz="950" b="1" kern="0" spc="160" dirty="0">
                <a:solidFill>
                  <a:srgbClr val="A06B08"/>
                </a:solidFill>
                <a:latin typeface="Calibri" pitchFamily="34" charset="0"/>
                <a:ea typeface="Calibri" pitchFamily="34" charset="-122"/>
                <a:cs typeface="Calibri" pitchFamily="34" charset="-120"/>
              </a:rPr>
              <a:t>ANSWERS</a:t>
            </a:r>
            <a:endParaRPr lang="en-US" sz="950" dirty="0"/>
          </a:p>
        </p:txBody>
      </p:sp>
      <p:sp>
        <p:nvSpPr>
          <p:cNvPr id="11" name="Text 8"/>
          <p:cNvSpPr/>
          <p:nvPr/>
        </p:nvSpPr>
        <p:spPr>
          <a:xfrm>
            <a:off x="8796528" y="5230368"/>
            <a:ext cx="2596896" cy="658368"/>
          </a:xfrm>
          <a:prstGeom prst="rect">
            <a:avLst/>
          </a:prstGeom>
          <a:noFill/>
          <a:ln/>
        </p:spPr>
        <p:txBody>
          <a:bodyPr wrap="square" lIns="0" tIns="0" rIns="0" bIns="0" rtlCol="0" anchor="ctr"/>
          <a:lstStyle/>
          <a:p>
            <a:pPr marL="0" indent="0">
              <a:lnSpc>
                <a:spcPts val="1600"/>
              </a:lnSpc>
              <a:buNone/>
            </a:pPr>
            <a:r>
              <a:rPr lang="en-US" sz="1200" b="1" dirty="0">
                <a:solidFill>
                  <a:srgbClr val="1C1917"/>
                </a:solidFill>
                <a:latin typeface="Calibri" pitchFamily="34" charset="0"/>
                <a:ea typeface="Calibri" pitchFamily="34" charset="-122"/>
                <a:cs typeface="Calibri" pitchFamily="34" charset="-120"/>
              </a:rPr>
              <a:t>Where in Jordan is solar strongest?</a:t>
            </a:r>
            <a:endParaRPr lang="en-US" sz="1200" dirty="0"/>
          </a:p>
        </p:txBody>
      </p:sp>
      <p:sp>
        <p:nvSpPr>
          <p:cNvPr id="12" name="Shape 9"/>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13" name="Text 10"/>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14" name="Text 11"/>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F2D54FC-880D-FDE1-AED2-520AC7733404}"/>
              </a:ext>
            </a:extLst>
          </p:cNvPr>
          <p:cNvSpPr/>
          <p:nvPr/>
        </p:nvSpPr>
        <p:spPr>
          <a:xfrm>
            <a:off x="0" y="0"/>
            <a:ext cx="12191695" cy="6858000"/>
          </a:xfrm>
          <a:prstGeom prst="rect">
            <a:avLst/>
          </a:prstGeom>
          <a:solidFill>
            <a:srgbClr val="F8F8F6"/>
          </a:solidFill>
          <a:ln>
            <a:solidFill>
              <a:srgbClr val="F8F8F6"/>
            </a:solidFill>
          </a:ln>
        </p:spPr>
        <p:style>
          <a:lnRef idx="1">
            <a:schemeClr val="accent1"/>
          </a:lnRef>
          <a:fillRef idx="3">
            <a:schemeClr val="accent1"/>
          </a:fillRef>
          <a:effectRef idx="2">
            <a:schemeClr val="accent1"/>
          </a:effectRef>
          <a:fontRef idx="minor">
            <a:schemeClr val="lt1"/>
          </a:fontRef>
        </p:style>
        <p:txBody>
          <a:bodyPr rtlCol="0" anchor="ctr"/>
          <a:lstStyle/>
          <a:p>
            <a:pPr marL="0" algn="ctr" defTabSz="914400" rtl="1" eaLnBrk="1" latinLnBrk="0" hangingPunct="1"/>
            <a:endParaRPr/>
          </a:p>
        </p:txBody>
      </p:sp>
      <p:pic>
        <p:nvPicPr>
          <p:cNvPr id="10" name="Picture 9">
            <a:extLst>
              <a:ext uri="{FF2B5EF4-FFF2-40B4-BE49-F238E27FC236}">
                <a16:creationId xmlns:a16="http://schemas.microsoft.com/office/drawing/2014/main" id="{74E61E73-5290-9036-2E69-DCBE9D0618FD}"/>
              </a:ext>
            </a:extLst>
          </p:cNvPr>
          <p:cNvPicPr>
            <a:picLocks noChangeAspect="1"/>
          </p:cNvPicPr>
          <p:nvPr/>
        </p:nvPicPr>
        <p:blipFill>
          <a:blip r:embed="rId2"/>
          <a:stretch>
            <a:fillRect/>
          </a:stretch>
        </p:blipFill>
        <p:spPr>
          <a:xfrm>
            <a:off x="0" y="14696"/>
            <a:ext cx="12199454" cy="6853813"/>
          </a:xfrm>
          <a:prstGeom prst="rect">
            <a:avLst/>
          </a:prstGeom>
        </p:spPr>
      </p:pic>
    </p:spTree>
    <p:extLst>
      <p:ext uri="{BB962C8B-B14F-4D97-AF65-F5344CB8AC3E}">
        <p14:creationId xmlns:p14="http://schemas.microsoft.com/office/powerpoint/2010/main" val="1581007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47472"/>
            <a:ext cx="8229600" cy="237744"/>
          </a:xfrm>
          <a:prstGeom prst="rect">
            <a:avLst/>
          </a:prstGeom>
          <a:noFill/>
          <a:ln/>
        </p:spPr>
        <p:txBody>
          <a:bodyPr wrap="square" lIns="0" tIns="0" rIns="0" bIns="0" rtlCol="0" anchor="ctr"/>
          <a:lstStyle/>
          <a:p>
            <a:pPr marL="0" indent="0">
              <a:buNone/>
            </a:pPr>
            <a:r>
              <a:rPr lang="en-US" sz="1050" b="1" kern="0" spc="220" dirty="0">
                <a:solidFill>
                  <a:srgbClr val="A06B08"/>
                </a:solidFill>
                <a:latin typeface="Calibri" pitchFamily="34" charset="0"/>
                <a:ea typeface="Calibri" pitchFamily="34" charset="-122"/>
                <a:cs typeface="Calibri" pitchFamily="34" charset="-120"/>
              </a:rPr>
              <a:t>10 · CONCLUSION</a:t>
            </a:r>
            <a:endParaRPr lang="en-US" sz="1050" dirty="0"/>
          </a:p>
        </p:txBody>
      </p:sp>
      <p:sp>
        <p:nvSpPr>
          <p:cNvPr id="3" name="Text 1"/>
          <p:cNvSpPr/>
          <p:nvPr/>
        </p:nvSpPr>
        <p:spPr>
          <a:xfrm>
            <a:off x="566928" y="585216"/>
            <a:ext cx="11055096" cy="530352"/>
          </a:xfrm>
          <a:prstGeom prst="rect">
            <a:avLst/>
          </a:prstGeom>
          <a:noFill/>
          <a:ln/>
        </p:spPr>
        <p:txBody>
          <a:bodyPr wrap="square" lIns="0" tIns="0" rIns="0" bIns="0" rtlCol="0" anchor="ctr"/>
          <a:lstStyle/>
          <a:p>
            <a:pPr marL="0" indent="0">
              <a:buNone/>
            </a:pPr>
            <a:r>
              <a:rPr lang="en-US" sz="3000" b="1" dirty="0">
                <a:solidFill>
                  <a:srgbClr val="1C1917"/>
                </a:solidFill>
                <a:latin typeface="Cambria" pitchFamily="34" charset="0"/>
                <a:ea typeface="Cambria" pitchFamily="34" charset="-122"/>
                <a:cs typeface="Cambria" pitchFamily="34" charset="-120"/>
              </a:rPr>
              <a:t>Conclusion</a:t>
            </a:r>
            <a:endParaRPr lang="en-US" sz="3000" dirty="0"/>
          </a:p>
        </p:txBody>
      </p:sp>
      <p:sp>
        <p:nvSpPr>
          <p:cNvPr id="4" name="Text 2"/>
          <p:cNvSpPr/>
          <p:nvPr/>
        </p:nvSpPr>
        <p:spPr>
          <a:xfrm>
            <a:off x="566928" y="1133856"/>
            <a:ext cx="11055096" cy="292608"/>
          </a:xfrm>
          <a:prstGeom prst="rect">
            <a:avLst/>
          </a:prstGeom>
          <a:noFill/>
          <a:ln/>
        </p:spPr>
        <p:txBody>
          <a:bodyPr wrap="square" lIns="0" tIns="0" rIns="0" bIns="0" rtlCol="0" anchor="ctr"/>
          <a:lstStyle/>
          <a:p>
            <a:pPr marL="0" indent="0">
              <a:buNone/>
            </a:pPr>
            <a:r>
              <a:rPr lang="en-US" sz="1350" dirty="0">
                <a:solidFill>
                  <a:srgbClr val="8C8279"/>
                </a:solidFill>
                <a:latin typeface="Calibri" pitchFamily="34" charset="0"/>
                <a:ea typeface="Calibri" pitchFamily="34" charset="-122"/>
                <a:cs typeface="Calibri" pitchFamily="34" charset="-120"/>
              </a:rPr>
              <a:t>What we built, what it cannot do yet, and where it goes next.</a:t>
            </a:r>
            <a:endParaRPr lang="en-US" sz="1350" dirty="0"/>
          </a:p>
        </p:txBody>
      </p:sp>
      <p:sp>
        <p:nvSpPr>
          <p:cNvPr id="5" name="Shape 3"/>
          <p:cNvSpPr/>
          <p:nvPr/>
        </p:nvSpPr>
        <p:spPr>
          <a:xfrm>
            <a:off x="566928" y="1700784"/>
            <a:ext cx="3477768" cy="2880360"/>
          </a:xfrm>
          <a:prstGeom prst="roundRect">
            <a:avLst>
              <a:gd name="adj" fmla="val 2857"/>
            </a:avLst>
          </a:prstGeom>
          <a:solidFill>
            <a:srgbClr val="FDF3E1"/>
          </a:solidFill>
          <a:ln w="9525">
            <a:solidFill>
              <a:srgbClr val="FDF3E1"/>
            </a:solidFill>
            <a:prstDash val="solid"/>
          </a:ln>
          <a:effectLst>
            <a:outerShdw blurRad="127000" dist="12700" dir="5400000" algn="bl" rotWithShape="0">
              <a:srgbClr val="C9C0B4">
                <a:alpha val="30000"/>
              </a:srgbClr>
            </a:outerShdw>
          </a:effectLst>
        </p:spPr>
        <p:txBody>
          <a:bodyPr/>
          <a:lstStyle/>
          <a:p>
            <a:endParaRPr lang="en-JO"/>
          </a:p>
        </p:txBody>
      </p:sp>
      <p:sp>
        <p:nvSpPr>
          <p:cNvPr id="6" name="Text 4"/>
          <p:cNvSpPr/>
          <p:nvPr/>
        </p:nvSpPr>
        <p:spPr>
          <a:xfrm>
            <a:off x="841248" y="1883664"/>
            <a:ext cx="2929128" cy="329184"/>
          </a:xfrm>
          <a:prstGeom prst="rect">
            <a:avLst/>
          </a:prstGeom>
          <a:noFill/>
          <a:ln/>
        </p:spPr>
        <p:txBody>
          <a:bodyPr wrap="square" lIns="0" tIns="0" rIns="0" bIns="0" rtlCol="0" anchor="ctr"/>
          <a:lstStyle/>
          <a:p>
            <a:pPr marL="0" indent="0">
              <a:buNone/>
            </a:pPr>
            <a:r>
              <a:rPr lang="en-US" sz="1750" b="1" dirty="0">
                <a:solidFill>
                  <a:srgbClr val="A06B08"/>
                </a:solidFill>
                <a:latin typeface="Cambria" pitchFamily="34" charset="0"/>
                <a:ea typeface="Cambria" pitchFamily="34" charset="-122"/>
                <a:cs typeface="Cambria" pitchFamily="34" charset="-120"/>
              </a:rPr>
              <a:t>What we did</a:t>
            </a:r>
            <a:endParaRPr lang="en-US" sz="1750" dirty="0"/>
          </a:p>
        </p:txBody>
      </p:sp>
      <p:sp>
        <p:nvSpPr>
          <p:cNvPr id="7" name="Text 5"/>
          <p:cNvSpPr/>
          <p:nvPr/>
        </p:nvSpPr>
        <p:spPr>
          <a:xfrm>
            <a:off x="841248" y="2322576"/>
            <a:ext cx="2929128" cy="21031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131 locations, 6 years of data</a:t>
            </a:r>
            <a:endParaRPr lang="en-US" sz="1250" dirty="0"/>
          </a:p>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R² 0.9829 on an untouched test year</a:t>
            </a:r>
            <a:endParaRPr lang="en-US" sz="1250" dirty="0"/>
          </a:p>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Works on places it never saw</a:t>
            </a:r>
            <a:endParaRPr lang="en-US" sz="1250" dirty="0"/>
          </a:p>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A verdict in dinars, not a guess</a:t>
            </a:r>
            <a:endParaRPr lang="en-US" sz="1250" dirty="0"/>
          </a:p>
        </p:txBody>
      </p:sp>
      <p:sp>
        <p:nvSpPr>
          <p:cNvPr id="8" name="Shape 6"/>
          <p:cNvSpPr/>
          <p:nvPr/>
        </p:nvSpPr>
        <p:spPr>
          <a:xfrm>
            <a:off x="4355592" y="1700784"/>
            <a:ext cx="3477768" cy="2880360"/>
          </a:xfrm>
          <a:prstGeom prst="roundRect">
            <a:avLst>
              <a:gd name="adj" fmla="val 285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9" name="Text 7"/>
          <p:cNvSpPr/>
          <p:nvPr/>
        </p:nvSpPr>
        <p:spPr>
          <a:xfrm>
            <a:off x="4629912" y="1883664"/>
            <a:ext cx="2929128" cy="329184"/>
          </a:xfrm>
          <a:prstGeom prst="rect">
            <a:avLst/>
          </a:prstGeom>
          <a:noFill/>
          <a:ln/>
        </p:spPr>
        <p:txBody>
          <a:bodyPr wrap="square" lIns="0" tIns="0" rIns="0" bIns="0" rtlCol="0" anchor="ctr"/>
          <a:lstStyle/>
          <a:p>
            <a:pPr marL="0" indent="0">
              <a:buNone/>
            </a:pPr>
            <a:r>
              <a:rPr lang="en-US" sz="1750" b="1" dirty="0">
                <a:solidFill>
                  <a:srgbClr val="1C1917"/>
                </a:solidFill>
                <a:latin typeface="Cambria" pitchFamily="34" charset="0"/>
                <a:ea typeface="Cambria" pitchFamily="34" charset="-122"/>
                <a:cs typeface="Cambria" pitchFamily="34" charset="-120"/>
              </a:rPr>
              <a:t>Limitations</a:t>
            </a:r>
            <a:endParaRPr lang="en-US" sz="1750" dirty="0"/>
          </a:p>
        </p:txBody>
      </p:sp>
      <p:sp>
        <p:nvSpPr>
          <p:cNvPr id="10" name="Text 8"/>
          <p:cNvSpPr/>
          <p:nvPr/>
        </p:nvSpPr>
        <p:spPr>
          <a:xfrm>
            <a:off x="4629912" y="2322576"/>
            <a:ext cx="2929128" cy="21031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Output is modelled, not measured from real panels</a:t>
            </a:r>
            <a:endParaRPr lang="en-US" sz="1250" dirty="0"/>
          </a:p>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Nearby points share the same weather cell</a:t>
            </a:r>
            <a:endParaRPr lang="en-US" sz="1250" dirty="0"/>
          </a:p>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Winter predictions are less certain</a:t>
            </a:r>
            <a:endParaRPr lang="en-US" sz="1250" dirty="0"/>
          </a:p>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Selling surplus is not yet counted</a:t>
            </a:r>
            <a:endParaRPr lang="en-US" sz="1250" dirty="0"/>
          </a:p>
        </p:txBody>
      </p:sp>
      <p:sp>
        <p:nvSpPr>
          <p:cNvPr id="11" name="Shape 9"/>
          <p:cNvSpPr/>
          <p:nvPr/>
        </p:nvSpPr>
        <p:spPr>
          <a:xfrm>
            <a:off x="8144256" y="1700784"/>
            <a:ext cx="3477768" cy="2880360"/>
          </a:xfrm>
          <a:prstGeom prst="roundRect">
            <a:avLst>
              <a:gd name="adj" fmla="val 2857"/>
            </a:avLst>
          </a:prstGeom>
          <a:solidFill>
            <a:srgbClr val="F5F4F1"/>
          </a:solidFill>
          <a:ln w="9525">
            <a:solidFill>
              <a:srgbClr val="F5F4F1"/>
            </a:solidFill>
            <a:prstDash val="solid"/>
          </a:ln>
          <a:effectLst>
            <a:outerShdw blurRad="127000" dist="12700" dir="5400000" algn="bl" rotWithShape="0">
              <a:srgbClr val="C9C0B4">
                <a:alpha val="30000"/>
              </a:srgbClr>
            </a:outerShdw>
          </a:effectLst>
        </p:spPr>
        <p:txBody>
          <a:bodyPr/>
          <a:lstStyle/>
          <a:p>
            <a:endParaRPr lang="en-JO"/>
          </a:p>
        </p:txBody>
      </p:sp>
      <p:sp>
        <p:nvSpPr>
          <p:cNvPr id="12" name="Text 10"/>
          <p:cNvSpPr/>
          <p:nvPr/>
        </p:nvSpPr>
        <p:spPr>
          <a:xfrm>
            <a:off x="8418576" y="1883664"/>
            <a:ext cx="2929128" cy="329184"/>
          </a:xfrm>
          <a:prstGeom prst="rect">
            <a:avLst/>
          </a:prstGeom>
          <a:noFill/>
          <a:ln/>
        </p:spPr>
        <p:txBody>
          <a:bodyPr wrap="square" lIns="0" tIns="0" rIns="0" bIns="0" rtlCol="0" anchor="ctr"/>
          <a:lstStyle/>
          <a:p>
            <a:pPr marL="0" indent="0">
              <a:buNone/>
            </a:pPr>
            <a:r>
              <a:rPr lang="en-US" sz="1750" b="1" dirty="0">
                <a:solidFill>
                  <a:srgbClr val="1C1917"/>
                </a:solidFill>
                <a:latin typeface="Cambria" pitchFamily="34" charset="0"/>
                <a:ea typeface="Cambria" pitchFamily="34" charset="-122"/>
                <a:cs typeface="Cambria" pitchFamily="34" charset="-120"/>
              </a:rPr>
              <a:t>Next steps</a:t>
            </a:r>
            <a:endParaRPr lang="en-US" sz="1750" dirty="0"/>
          </a:p>
        </p:txBody>
      </p:sp>
      <p:sp>
        <p:nvSpPr>
          <p:cNvPr id="13" name="Text 11"/>
          <p:cNvSpPr/>
          <p:nvPr/>
        </p:nvSpPr>
        <p:spPr>
          <a:xfrm>
            <a:off x="8418576" y="2322576"/>
            <a:ext cx="2929128" cy="21031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Compare against real installed systems</a:t>
            </a:r>
            <a:endParaRPr lang="en-US" sz="1250" dirty="0"/>
          </a:p>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Show a range, not a single number</a:t>
            </a:r>
            <a:endParaRPr lang="en-US" sz="1250" dirty="0"/>
          </a:p>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Include income from selling surplus</a:t>
            </a:r>
            <a:endParaRPr lang="en-US" sz="1250" dirty="0"/>
          </a:p>
          <a:p>
            <a:pPr marL="342900" indent="-342900">
              <a:lnSpc>
                <a:spcPts val="1700"/>
              </a:lnSpc>
              <a:spcAft>
                <a:spcPts val="900"/>
              </a:spcAft>
              <a:buSzPct val="100000"/>
              <a:buChar char="•"/>
            </a:pPr>
            <a:r>
              <a:rPr lang="en-US" sz="1250" dirty="0">
                <a:solidFill>
                  <a:srgbClr val="514C46"/>
                </a:solidFill>
                <a:latin typeface="Calibri" pitchFamily="34" charset="0"/>
                <a:ea typeface="Calibri" pitchFamily="34" charset="-122"/>
                <a:cs typeface="Calibri" pitchFamily="34" charset="-120"/>
              </a:rPr>
              <a:t>Test on more unseen locations</a:t>
            </a:r>
            <a:endParaRPr lang="en-US" sz="1250" dirty="0"/>
          </a:p>
        </p:txBody>
      </p:sp>
      <p:sp>
        <p:nvSpPr>
          <p:cNvPr id="14" name="Shape 12"/>
          <p:cNvSpPr/>
          <p:nvPr/>
        </p:nvSpPr>
        <p:spPr>
          <a:xfrm>
            <a:off x="430293" y="4864608"/>
            <a:ext cx="11055096" cy="1097280"/>
          </a:xfrm>
          <a:prstGeom prst="roundRect">
            <a:avLst>
              <a:gd name="adj" fmla="val 7500"/>
            </a:avLst>
          </a:prstGeom>
          <a:solidFill>
            <a:srgbClr val="FFFFFF"/>
          </a:solidFill>
          <a:ln w="12700">
            <a:solidFill>
              <a:srgbClr val="E09A16"/>
            </a:solidFill>
            <a:prstDash val="solid"/>
          </a:ln>
        </p:spPr>
        <p:txBody>
          <a:bodyPr/>
          <a:lstStyle/>
          <a:p>
            <a:pPr algn="ctr"/>
            <a:r>
              <a:rPr lang="en-US" b="1" i="1" dirty="0">
                <a:solidFill>
                  <a:srgbClr val="A06B08"/>
                </a:solidFill>
                <a:latin typeface="Cambria" pitchFamily="34" charset="0"/>
                <a:ea typeface="Cambria" pitchFamily="34" charset="-122"/>
                <a:cs typeface="Cambria" pitchFamily="34" charset="-120"/>
              </a:rPr>
              <a:t>Thank you — questions welcome.</a:t>
            </a:r>
            <a:endParaRPr lang="en-US" dirty="0"/>
          </a:p>
        </p:txBody>
      </p:sp>
      <p:sp>
        <p:nvSpPr>
          <p:cNvPr id="15" name="Text 13"/>
          <p:cNvSpPr/>
          <p:nvPr/>
        </p:nvSpPr>
        <p:spPr>
          <a:xfrm>
            <a:off x="886968" y="4864608"/>
            <a:ext cx="10415016" cy="1097280"/>
          </a:xfrm>
          <a:prstGeom prst="rect">
            <a:avLst/>
          </a:prstGeom>
          <a:noFill/>
          <a:ln/>
        </p:spPr>
        <p:txBody>
          <a:bodyPr wrap="square" lIns="0" tIns="0" rIns="0" bIns="0" rtlCol="0" anchor="ctr"/>
          <a:lstStyle/>
          <a:p>
            <a:pPr marL="0" indent="0" algn="ctr">
              <a:buNone/>
            </a:pPr>
            <a:endParaRPr lang="en-US" sz="1550" dirty="0"/>
          </a:p>
        </p:txBody>
      </p:sp>
      <p:sp>
        <p:nvSpPr>
          <p:cNvPr id="16" name="Shape 14"/>
          <p:cNvSpPr/>
          <p:nvPr/>
        </p:nvSpPr>
        <p:spPr>
          <a:xfrm>
            <a:off x="566928" y="6428232"/>
            <a:ext cx="100584" cy="100584"/>
          </a:xfrm>
          <a:prstGeom prst="ellipse">
            <a:avLst/>
          </a:prstGeom>
          <a:solidFill>
            <a:srgbClr val="E09A16"/>
          </a:solidFill>
          <a:ln w="6350">
            <a:solidFill>
              <a:srgbClr val="E09A16"/>
            </a:solidFill>
            <a:prstDash val="solid"/>
          </a:ln>
        </p:spPr>
        <p:txBody>
          <a:bodyPr/>
          <a:lstStyle/>
          <a:p>
            <a:endParaRPr lang="en-JO"/>
          </a:p>
        </p:txBody>
      </p:sp>
      <p:sp>
        <p:nvSpPr>
          <p:cNvPr id="17" name="Text 15"/>
          <p:cNvSpPr/>
          <p:nvPr/>
        </p:nvSpPr>
        <p:spPr>
          <a:xfrm>
            <a:off x="749808" y="6336792"/>
            <a:ext cx="3657600" cy="274320"/>
          </a:xfrm>
          <a:prstGeom prst="rect">
            <a:avLst/>
          </a:prstGeom>
          <a:noFill/>
          <a:ln/>
        </p:spPr>
        <p:txBody>
          <a:bodyPr wrap="square" lIns="0" tIns="0" rIns="0" bIns="0" rtlCol="0" anchor="ctr"/>
          <a:lstStyle/>
          <a:p>
            <a:pPr marL="0" indent="0">
              <a:buNone/>
            </a:pPr>
            <a:r>
              <a:rPr lang="en-US" sz="950" dirty="0">
                <a:solidFill>
                  <a:srgbClr val="8C8279"/>
                </a:solidFill>
                <a:latin typeface="Calibri" pitchFamily="34" charset="0"/>
                <a:ea typeface="Calibri" pitchFamily="34" charset="-122"/>
                <a:cs typeface="Calibri" pitchFamily="34" charset="-120"/>
              </a:rPr>
              <a:t>SolarWise Jordan</a:t>
            </a:r>
            <a:endParaRPr lang="en-US" sz="950" dirty="0"/>
          </a:p>
        </p:txBody>
      </p:sp>
      <p:sp>
        <p:nvSpPr>
          <p:cNvPr id="18" name="Text 16"/>
          <p:cNvSpPr/>
          <p:nvPr/>
        </p:nvSpPr>
        <p:spPr>
          <a:xfrm>
            <a:off x="10524744" y="6336792"/>
            <a:ext cx="1097280" cy="274320"/>
          </a:xfrm>
          <a:prstGeom prst="rect">
            <a:avLst/>
          </a:prstGeom>
          <a:noFill/>
          <a:ln/>
        </p:spPr>
        <p:txBody>
          <a:bodyPr wrap="square" lIns="0" tIns="0" rIns="0" bIns="0" rtlCol="0" anchor="ctr"/>
          <a:lstStyle/>
          <a:p>
            <a:pPr marL="0" indent="0" algn="r">
              <a:buNone/>
            </a:pPr>
            <a:r>
              <a:rPr lang="en-US" sz="950" dirty="0">
                <a:solidFill>
                  <a:srgbClr val="8C8279"/>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4720</TotalTime>
  <Words>2958</Words>
  <Application>Microsoft Macintosh PowerPoint</Application>
  <PresentationFormat>Widescreen</PresentationFormat>
  <Paragraphs>342</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SolarWise Jordan</dc:title>
  <dc:subject>Is Solar Wise For Me? — Graduation Project</dc:subject>
  <dc:creator>Shahed Farraj</dc:creator>
  <cp:lastModifiedBy>شهد احمد صبري الفراج</cp:lastModifiedBy>
  <cp:revision>3</cp:revision>
  <dcterms:created xsi:type="dcterms:W3CDTF">2026-08-23T12:14:42Z</dcterms:created>
  <dcterms:modified xsi:type="dcterms:W3CDTF">2026-08-27T18:51:11Z</dcterms:modified>
</cp:coreProperties>
</file>